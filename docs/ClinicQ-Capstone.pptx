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3526FE2-4BDC-604E-EB1B-87CB4CCDBC45}">
          <p14:sldIdLst>
            <p14:sldId id="256"/>
            <p14:sldId id="257"/>
            <p14:sldId id="258"/>
            <p14:sldId id="259"/>
          </p14:sldIdLst>
        </p14:section>
        <p14:section name="Build" id="{BCB3FA7C-C22C-A3A9-942B-34644F8EB4E1}">
          <p14:sldIdLst>
            <p14:sldId id="260"/>
            <p14:sldId id="261"/>
            <p14:sldId id="262"/>
            <p14:sldId id="263"/>
            <p14:sldId id="264"/>
          </p14:sldIdLst>
        </p14:section>
        <p14:section name="Ship" id="{5B231298-B717-25BE-8212-A5BCD8888FA5}">
          <p14:sldIdLst>
            <p14:sldId id="265"/>
            <p14:sldId id="266"/>
            <p14:sldId id="267"/>
          </p14:sldIdLst>
        </p14:section>
        <p14:section name="Run" id="{C8B982FC-858D-F6F2-9395-EB7E582F4CAF}">
          <p14:sldIdLst>
            <p14:sldId id="268"/>
            <p14:sldId id="269"/>
            <p14:sldId id="270"/>
            <p14:sldId id="271"/>
            <p14:sldId id="272"/>
            <p14:sldId id="273"/>
            <p14:sldId id="274"/>
            <p14:sldId id="275"/>
            <p14:sldId id="276"/>
            <p14:sldId id="277"/>
          </p14:sldIdLst>
        </p14:section>
        <p14:section name="Results" id="{0B39B424-3FE3-2C0C-1884-DA760F46909E}">
          <p14:sldIdLst>
            <p14:sldId id="278"/>
          </p14:sldIdLst>
        </p14:section>
        <p14:section name="Wrap-up" id="{40176FD5-8E74-EBBB-237C-79EC6CB3EF81}">
          <p14:sldIdLst>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94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1237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ClinicQ is a small clinic system: patients book a slot with a doctor, the front desk checks them in, and a live queue shows who is next. The point of the capstone is not the app itself but everything around it: tests, containers, a security-gated pipeline, Terraform-built AWS infrastructure, Helm on Kubernetes, autoscaling and monitoring. Roughly 15 to 20 minutes including the live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The problem: walk-in clinics hand out paper tokens and shout names. ClinicQ gives each doctor a numbered queue per day. Mention the double-booking rule (the same doctor and slot returns HTTP 409) because it shows up again in the tests. The dashboard on the right is the real running app: stat cards, the live queue per doctor, recent activity and the appointment table with check-in, done and cancel actions.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to orient the audience before the details. Frontend is React 18 with Vite, served by nginx. The backend is FastAPI with SQLAlchemy 2 and Pydantic, talking to PostgreSQL, with Alembic managing the schema. Quality gates are pytest and ruff. Docker packages it, GitHub Actions builds and scans it, Terraform builds the AWS platform, and Helm plus Prometheus and Grafana run and observe it. Every layer is code in one repository.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rest of the talk. Each numbered box is a slide that follows. The idea: nothing reaches the cluster by hand. A push to main triggers tests, a build, a security scan, a push to the registry and a Helm deploy. Terraform builds the platform underneath once.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Developer pushes to GitHub, Actions builds and scans, images land in GHCR. Terraform created the AWS network and the EKS cluster. Inside the cluster the ingress sends the root path to the React frontend (nginx) and /api to FastAPI. FastAPI talks to PostgreSQL, which is a StatefulSet with a volume. Prometheus scrapes the backend, Grafana reads Prometheus, and an HPA scales the backend between 2 and 5 pods.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FastAPI with SQLAlchemy 2 and Alembic migrations. Two migrations: core tables, then indexes on appointments. The tests run against in-memory SQLite so the pipeline needs no database service. They cover booking, the 409 on a double booking, token numbering per doctor per day, and the status flow. Health, ready and metrics endpoints exist for Kubernetes probes and Prometheus. The screenshot is pytest -v on my machine: 24 collected, 24 passed in 1.54 seconds.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tables. Doctors and patients are simple. Appointments link them and carry the queue: a scheduled time, a status and a token number. The token number is per doctor per day, so each doctor has their own line. Alembic migration 0001 creates the tables and 0002 adds two indexes used by the queue and schedule lookups. Status changes are validated in code, so a completed appointment cannot be re-opened. Booking the same doctor and slot twice returns HTTP 409.</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images run as non-root. The backend uses UID 10001 and the frontend is nginx-unprivileged on port 8080, so Kubernetes can enforce runAsNonRoot. The frontend is a multi-stage build: Node builds the bundle, nginx only serves it. nginx proxies /api to the backend using the BACKEND_URL variable. The screenshot is docker compose logs: the browser calls the frontend on port 3000, the frontend proxies to the backend, and the backend answers 200.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project is in a single repository, so a reviewer can find any layer quickly. Backend and frontend are the application. Terraform, the Helm chart and the k8s folder are the platform. Monitoring holds the Prometheus values and the Grafana dashboard. Troubleshooting holds the two broken manifests for the lab. Scripts has the seed data, the kind setup and the load test. The same code runs locally with docker compose, on a local kind cluster, and on EKS.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quality jobs run in parallel: test (ruff, pytest, frontend build), terraform validate, and helm lint. Only if test passes do the two build jobs start, one per image, in a matrix. The deploy job runs last and only on pushes when the DEPLOY_ENABLED variable is true, which is how I keep AWS costs under control. In this screenshot, run 14, deploy shows as skipped because the variable was off at that moment. The whole run took 1 minute 18 seconds.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Trivy scans each image inside the pipeline. The job fails on any fixed HIGH or CRITICAL finding, and the push step comes after the scan so a failing image never reaches the registry. My first scan failed. The findings were in libraries bundled inside pip itself, not in my code. The app does not need pip at runtime, so the Dockerfile now removes pip, setuptools and wheel after installing requirements, and the scan is clean. The screenshot shows the Trivy step and the whole backend job passing.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Images are pushed to GitHub Container Registry only after the Trivy scan passes. The tag is the full commit SHA, never latest. For run 14 the commit was 3875e4d, so that run produced clinicq-backend and clinicq-frontend images tagged with that SHA. Every running pod can be traced to a commit, and a rollback is just a previous SHA. Helm receives the same SHA as its image tag, so what was scanned is exactly what is deployed.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builds the network and the cluster: a VPC with two public and two private subnets across two zones, one NAT gateway to save money, an EKS 1.34 cluster, a managed node group of two Spot t3.small instances, and the EBS CSI addon wired through IRSA so PostgreSQL can get a volume. The screenshot is the AWS console after apply: the cluster is ACTIVE on Kubernetes 1.34 in ap-south-1 and the node group is ACTIVE with capacity type SPOT.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end of terraform apply: the outputs block. It prints the cluster name and endpoint, the VPC id, the two private and two public subnet ids, and the exact aws eks update-kubeconfig command that connects kubectl to the new cluster. The state of all this lives in code, so it can be rebuilt or destroyed with one command.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was a real constraint, so it shaped the design. Nodes are Spot instances, which are much cheaper than on-demand. One NAT gateway serves both private subnets, since NAT gateways are a major hourly cost. And the deploy job only runs when the DEPLOY_ENABLED variable is true, so ordinary pushes cost nothing. Because the platform is Terraform, it can be created for a demo and removed with one command afterwards.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chart deploys everything: backend and frontend with two replicas each, ClusterIP services, PostgreSQL as a StatefulSet with a persistent volume, a secret for credentials, the ingress, and the HPA. A ServiceMonitor is optional. The pipeline runs helm upgrade --install with --atomic, so a failed rollout rolls itself back. The screenshot is from the EKS cluster: five pods Running with zero restarts, three ClusterIP services, Helm revision 5 with status deployed, and the ingress controller's load balancer address.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settings in the chart and Dockerfiles, not extras. Security: containers run as non-root, the chart enforces runAsNonRoot, Trivy gates the pipeline, the database password lives in a Kubernetes Secret, and images use pinned tags. Reliability: every workload has liveness and readiness probes, requests and limits are set, backend and frontend run two replicas, helm upgrade uses atomic so a failed release rolls back, and migrations take a database advisory lock so two pods cannot migrate at once.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ingress-nginx creates one AWS load balancer, the LoadBalancer service you can see in the kubectl output. The browser only ever talks to that address. Requests for the root path go to the frontend service on port 80, and requests under /api go to the backend service on port 8000. Because everything is the same origin, no CORS configuration is needed.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scales between 2 and 5 replicas when average CPU passes 60 percent of the requested CPU. metrics-server provides the numbers. The Kubernetes rule is: desired replicas equals the current replicas times current utilisation divided by the target, rounded up. The two filled squares are the always-on baseline, the three outlined squares are headroom the cluster only uses under load. The repo has a load-test script if you want to trigger it live.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exposes /metrics through prometheus-fastapi-instrumentator plus two custom counters: appointments booked and appointments cancelled. kube-prometheus-stack runs Prometheus and Grafana. The ClinicQ Overview dashboard shows, at the top, booked total 5, cancelled 0, backend replicas 2 and 5xx errors zero per second. Below are request rate per endpoint and p95 latency, which settles near 50 milliseconds after a first-request spike.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Prometheus, Status then Target health. The first block is serviceMonitor/clinicq/clinicq-backend with 2 of 2 up: both backend pods are scraped on port 8000 at /metrics, with last-scrape times and durations of a few milliseconds. The ServiceMonitor selects the backend Service, so if the HPA adds pods they join the scrape list automatically. Grafana, the API server and CoreDNS are also scraped.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deliberate breakages kept in the repo under troubleshooting. First, broken-image: the pod sits in ImagePullBackOff, kubectl describe pod shows the event with the bad tag, and fixing the tag recovers it. Second, broken-service: the pods are Running but the service has no endpoints because its selector does not match the pod labels. kubectl get endpoints shows it empty and fixing the selector restores traffic. Same method both times: read the status, describe, compare, fix.</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here comes from a screenshot in this deck. 24 tests pass in about a second and a half. The pipeline from push to pushed images took 1 minute 18 seconds. On EKS, five pods are running. In Prometheus both backend pods show as UP, and Grafana shows five appointments booked during testing with two backend replicas.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problems from building this and they are worth telling because they show debugging, not just a happy path. The Trivy action tag vanished and broke a previously green pipeline, so I pinned the official image. On EKS the PostgreSQL volume stayed Pending because the cluster had no default StorageClass, so I added a gp3 class and the pipeline applies it. And the Windows shell differences cost me time: bash syntax does not work in PowerShell.</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the rubric asks for. Before the talk, make sure DEPLOY_ENABLED is true and the cluster is up. Change the tagline in frontend App.jsx, commit and push. Open the Actions tab and show the stages going green. Then run kubectl rollout status to show new pods replacing old ones, and refresh the app to show the new text. If the pipeline is slow, narrate the stages while it runs, or show the earlier run 14 screenshots as the fallback.</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Showing awareness of the gaps is part of engineering. HTTPS with cert-manager and a real domain. A managed database like RDS instead of PostgreSQL inside the cluster. A GitHub OIDC role so the pipeline needs no stored AWS keys. Terraform remote state in S3 with locking so a team can share it. And Alertmanager rules so the metrics we already collect page someone on errors or latency.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one-breath summary: a working app, tested and containerised, built and scanned by a pipeline, running on AWS EKS through Terraform and Helm, with autoscaling and monitoring on top. Then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a:spLocks noGrp="1"/>
          </p:cNvSpPr>
          <p:nvPr>
            <p:ph type="title" idx="101" hasCustomPrompt="1"/>
          </p:nvPr>
        </p:nvSpPr>
        <p:spPr>
          <a:xfrm>
            <a:off x="640080" y="1325880"/>
            <a:ext cx="3931920" cy="1097280"/>
          </a:xfrm>
          <a:prstGeom prst="rect">
            <a:avLst/>
          </a:prstGeom>
          <a:noFill/>
          <a:ln/>
        </p:spPr>
        <p:txBody>
          <a:bodyPr wrap="square" rtlCol="0"/>
          <a:lstStyle>
            <a:lvl1pPr marL="0" indent="0" algn="l">
              <a:buNone/>
              <a:defRPr lang="en-US" sz="5400" b="1" dirty="0">
                <a:solidFill>
                  <a:schemeClr val="bg1"/>
                </a:solidFill>
              </a:defRPr>
            </a:lvl1pPr>
          </a:lstStyle>
          <a:p>
            <a:pPr marL="0" indent="0" algn="l">
              <a:buNone/>
            </a:pPr>
            <a:endParaRPr lang="en-US" sz="5400" dirty="0"/>
          </a:p>
        </p:txBody>
      </p:sp>
      <p:sp>
        <p:nvSpPr>
          <p:cNvPr id="4" name="Text 1"/>
          <p:cNvSpPr>
            <a:spLocks noGrp="1"/>
          </p:cNvSpPr>
          <p:nvPr>
            <p:ph type="body" idx="102" hasCustomPrompt="1"/>
          </p:nvPr>
        </p:nvSpPr>
        <p:spPr>
          <a:xfrm>
            <a:off x="640080" y="2560320"/>
            <a:ext cx="3931920" cy="822960"/>
          </a:xfrm>
          <a:prstGeom prst="rect">
            <a:avLst/>
          </a:prstGeom>
          <a:noFill/>
          <a:ln/>
        </p:spPr>
        <p:txBody>
          <a:bodyPr wrap="square" rtlCol="0"/>
          <a:lstStyle>
            <a:lvl1pPr marL="0" indent="0" algn="l">
              <a:buNone/>
              <a:defRPr lang="en-US" sz="2200" i="1" dirty="0">
                <a:solidFill>
                  <a:schemeClr val="accent5"/>
                </a:solidFill>
              </a:defRPr>
            </a:lvl1pPr>
          </a:lstStyle>
          <a:p>
            <a:pPr marL="0" indent="0" algn="l">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84048"/>
            <a:ext cx="8229600" cy="594360"/>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endParaRPr lang="en-US" sz="2800" dirty="0"/>
          </a:p>
        </p:txBody>
      </p:sp>
      <p:sp>
        <p:nvSpPr>
          <p:cNvPr id="3" name="Text 0"/>
          <p:cNvSpPr/>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chemeClr val="tx2"/>
                </a:solidFill>
              </a:rPr>
              <a:t>ClinicQ  ·  DevOps Final Capstone</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a:spLocks noGrp="1"/>
          </p:cNvSpPr>
          <p:nvPr>
            <p:ph type="title" idx="101" hasCustomPrompt="1"/>
          </p:nvPr>
        </p:nvSpPr>
        <p:spPr>
          <a:xfrm>
            <a:off x="548640" y="365760"/>
            <a:ext cx="8046720" cy="64008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1325880"/>
            <a:ext cx="3931920" cy="1097280"/>
          </a:xfrm>
          <a:prstGeom prst="rect">
            <a:avLst/>
          </a:prstGeom>
          <a:noFill/>
          <a:ln/>
        </p:spPr>
        <p:txBody>
          <a:bodyPr wrap="square" lIns="0" tIns="0" rIns="0" bIns="0" rtlCol="0" anchor="b"/>
          <a:lstStyle/>
          <a:p>
            <a:pPr marL="0" indent="0" algn="l">
              <a:buNone/>
            </a:pPr>
            <a:r>
              <a:rPr lang="en-US" sz="5400" b="1" dirty="0">
                <a:solidFill>
                  <a:schemeClr val="bg1"/>
                </a:solidFill>
              </a:rPr>
              <a:t>ClinicQ</a:t>
            </a:r>
            <a:endParaRPr lang="en-US" sz="5400" dirty="0"/>
          </a:p>
        </p:txBody>
      </p:sp>
      <p:sp>
        <p:nvSpPr>
          <p:cNvPr id="3" name="Text 1"/>
          <p:cNvSpPr>
            <a:spLocks noGrp="1"/>
          </p:cNvSpPr>
          <p:nvPr>
            <p:ph type="body" idx="102" hasCustomPrompt="1"/>
          </p:nvPr>
        </p:nvSpPr>
        <p:spPr>
          <a:xfrm>
            <a:off x="640080" y="2560320"/>
            <a:ext cx="3931920" cy="822960"/>
          </a:xfrm>
          <a:prstGeom prst="rect">
            <a:avLst/>
          </a:prstGeom>
          <a:noFill/>
          <a:ln/>
        </p:spPr>
        <p:txBody>
          <a:bodyPr wrap="square" lIns="0" tIns="0" rIns="0" bIns="0" rtlCol="0" anchor="t"/>
          <a:lstStyle/>
          <a:p>
            <a:pPr marL="0" indent="0" algn="l">
              <a:buNone/>
            </a:pPr>
            <a:r>
              <a:rPr lang="en-US" sz="2200" i="1" dirty="0">
                <a:solidFill>
                  <a:schemeClr val="accent5"/>
                </a:solidFill>
              </a:rPr>
              <a:t>Less waiting, better care</a:t>
            </a:r>
            <a:endParaRPr lang="en-US" sz="2200" dirty="0"/>
          </a:p>
        </p:txBody>
      </p:sp>
      <p:sp>
        <p:nvSpPr>
          <p:cNvPr id="4" name="Text 2"/>
          <p:cNvSpPr txBox="1"/>
          <p:nvPr/>
        </p:nvSpPr>
        <p:spPr>
          <a:xfrm>
            <a:off x="640080" y="3611880"/>
            <a:ext cx="4023360" cy="1005840"/>
          </a:xfrm>
          <a:prstGeom prst="rect">
            <a:avLst/>
          </a:prstGeom>
          <a:noFill/>
          <a:ln/>
        </p:spPr>
        <p:txBody>
          <a:bodyPr wrap="square" lIns="0" tIns="0" rIns="0" bIns="0" rtlCol="0" anchor="t"/>
          <a:lstStyle/>
          <a:p>
            <a:pPr marL="0" indent="0">
              <a:spcAft>
                <a:spcPts val="400"/>
              </a:spcAft>
              <a:buNone/>
            </a:pPr>
            <a:r>
              <a:rPr lang="en-US" sz="1400" dirty="0">
                <a:solidFill>
                  <a:schemeClr val="bg1"/>
                </a:solidFill>
              </a:rPr>
              <a:t>Clinic appointment booking and live queue, shipped end to end on AWS</a:t>
            </a:r>
            <a:endParaRPr lang="en-US" sz="1400" dirty="0"/>
          </a:p>
          <a:p>
            <a:pPr marL="0" indent="0">
              <a:spcAft>
                <a:spcPts val="400"/>
              </a:spcAft>
              <a:buNone/>
            </a:pPr>
            <a:r>
              <a:rPr lang="en-US" sz="1400" dirty="0">
                <a:solidFill>
                  <a:schemeClr val="accent5"/>
                </a:solidFill>
              </a:rPr>
              <a:t>DevOps Final Capstone  ·  Samarth</a:t>
            </a:r>
            <a:endParaRPr lang="en-US" sz="1400" dirty="0"/>
          </a:p>
          <a:p>
            <a:pPr marL="0" indent="0">
              <a:spcAft>
                <a:spcPts val="400"/>
              </a:spcAft>
              <a:buNone/>
            </a:pPr>
            <a:r>
              <a:rPr lang="en-US" sz="1400" dirty="0">
                <a:solidFill>
                  <a:schemeClr val="accent5"/>
                </a:solidFill>
              </a:rPr>
              <a:t>github.com/Samarth1-glitch/ClinicQ</a:t>
            </a:r>
            <a:endParaRPr lang="en-US" sz="1400" dirty="0"/>
          </a:p>
        </p:txBody>
      </p:sp>
      <p:pic>
        <p:nvPicPr>
          <p:cNvPr id="5" name="Image 0" descr="ClinicQ dashboard"/>
          <p:cNvPicPr>
            <a:picLocks noChangeAspect="1"/>
          </p:cNvPicPr>
          <p:nvPr/>
        </p:nvPicPr>
        <p:blipFill>
          <a:blip r:embed="rId3"/>
          <a:stretch>
            <a:fillRect/>
          </a:stretch>
        </p:blipFill>
        <p:spPr>
          <a:xfrm>
            <a:off x="4846320" y="1234440"/>
            <a:ext cx="4023360" cy="2263140"/>
          </a:xfrm>
          <a:prstGeom prst="rect">
            <a:avLst/>
          </a:prstGeom>
        </p:spPr>
      </p:pic>
      <p:sp>
        <p:nvSpPr>
          <p:cNvPr id="6" name="Frame: dashboard"/>
          <p:cNvSpPr/>
          <p:nvPr/>
        </p:nvSpPr>
        <p:spPr>
          <a:xfrm>
            <a:off x="4846320" y="1234440"/>
            <a:ext cx="3974592" cy="2263140"/>
          </a:xfrm>
          <a:prstGeom prst="rect">
            <a:avLst/>
          </a:prstGeom>
          <a:solidFill>
            <a:schemeClr val="tx1">
              <a:alpha val="0"/>
            </a:schemeClr>
          </a:solidFill>
          <a:ln w="12700">
            <a:solidFill>
              <a:schemeClr val="accent5"/>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182880"/>
            <a:ext cx="365760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INTRO</a:t>
            </a:r>
            <a:endParaRPr lang="en-US" sz="1000" dirty="0"/>
          </a:p>
        </p:txBody>
      </p:sp>
      <p:sp>
        <p:nvSpPr>
          <p:cNvPr id="3" name="Text 0"/>
          <p:cNvSpPr>
            <a:spLocks noGrp="1"/>
          </p:cNvSpPr>
          <p:nvPr>
            <p:ph type="title" idx="100" hasCustomPrompt="1"/>
          </p:nvPr>
        </p:nvSpPr>
        <p:spPr>
          <a:xfrm>
            <a:off x="457200" y="384048"/>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ClinicQ: booking and queue on one screen</a:t>
            </a:r>
            <a:endParaRPr lang="en-US" sz="2800" dirty="0"/>
          </a:p>
        </p:txBody>
      </p:sp>
      <p:sp>
        <p:nvSpPr>
          <p:cNvPr id="5" name="Text 2"/>
          <p:cNvSpPr txBox="1"/>
          <p:nvPr/>
        </p:nvSpPr>
        <p:spPr>
          <a:xfrm>
            <a:off x="457200" y="1188720"/>
            <a:ext cx="2560320" cy="1371600"/>
          </a:xfrm>
          <a:prstGeom prst="rect">
            <a:avLst/>
          </a:prstGeom>
          <a:noFill/>
          <a:ln/>
        </p:spPr>
        <p:txBody>
          <a:bodyPr wrap="square" lIns="0" tIns="0" rIns="0" bIns="0" rtlCol="0" anchor="t"/>
          <a:lstStyle/>
          <a:p>
            <a:pPr marL="0" indent="0">
              <a:buNone/>
            </a:pPr>
            <a:r>
              <a:rPr lang="en-US" sz="1400" dirty="0">
                <a:solidFill>
                  <a:schemeClr val="tx1"/>
                </a:solidFill>
              </a:rPr>
              <a:t>Small clinics run on paper tokens and a receptionist's memory. ClinicQ puts booking and the queue on one screen.</a:t>
            </a:r>
            <a:endParaRPr lang="en-US" sz="1400" dirty="0"/>
          </a:p>
        </p:txBody>
      </p:sp>
      <p:sp>
        <p:nvSpPr>
          <p:cNvPr id="6" name="Text 3"/>
          <p:cNvSpPr txBox="1"/>
          <p:nvPr/>
        </p:nvSpPr>
        <p:spPr>
          <a:xfrm>
            <a:off x="457200" y="2606040"/>
            <a:ext cx="2560320" cy="20116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Book a slot with a doctor</a:t>
            </a:r>
            <a:endParaRPr lang="en-US" sz="1400" dirty="0"/>
          </a:p>
          <a:p>
            <a:pPr marL="177800" indent="-177800">
              <a:spcAft>
                <a:spcPts val="800"/>
              </a:spcAft>
              <a:buSzPct val="100000"/>
              <a:buChar char="•"/>
            </a:pPr>
            <a:r>
              <a:rPr lang="en-US" sz="1400" dirty="0">
                <a:solidFill>
                  <a:schemeClr val="tx1"/>
                </a:solidFill>
              </a:rPr>
              <a:t>Check-in issues a token per doctor</a:t>
            </a:r>
            <a:endParaRPr lang="en-US" sz="1400" dirty="0"/>
          </a:p>
          <a:p>
            <a:pPr marL="177800" indent="-177800">
              <a:spcAft>
                <a:spcPts val="800"/>
              </a:spcAft>
              <a:buSzPct val="100000"/>
              <a:buChar char="•"/>
            </a:pPr>
            <a:r>
              <a:rPr lang="en-US" sz="1400" dirty="0">
                <a:solidFill>
                  <a:schemeClr val="tx1"/>
                </a:solidFill>
              </a:rPr>
              <a:t>Booked, checked in, completed</a:t>
            </a:r>
            <a:endParaRPr lang="en-US" sz="1400" dirty="0"/>
          </a:p>
          <a:p>
            <a:pPr marL="177800" indent="-177800">
              <a:spcAft>
                <a:spcPts val="800"/>
              </a:spcAft>
              <a:buSzPct val="100000"/>
              <a:buChar char="•"/>
            </a:pPr>
            <a:r>
              <a:rPr lang="en-US" sz="1400" dirty="0">
                <a:solidFill>
                  <a:schemeClr val="tx1"/>
                </a:solidFill>
              </a:rPr>
              <a:t>Double-booking gives HTTP 409</a:t>
            </a:r>
            <a:endParaRPr lang="en-US" sz="1400" dirty="0"/>
          </a:p>
        </p:txBody>
      </p:sp>
      <p:pic>
        <p:nvPicPr>
          <p:cNvPr id="7" name="Image 0" descr="ClinicQ dashboard: stats, live queue per doctor, appointments"/>
          <p:cNvPicPr>
            <a:picLocks noChangeAspect="1"/>
          </p:cNvPicPr>
          <p:nvPr/>
        </p:nvPicPr>
        <p:blipFill>
          <a:blip r:embed="rId3"/>
          <a:stretch>
            <a:fillRect/>
          </a:stretch>
        </p:blipFill>
        <p:spPr>
          <a:xfrm>
            <a:off x="3291840" y="1188720"/>
            <a:ext cx="5394960" cy="3034665"/>
          </a:xfrm>
          <a:prstGeom prst="rect">
            <a:avLst/>
          </a:prstGeom>
        </p:spPr>
      </p:pic>
      <p:sp>
        <p:nvSpPr>
          <p:cNvPr id="8" name="Frame: ClinicQ dashboard: stats, live queue per doctor, appointments"/>
          <p:cNvSpPr/>
          <p:nvPr/>
        </p:nvSpPr>
        <p:spPr>
          <a:xfrm>
            <a:off x="3291840" y="1188720"/>
            <a:ext cx="5394960" cy="3034665"/>
          </a:xfrm>
          <a:prstGeom prst="rect">
            <a:avLst/>
          </a:prstGeom>
          <a:solidFill>
            <a:schemeClr val="bg1">
              <a:alpha val="0"/>
            </a:schemeClr>
          </a:solidFill>
          <a:ln w="9525">
            <a:solidFill>
              <a:schemeClr val="accent5"/>
            </a:solidFill>
            <a:prstDash val="solid"/>
          </a:ln>
        </p:spPr>
      </p:sp>
      <p:sp>
        <p:nvSpPr>
          <p:cNvPr id="9" name="Text 5"/>
          <p:cNvSpPr txBox="1"/>
          <p:nvPr/>
        </p:nvSpPr>
        <p:spPr>
          <a:xfrm>
            <a:off x="3291840" y="4278249"/>
            <a:ext cx="5394960" cy="201168"/>
          </a:xfrm>
          <a:prstGeom prst="rect">
            <a:avLst/>
          </a:prstGeom>
          <a:noFill/>
          <a:ln/>
        </p:spPr>
        <p:txBody>
          <a:bodyPr wrap="square" lIns="0" tIns="0" rIns="0" bIns="0" rtlCol="0" anchor="t"/>
          <a:lstStyle/>
          <a:p>
            <a:pPr marL="0" indent="0">
              <a:buNone/>
            </a:pPr>
            <a:r>
              <a:rPr lang="en-US" sz="1000" i="1" dirty="0">
                <a:solidFill>
                  <a:schemeClr val="tx2"/>
                </a:solidFill>
              </a:rPr>
              <a:t>ClinicQ dashboard: stats, live queue per doctor, appointments</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182880"/>
            <a:ext cx="365760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INTRO</a:t>
            </a:r>
            <a:endParaRPr lang="en-US" sz="1000" dirty="0"/>
          </a:p>
        </p:txBody>
      </p:sp>
      <p:sp>
        <p:nvSpPr>
          <p:cNvPr id="3" name="Text 0"/>
          <p:cNvSpPr>
            <a:spLocks noGrp="1"/>
          </p:cNvSpPr>
          <p:nvPr>
            <p:ph type="title" idx="100" hasCustomPrompt="1"/>
          </p:nvPr>
        </p:nvSpPr>
        <p:spPr>
          <a:xfrm>
            <a:off x="457200" y="384048"/>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The stack, layer by layer</a:t>
            </a:r>
            <a:endParaRPr lang="en-US" sz="2800" dirty="0"/>
          </a:p>
        </p:txBody>
      </p:sp>
      <p:sp>
        <p:nvSpPr>
          <p:cNvPr id="5" name="layer FRONTEND"/>
          <p:cNvSpPr/>
          <p:nvPr/>
        </p:nvSpPr>
        <p:spPr>
          <a:xfrm>
            <a:off x="457200" y="1188720"/>
            <a:ext cx="1920240" cy="1508760"/>
          </a:xfrm>
          <a:prstGeom prst="roundRect">
            <a:avLst>
              <a:gd name="adj" fmla="val 4848"/>
            </a:avLst>
          </a:prstGeom>
          <a:solidFill>
            <a:schemeClr val="bg2"/>
          </a:solidFill>
          <a:ln/>
        </p:spPr>
      </p:sp>
      <p:sp>
        <p:nvSpPr>
          <p:cNvPr id="6" name="Text 3"/>
          <p:cNvSpPr txBox="1"/>
          <p:nvPr/>
        </p:nvSpPr>
        <p:spPr>
          <a:xfrm>
            <a:off x="594360" y="1325880"/>
            <a:ext cx="164592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FRONTEND</a:t>
            </a:r>
            <a:endParaRPr lang="en-US" sz="1000" dirty="0"/>
          </a:p>
        </p:txBody>
      </p:sp>
      <p:sp>
        <p:nvSpPr>
          <p:cNvPr id="7" name="Text 4"/>
          <p:cNvSpPr txBox="1"/>
          <p:nvPr/>
        </p:nvSpPr>
        <p:spPr>
          <a:xfrm>
            <a:off x="594360" y="1645920"/>
            <a:ext cx="1645920" cy="365760"/>
          </a:xfrm>
          <a:prstGeom prst="rect">
            <a:avLst/>
          </a:prstGeom>
          <a:noFill/>
          <a:ln/>
        </p:spPr>
        <p:txBody>
          <a:bodyPr wrap="square" lIns="0" tIns="0" rIns="0" bIns="0" rtlCol="0" anchor="t"/>
          <a:lstStyle/>
          <a:p>
            <a:pPr marL="0" indent="0">
              <a:buNone/>
            </a:pPr>
            <a:r>
              <a:rPr lang="en-US" sz="1700" b="1" dirty="0">
                <a:solidFill>
                  <a:schemeClr val="tx1"/>
                </a:solidFill>
              </a:rPr>
              <a:t>React 18 + Vite</a:t>
            </a:r>
            <a:endParaRPr lang="en-US" sz="1700" dirty="0"/>
          </a:p>
        </p:txBody>
      </p:sp>
      <p:sp>
        <p:nvSpPr>
          <p:cNvPr id="8" name="Text 5"/>
          <p:cNvSpPr txBox="1"/>
          <p:nvPr/>
        </p:nvSpPr>
        <p:spPr>
          <a:xfrm>
            <a:off x="594360" y="2103120"/>
            <a:ext cx="1645920" cy="457200"/>
          </a:xfrm>
          <a:prstGeom prst="rect">
            <a:avLst/>
          </a:prstGeom>
          <a:noFill/>
          <a:ln/>
        </p:spPr>
        <p:txBody>
          <a:bodyPr wrap="square" lIns="0" tIns="0" rIns="0" bIns="0" rtlCol="0" anchor="t"/>
          <a:lstStyle/>
          <a:p>
            <a:pPr marL="0" indent="0">
              <a:buNone/>
            </a:pPr>
            <a:r>
              <a:rPr lang="en-US" sz="1300" dirty="0">
                <a:solidFill>
                  <a:schemeClr val="tx2"/>
                </a:solidFill>
              </a:rPr>
              <a:t>served by nginx</a:t>
            </a:r>
            <a:endParaRPr lang="en-US" sz="1300" dirty="0"/>
          </a:p>
        </p:txBody>
      </p:sp>
      <p:sp>
        <p:nvSpPr>
          <p:cNvPr id="9" name="layer BACKEND"/>
          <p:cNvSpPr/>
          <p:nvPr/>
        </p:nvSpPr>
        <p:spPr>
          <a:xfrm>
            <a:off x="2560320" y="1188720"/>
            <a:ext cx="1920240" cy="1508760"/>
          </a:xfrm>
          <a:prstGeom prst="roundRect">
            <a:avLst>
              <a:gd name="adj" fmla="val 4848"/>
            </a:avLst>
          </a:prstGeom>
          <a:solidFill>
            <a:schemeClr val="bg2"/>
          </a:solidFill>
          <a:ln/>
        </p:spPr>
      </p:sp>
      <p:sp>
        <p:nvSpPr>
          <p:cNvPr id="10" name="Text 7"/>
          <p:cNvSpPr txBox="1"/>
          <p:nvPr/>
        </p:nvSpPr>
        <p:spPr>
          <a:xfrm>
            <a:off x="2697480" y="1325880"/>
            <a:ext cx="164592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BACKEND</a:t>
            </a:r>
            <a:endParaRPr lang="en-US" sz="1000" dirty="0"/>
          </a:p>
        </p:txBody>
      </p:sp>
      <p:sp>
        <p:nvSpPr>
          <p:cNvPr id="11" name="Text 8"/>
          <p:cNvSpPr txBox="1"/>
          <p:nvPr/>
        </p:nvSpPr>
        <p:spPr>
          <a:xfrm>
            <a:off x="2697480" y="1645920"/>
            <a:ext cx="1645920" cy="365760"/>
          </a:xfrm>
          <a:prstGeom prst="rect">
            <a:avLst/>
          </a:prstGeom>
          <a:noFill/>
          <a:ln/>
        </p:spPr>
        <p:txBody>
          <a:bodyPr wrap="square" lIns="0" tIns="0" rIns="0" bIns="0" rtlCol="0" anchor="t"/>
          <a:lstStyle/>
          <a:p>
            <a:pPr marL="0" indent="0">
              <a:buNone/>
            </a:pPr>
            <a:r>
              <a:rPr lang="en-US" sz="1700" b="1" dirty="0">
                <a:solidFill>
                  <a:schemeClr val="tx1"/>
                </a:solidFill>
              </a:rPr>
              <a:t>FastAPI</a:t>
            </a:r>
            <a:endParaRPr lang="en-US" sz="1700" dirty="0"/>
          </a:p>
        </p:txBody>
      </p:sp>
      <p:sp>
        <p:nvSpPr>
          <p:cNvPr id="12" name="Text 9"/>
          <p:cNvSpPr txBox="1"/>
          <p:nvPr/>
        </p:nvSpPr>
        <p:spPr>
          <a:xfrm>
            <a:off x="2697480" y="2103120"/>
            <a:ext cx="1645920" cy="457200"/>
          </a:xfrm>
          <a:prstGeom prst="rect">
            <a:avLst/>
          </a:prstGeom>
          <a:noFill/>
          <a:ln/>
        </p:spPr>
        <p:txBody>
          <a:bodyPr wrap="square" lIns="0" tIns="0" rIns="0" bIns="0" rtlCol="0" anchor="t"/>
          <a:lstStyle/>
          <a:p>
            <a:pPr marL="0" indent="0">
              <a:buNone/>
            </a:pPr>
            <a:r>
              <a:rPr lang="en-US" sz="1300" dirty="0">
                <a:solidFill>
                  <a:schemeClr val="tx2"/>
                </a:solidFill>
              </a:rPr>
              <a:t>SQLAlchemy 2, Pydantic</a:t>
            </a:r>
            <a:endParaRPr lang="en-US" sz="1300" dirty="0"/>
          </a:p>
        </p:txBody>
      </p:sp>
      <p:sp>
        <p:nvSpPr>
          <p:cNvPr id="13" name="layer DATABASE"/>
          <p:cNvSpPr/>
          <p:nvPr/>
        </p:nvSpPr>
        <p:spPr>
          <a:xfrm>
            <a:off x="4663440" y="1188720"/>
            <a:ext cx="1920240" cy="1508760"/>
          </a:xfrm>
          <a:prstGeom prst="roundRect">
            <a:avLst>
              <a:gd name="adj" fmla="val 4848"/>
            </a:avLst>
          </a:prstGeom>
          <a:solidFill>
            <a:schemeClr val="bg2"/>
          </a:solidFill>
          <a:ln/>
        </p:spPr>
      </p:sp>
      <p:sp>
        <p:nvSpPr>
          <p:cNvPr id="14" name="Text 11"/>
          <p:cNvSpPr txBox="1"/>
          <p:nvPr/>
        </p:nvSpPr>
        <p:spPr>
          <a:xfrm>
            <a:off x="4800600" y="1325880"/>
            <a:ext cx="164592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DATABASE</a:t>
            </a:r>
            <a:endParaRPr lang="en-US" sz="1000" dirty="0"/>
          </a:p>
        </p:txBody>
      </p:sp>
      <p:sp>
        <p:nvSpPr>
          <p:cNvPr id="15" name="Text 12"/>
          <p:cNvSpPr txBox="1"/>
          <p:nvPr/>
        </p:nvSpPr>
        <p:spPr>
          <a:xfrm>
            <a:off x="4800600" y="1645920"/>
            <a:ext cx="1645920" cy="365760"/>
          </a:xfrm>
          <a:prstGeom prst="rect">
            <a:avLst/>
          </a:prstGeom>
          <a:noFill/>
          <a:ln/>
        </p:spPr>
        <p:txBody>
          <a:bodyPr wrap="square" lIns="0" tIns="0" rIns="0" bIns="0" rtlCol="0" anchor="t"/>
          <a:lstStyle/>
          <a:p>
            <a:pPr marL="0" indent="0">
              <a:buNone/>
            </a:pPr>
            <a:r>
              <a:rPr lang="en-US" sz="1700" b="1" dirty="0">
                <a:solidFill>
                  <a:schemeClr val="tx1"/>
                </a:solidFill>
              </a:rPr>
              <a:t>PostgreSQL</a:t>
            </a:r>
            <a:endParaRPr lang="en-US" sz="1700" dirty="0"/>
          </a:p>
        </p:txBody>
      </p:sp>
      <p:sp>
        <p:nvSpPr>
          <p:cNvPr id="16" name="Text 13"/>
          <p:cNvSpPr txBox="1"/>
          <p:nvPr/>
        </p:nvSpPr>
        <p:spPr>
          <a:xfrm>
            <a:off x="4800600" y="2103120"/>
            <a:ext cx="1645920" cy="457200"/>
          </a:xfrm>
          <a:prstGeom prst="rect">
            <a:avLst/>
          </a:prstGeom>
          <a:noFill/>
          <a:ln/>
        </p:spPr>
        <p:txBody>
          <a:bodyPr wrap="square" lIns="0" tIns="0" rIns="0" bIns="0" rtlCol="0" anchor="t"/>
          <a:lstStyle/>
          <a:p>
            <a:pPr marL="0" indent="0">
              <a:buNone/>
            </a:pPr>
            <a:r>
              <a:rPr lang="en-US" sz="1300" dirty="0">
                <a:solidFill>
                  <a:schemeClr val="tx2"/>
                </a:solidFill>
              </a:rPr>
              <a:t>Alembic migrations</a:t>
            </a:r>
            <a:endParaRPr lang="en-US" sz="1300" dirty="0"/>
          </a:p>
        </p:txBody>
      </p:sp>
      <p:sp>
        <p:nvSpPr>
          <p:cNvPr id="17" name="layer QUALITY"/>
          <p:cNvSpPr/>
          <p:nvPr/>
        </p:nvSpPr>
        <p:spPr>
          <a:xfrm>
            <a:off x="6766560" y="1188720"/>
            <a:ext cx="1920240" cy="1508760"/>
          </a:xfrm>
          <a:prstGeom prst="roundRect">
            <a:avLst>
              <a:gd name="adj" fmla="val 4848"/>
            </a:avLst>
          </a:prstGeom>
          <a:solidFill>
            <a:schemeClr val="bg2"/>
          </a:solidFill>
          <a:ln/>
        </p:spPr>
      </p:sp>
      <p:sp>
        <p:nvSpPr>
          <p:cNvPr id="18" name="Text 15"/>
          <p:cNvSpPr txBox="1"/>
          <p:nvPr/>
        </p:nvSpPr>
        <p:spPr>
          <a:xfrm>
            <a:off x="6903720" y="1325880"/>
            <a:ext cx="164592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QUALITY</a:t>
            </a:r>
            <a:endParaRPr lang="en-US" sz="1000" dirty="0"/>
          </a:p>
        </p:txBody>
      </p:sp>
      <p:sp>
        <p:nvSpPr>
          <p:cNvPr id="19" name="Text 16"/>
          <p:cNvSpPr txBox="1"/>
          <p:nvPr/>
        </p:nvSpPr>
        <p:spPr>
          <a:xfrm>
            <a:off x="6903720" y="1645920"/>
            <a:ext cx="1645920" cy="365760"/>
          </a:xfrm>
          <a:prstGeom prst="rect">
            <a:avLst/>
          </a:prstGeom>
          <a:noFill/>
          <a:ln/>
        </p:spPr>
        <p:txBody>
          <a:bodyPr wrap="square" lIns="0" tIns="0" rIns="0" bIns="0" rtlCol="0" anchor="t"/>
          <a:lstStyle/>
          <a:p>
            <a:pPr marL="0" indent="0">
              <a:buNone/>
            </a:pPr>
            <a:r>
              <a:rPr lang="en-US" sz="1700" b="1" dirty="0">
                <a:solidFill>
                  <a:schemeClr val="tx1"/>
                </a:solidFill>
              </a:rPr>
              <a:t>pytest + ruff</a:t>
            </a:r>
            <a:endParaRPr lang="en-US" sz="1700" dirty="0"/>
          </a:p>
        </p:txBody>
      </p:sp>
      <p:sp>
        <p:nvSpPr>
          <p:cNvPr id="20" name="Text 17"/>
          <p:cNvSpPr txBox="1"/>
          <p:nvPr/>
        </p:nvSpPr>
        <p:spPr>
          <a:xfrm>
            <a:off x="6903720" y="2103120"/>
            <a:ext cx="1645920" cy="457200"/>
          </a:xfrm>
          <a:prstGeom prst="rect">
            <a:avLst/>
          </a:prstGeom>
          <a:noFill/>
          <a:ln/>
        </p:spPr>
        <p:txBody>
          <a:bodyPr wrap="square" lIns="0" tIns="0" rIns="0" bIns="0" rtlCol="0" anchor="t"/>
          <a:lstStyle/>
          <a:p>
            <a:pPr marL="0" indent="0">
              <a:buNone/>
            </a:pPr>
            <a:r>
              <a:rPr lang="en-US" sz="1300" dirty="0">
                <a:solidFill>
                  <a:schemeClr val="tx2"/>
                </a:solidFill>
              </a:rPr>
              <a:t>24 tests on SQLite</a:t>
            </a:r>
            <a:endParaRPr lang="en-US" sz="1300" dirty="0"/>
          </a:p>
        </p:txBody>
      </p:sp>
      <p:sp>
        <p:nvSpPr>
          <p:cNvPr id="21" name="layer PACKAGING"/>
          <p:cNvSpPr/>
          <p:nvPr/>
        </p:nvSpPr>
        <p:spPr>
          <a:xfrm>
            <a:off x="457200" y="2880360"/>
            <a:ext cx="1920240" cy="1508760"/>
          </a:xfrm>
          <a:prstGeom prst="roundRect">
            <a:avLst>
              <a:gd name="adj" fmla="val 4848"/>
            </a:avLst>
          </a:prstGeom>
          <a:solidFill>
            <a:schemeClr val="bg2"/>
          </a:solidFill>
          <a:ln/>
        </p:spPr>
      </p:sp>
      <p:sp>
        <p:nvSpPr>
          <p:cNvPr id="22" name="Text 19"/>
          <p:cNvSpPr txBox="1"/>
          <p:nvPr/>
        </p:nvSpPr>
        <p:spPr>
          <a:xfrm>
            <a:off x="594360" y="3017520"/>
            <a:ext cx="164592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PACKAGING</a:t>
            </a:r>
            <a:endParaRPr lang="en-US" sz="1000" dirty="0"/>
          </a:p>
        </p:txBody>
      </p:sp>
      <p:sp>
        <p:nvSpPr>
          <p:cNvPr id="23" name="Text 20"/>
          <p:cNvSpPr txBox="1"/>
          <p:nvPr/>
        </p:nvSpPr>
        <p:spPr>
          <a:xfrm>
            <a:off x="594360" y="3337560"/>
            <a:ext cx="1645920" cy="365760"/>
          </a:xfrm>
          <a:prstGeom prst="rect">
            <a:avLst/>
          </a:prstGeom>
          <a:noFill/>
          <a:ln/>
        </p:spPr>
        <p:txBody>
          <a:bodyPr wrap="square" lIns="0" tIns="0" rIns="0" bIns="0" rtlCol="0" anchor="t"/>
          <a:lstStyle/>
          <a:p>
            <a:pPr marL="0" indent="0">
              <a:buNone/>
            </a:pPr>
            <a:r>
              <a:rPr lang="en-US" sz="1700" b="1" dirty="0">
                <a:solidFill>
                  <a:schemeClr val="tx1"/>
                </a:solidFill>
              </a:rPr>
              <a:t>Docker</a:t>
            </a:r>
            <a:endParaRPr lang="en-US" sz="1700" dirty="0"/>
          </a:p>
        </p:txBody>
      </p:sp>
      <p:sp>
        <p:nvSpPr>
          <p:cNvPr id="24" name="Text 21"/>
          <p:cNvSpPr txBox="1"/>
          <p:nvPr/>
        </p:nvSpPr>
        <p:spPr>
          <a:xfrm>
            <a:off x="594360" y="3794760"/>
            <a:ext cx="1645920" cy="457200"/>
          </a:xfrm>
          <a:prstGeom prst="rect">
            <a:avLst/>
          </a:prstGeom>
          <a:noFill/>
          <a:ln/>
        </p:spPr>
        <p:txBody>
          <a:bodyPr wrap="square" lIns="0" tIns="0" rIns="0" bIns="0" rtlCol="0" anchor="t"/>
          <a:lstStyle/>
          <a:p>
            <a:pPr marL="0" indent="0">
              <a:buNone/>
            </a:pPr>
            <a:r>
              <a:rPr lang="en-US" sz="1300" dirty="0">
                <a:solidFill>
                  <a:schemeClr val="tx2"/>
                </a:solidFill>
              </a:rPr>
              <a:t>multi-stage, non-root</a:t>
            </a:r>
            <a:endParaRPr lang="en-US" sz="1300" dirty="0"/>
          </a:p>
        </p:txBody>
      </p:sp>
      <p:sp>
        <p:nvSpPr>
          <p:cNvPr id="25" name="layer PIPELINE"/>
          <p:cNvSpPr/>
          <p:nvPr/>
        </p:nvSpPr>
        <p:spPr>
          <a:xfrm>
            <a:off x="2560320" y="2880360"/>
            <a:ext cx="1920240" cy="1508760"/>
          </a:xfrm>
          <a:prstGeom prst="roundRect">
            <a:avLst>
              <a:gd name="adj" fmla="val 4848"/>
            </a:avLst>
          </a:prstGeom>
          <a:solidFill>
            <a:schemeClr val="bg2"/>
          </a:solidFill>
          <a:ln/>
        </p:spPr>
      </p:sp>
      <p:sp>
        <p:nvSpPr>
          <p:cNvPr id="26" name="Text 23"/>
          <p:cNvSpPr txBox="1"/>
          <p:nvPr/>
        </p:nvSpPr>
        <p:spPr>
          <a:xfrm>
            <a:off x="2697480" y="3017520"/>
            <a:ext cx="164592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PIPELINE</a:t>
            </a:r>
            <a:endParaRPr lang="en-US" sz="1000" dirty="0"/>
          </a:p>
        </p:txBody>
      </p:sp>
      <p:sp>
        <p:nvSpPr>
          <p:cNvPr id="27" name="Text 24"/>
          <p:cNvSpPr txBox="1"/>
          <p:nvPr/>
        </p:nvSpPr>
        <p:spPr>
          <a:xfrm>
            <a:off x="2697480" y="3337560"/>
            <a:ext cx="1645920" cy="365760"/>
          </a:xfrm>
          <a:prstGeom prst="rect">
            <a:avLst/>
          </a:prstGeom>
          <a:noFill/>
          <a:ln/>
        </p:spPr>
        <p:txBody>
          <a:bodyPr wrap="square" lIns="0" tIns="0" rIns="0" bIns="0" rtlCol="0" anchor="t"/>
          <a:lstStyle/>
          <a:p>
            <a:pPr marL="0" indent="0">
              <a:buNone/>
            </a:pPr>
            <a:r>
              <a:rPr lang="en-US" sz="1700" b="1" dirty="0">
                <a:solidFill>
                  <a:schemeClr val="tx1"/>
                </a:solidFill>
              </a:rPr>
              <a:t>GitHub Actions</a:t>
            </a:r>
            <a:endParaRPr lang="en-US" sz="1700" dirty="0"/>
          </a:p>
        </p:txBody>
      </p:sp>
      <p:sp>
        <p:nvSpPr>
          <p:cNvPr id="28" name="Text 25"/>
          <p:cNvSpPr txBox="1"/>
          <p:nvPr/>
        </p:nvSpPr>
        <p:spPr>
          <a:xfrm>
            <a:off x="2697480" y="3794760"/>
            <a:ext cx="1645920" cy="457200"/>
          </a:xfrm>
          <a:prstGeom prst="rect">
            <a:avLst/>
          </a:prstGeom>
          <a:noFill/>
          <a:ln/>
        </p:spPr>
        <p:txBody>
          <a:bodyPr wrap="square" lIns="0" tIns="0" rIns="0" bIns="0" rtlCol="0" anchor="t"/>
          <a:lstStyle/>
          <a:p>
            <a:pPr marL="0" indent="0">
              <a:buNone/>
            </a:pPr>
            <a:r>
              <a:rPr lang="en-US" sz="1300" dirty="0">
                <a:solidFill>
                  <a:schemeClr val="tx2"/>
                </a:solidFill>
              </a:rPr>
              <a:t>GHCR registry, Trivy</a:t>
            </a:r>
            <a:endParaRPr lang="en-US" sz="1300" dirty="0"/>
          </a:p>
        </p:txBody>
      </p:sp>
      <p:sp>
        <p:nvSpPr>
          <p:cNvPr id="29" name="layer PLATFORM"/>
          <p:cNvSpPr/>
          <p:nvPr/>
        </p:nvSpPr>
        <p:spPr>
          <a:xfrm>
            <a:off x="4663440" y="2880360"/>
            <a:ext cx="1920240" cy="1508760"/>
          </a:xfrm>
          <a:prstGeom prst="roundRect">
            <a:avLst>
              <a:gd name="adj" fmla="val 4848"/>
            </a:avLst>
          </a:prstGeom>
          <a:solidFill>
            <a:schemeClr val="bg2"/>
          </a:solidFill>
          <a:ln/>
        </p:spPr>
      </p:sp>
      <p:sp>
        <p:nvSpPr>
          <p:cNvPr id="30" name="Text 27"/>
          <p:cNvSpPr txBox="1"/>
          <p:nvPr/>
        </p:nvSpPr>
        <p:spPr>
          <a:xfrm>
            <a:off x="4800600" y="3017520"/>
            <a:ext cx="164592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PLATFORM</a:t>
            </a:r>
            <a:endParaRPr lang="en-US" sz="1000" dirty="0"/>
          </a:p>
        </p:txBody>
      </p:sp>
      <p:sp>
        <p:nvSpPr>
          <p:cNvPr id="31" name="Text 28"/>
          <p:cNvSpPr txBox="1"/>
          <p:nvPr/>
        </p:nvSpPr>
        <p:spPr>
          <a:xfrm>
            <a:off x="4800600" y="3337560"/>
            <a:ext cx="1645920" cy="365760"/>
          </a:xfrm>
          <a:prstGeom prst="rect">
            <a:avLst/>
          </a:prstGeom>
          <a:noFill/>
          <a:ln/>
        </p:spPr>
        <p:txBody>
          <a:bodyPr wrap="square" lIns="0" tIns="0" rIns="0" bIns="0" rtlCol="0" anchor="t"/>
          <a:lstStyle/>
          <a:p>
            <a:pPr marL="0" indent="0">
              <a:buNone/>
            </a:pPr>
            <a:r>
              <a:rPr lang="en-US" sz="1700" b="1" dirty="0">
                <a:solidFill>
                  <a:schemeClr val="tx1"/>
                </a:solidFill>
              </a:rPr>
              <a:t>Terraform + EKS</a:t>
            </a:r>
            <a:endParaRPr lang="en-US" sz="1700" dirty="0"/>
          </a:p>
        </p:txBody>
      </p:sp>
      <p:sp>
        <p:nvSpPr>
          <p:cNvPr id="32" name="Text 29"/>
          <p:cNvSpPr txBox="1"/>
          <p:nvPr/>
        </p:nvSpPr>
        <p:spPr>
          <a:xfrm>
            <a:off x="4800600" y="3794760"/>
            <a:ext cx="1645920" cy="457200"/>
          </a:xfrm>
          <a:prstGeom prst="rect">
            <a:avLst/>
          </a:prstGeom>
          <a:noFill/>
          <a:ln/>
        </p:spPr>
        <p:txBody>
          <a:bodyPr wrap="square" lIns="0" tIns="0" rIns="0" bIns="0" rtlCol="0" anchor="t"/>
          <a:lstStyle/>
          <a:p>
            <a:pPr marL="0" indent="0">
              <a:buNone/>
            </a:pPr>
            <a:r>
              <a:rPr lang="en-US" sz="1300" dirty="0">
                <a:solidFill>
                  <a:schemeClr val="tx2"/>
                </a:solidFill>
              </a:rPr>
              <a:t>VPC, Spot nodes</a:t>
            </a:r>
            <a:endParaRPr lang="en-US" sz="1300" dirty="0"/>
          </a:p>
        </p:txBody>
      </p:sp>
      <p:sp>
        <p:nvSpPr>
          <p:cNvPr id="33" name="layer OPERATIONS"/>
          <p:cNvSpPr/>
          <p:nvPr/>
        </p:nvSpPr>
        <p:spPr>
          <a:xfrm>
            <a:off x="6766560" y="2880360"/>
            <a:ext cx="1920240" cy="1508760"/>
          </a:xfrm>
          <a:prstGeom prst="roundRect">
            <a:avLst>
              <a:gd name="adj" fmla="val 4848"/>
            </a:avLst>
          </a:prstGeom>
          <a:solidFill>
            <a:schemeClr val="bg2"/>
          </a:solidFill>
          <a:ln/>
        </p:spPr>
      </p:sp>
      <p:sp>
        <p:nvSpPr>
          <p:cNvPr id="34" name="Text 31"/>
          <p:cNvSpPr txBox="1"/>
          <p:nvPr/>
        </p:nvSpPr>
        <p:spPr>
          <a:xfrm>
            <a:off x="6903720" y="3017520"/>
            <a:ext cx="164592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OPERATIONS</a:t>
            </a:r>
            <a:endParaRPr lang="en-US" sz="1000" dirty="0"/>
          </a:p>
        </p:txBody>
      </p:sp>
      <p:sp>
        <p:nvSpPr>
          <p:cNvPr id="35" name="Text 32"/>
          <p:cNvSpPr txBox="1"/>
          <p:nvPr/>
        </p:nvSpPr>
        <p:spPr>
          <a:xfrm>
            <a:off x="6903720" y="3337560"/>
            <a:ext cx="1645920" cy="365760"/>
          </a:xfrm>
          <a:prstGeom prst="rect">
            <a:avLst/>
          </a:prstGeom>
          <a:noFill/>
          <a:ln/>
        </p:spPr>
        <p:txBody>
          <a:bodyPr wrap="square" lIns="0" tIns="0" rIns="0" bIns="0" rtlCol="0" anchor="t"/>
          <a:lstStyle/>
          <a:p>
            <a:pPr marL="0" indent="0">
              <a:buNone/>
            </a:pPr>
            <a:r>
              <a:rPr lang="en-US" sz="1700" b="1" dirty="0">
                <a:solidFill>
                  <a:schemeClr val="tx1"/>
                </a:solidFill>
              </a:rPr>
              <a:t>Prometheus</a:t>
            </a:r>
            <a:endParaRPr lang="en-US" sz="1700" dirty="0"/>
          </a:p>
        </p:txBody>
      </p:sp>
      <p:sp>
        <p:nvSpPr>
          <p:cNvPr id="36" name="Text 33"/>
          <p:cNvSpPr txBox="1"/>
          <p:nvPr/>
        </p:nvSpPr>
        <p:spPr>
          <a:xfrm>
            <a:off x="6903720" y="3794760"/>
            <a:ext cx="1645920" cy="457200"/>
          </a:xfrm>
          <a:prstGeom prst="rect">
            <a:avLst/>
          </a:prstGeom>
          <a:noFill/>
          <a:ln/>
        </p:spPr>
        <p:txBody>
          <a:bodyPr wrap="square" lIns="0" tIns="0" rIns="0" bIns="0" rtlCol="0" anchor="t"/>
          <a:lstStyle/>
          <a:p>
            <a:pPr marL="0" indent="0">
              <a:buNone/>
            </a:pPr>
            <a:r>
              <a:rPr lang="en-US" sz="1300" dirty="0">
                <a:solidFill>
                  <a:schemeClr val="tx2"/>
                </a:solidFill>
              </a:rPr>
              <a:t>Helm, Grafana, HPA</a:t>
            </a:r>
            <a:endParaRPr lang="en-US" sz="1300" dirty="0"/>
          </a:p>
        </p:txBody>
      </p:sp>
      <p:sp>
        <p:nvSpPr>
          <p:cNvPr id="4"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182880"/>
            <a:ext cx="365760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INTRO</a:t>
            </a:r>
            <a:endParaRPr lang="en-US" sz="1000" dirty="0"/>
          </a:p>
        </p:txBody>
      </p:sp>
      <p:sp>
        <p:nvSpPr>
          <p:cNvPr id="3" name="Text 0"/>
          <p:cNvSpPr>
            <a:spLocks noGrp="1"/>
          </p:cNvSpPr>
          <p:nvPr>
            <p:ph type="title" idx="100" hasCustomPrompt="1"/>
          </p:nvPr>
        </p:nvSpPr>
        <p:spPr>
          <a:xfrm>
            <a:off x="457200" y="384048"/>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From one commit to a running pod</a:t>
            </a:r>
            <a:endParaRPr lang="en-US" sz="2800" dirty="0"/>
          </a:p>
        </p:txBody>
      </p:sp>
      <p:sp>
        <p:nvSpPr>
          <p:cNvPr id="5" name="step Commit"/>
          <p:cNvSpPr/>
          <p:nvPr/>
        </p:nvSpPr>
        <p:spPr>
          <a:xfrm>
            <a:off x="457200" y="1188720"/>
            <a:ext cx="1463040" cy="1508760"/>
          </a:xfrm>
          <a:prstGeom prst="roundRect">
            <a:avLst>
              <a:gd name="adj" fmla="val 5000"/>
            </a:avLst>
          </a:prstGeom>
          <a:solidFill>
            <a:schemeClr val="bg2"/>
          </a:solidFill>
          <a:ln/>
        </p:spPr>
      </p:sp>
      <p:sp>
        <p:nvSpPr>
          <p:cNvPr id="6" name="Text 3"/>
          <p:cNvSpPr txBox="1"/>
          <p:nvPr/>
        </p:nvSpPr>
        <p:spPr>
          <a:xfrm>
            <a:off x="594360" y="1280160"/>
            <a:ext cx="457200" cy="411480"/>
          </a:xfrm>
          <a:prstGeom prst="rect">
            <a:avLst/>
          </a:prstGeom>
          <a:noFill/>
          <a:ln/>
        </p:spPr>
        <p:txBody>
          <a:bodyPr wrap="square" lIns="0" tIns="0" rIns="0" bIns="0" rtlCol="0" anchor="t"/>
          <a:lstStyle/>
          <a:p>
            <a:pPr marL="0" indent="0">
              <a:buNone/>
            </a:pPr>
            <a:r>
              <a:rPr lang="en-US" sz="2400" b="1" dirty="0">
                <a:solidFill>
                  <a:schemeClr val="accent2"/>
                </a:solidFill>
                <a:latin typeface="Cambria" pitchFamily="34" charset="0"/>
                <a:ea typeface="Cambria" pitchFamily="34" charset="-122"/>
                <a:cs typeface="Cambria" pitchFamily="34" charset="-120"/>
              </a:rPr>
              <a:t>1</a:t>
            </a:r>
            <a:endParaRPr lang="en-US" sz="2400" dirty="0"/>
          </a:p>
        </p:txBody>
      </p:sp>
      <p:sp>
        <p:nvSpPr>
          <p:cNvPr id="7" name="Text 4"/>
          <p:cNvSpPr txBox="1"/>
          <p:nvPr/>
        </p:nvSpPr>
        <p:spPr>
          <a:xfrm>
            <a:off x="594360" y="1691640"/>
            <a:ext cx="1188720" cy="274320"/>
          </a:xfrm>
          <a:prstGeom prst="rect">
            <a:avLst/>
          </a:prstGeom>
          <a:noFill/>
          <a:ln/>
        </p:spPr>
        <p:txBody>
          <a:bodyPr wrap="square" lIns="0" tIns="0" rIns="0" bIns="0" rtlCol="0" anchor="t"/>
          <a:lstStyle/>
          <a:p>
            <a:pPr marL="0" indent="0">
              <a:buNone/>
            </a:pPr>
            <a:r>
              <a:rPr lang="en-US" sz="1600" b="1" dirty="0">
                <a:solidFill>
                  <a:schemeClr val="tx1"/>
                </a:solidFill>
              </a:rPr>
              <a:t>Commit</a:t>
            </a:r>
            <a:endParaRPr lang="en-US" sz="1600" dirty="0"/>
          </a:p>
        </p:txBody>
      </p:sp>
      <p:sp>
        <p:nvSpPr>
          <p:cNvPr id="8" name="Text 5"/>
          <p:cNvSpPr txBox="1"/>
          <p:nvPr/>
        </p:nvSpPr>
        <p:spPr>
          <a:xfrm>
            <a:off x="594360" y="1975104"/>
            <a:ext cx="1188720" cy="411480"/>
          </a:xfrm>
          <a:prstGeom prst="rect">
            <a:avLst/>
          </a:prstGeom>
          <a:noFill/>
          <a:ln/>
        </p:spPr>
        <p:txBody>
          <a:bodyPr wrap="square" lIns="0" tIns="0" rIns="0" bIns="0" rtlCol="0" anchor="t"/>
          <a:lstStyle/>
          <a:p>
            <a:pPr marL="0" indent="0">
              <a:buNone/>
            </a:pPr>
            <a:r>
              <a:rPr lang="en-US" sz="1200" dirty="0">
                <a:solidFill>
                  <a:schemeClr val="tx2"/>
                </a:solidFill>
              </a:rPr>
              <a:t>push to main</a:t>
            </a:r>
            <a:endParaRPr lang="en-US" sz="1200" dirty="0"/>
          </a:p>
        </p:txBody>
      </p:sp>
      <p:sp>
        <p:nvSpPr>
          <p:cNvPr id="9" name="Text 6"/>
          <p:cNvSpPr txBox="1"/>
          <p:nvPr/>
        </p:nvSpPr>
        <p:spPr>
          <a:xfrm>
            <a:off x="594360" y="2432304"/>
            <a:ext cx="1188720" cy="201168"/>
          </a:xfrm>
          <a:prstGeom prst="rect">
            <a:avLst/>
          </a:prstGeom>
          <a:noFill/>
          <a:ln/>
        </p:spPr>
        <p:txBody>
          <a:bodyPr wrap="square" lIns="0" tIns="0" rIns="0" bIns="0" rtlCol="0" anchor="t"/>
          <a:lstStyle/>
          <a:p>
            <a:pPr marL="0" indent="0">
              <a:buNone/>
            </a:pPr>
            <a:r>
              <a:rPr lang="en-US" sz="1100" b="1" dirty="0">
                <a:solidFill>
                  <a:schemeClr val="accent1"/>
                </a:solidFill>
              </a:rPr>
              <a:t>Slide 10</a:t>
            </a:r>
            <a:endParaRPr lang="en-US" sz="1100" dirty="0"/>
          </a:p>
        </p:txBody>
      </p:sp>
      <p:sp>
        <p:nvSpPr>
          <p:cNvPr id="10" name="step CI"/>
          <p:cNvSpPr/>
          <p:nvPr/>
        </p:nvSpPr>
        <p:spPr>
          <a:xfrm>
            <a:off x="2148840" y="1188720"/>
            <a:ext cx="1463040" cy="1508760"/>
          </a:xfrm>
          <a:prstGeom prst="roundRect">
            <a:avLst>
              <a:gd name="adj" fmla="val 5000"/>
            </a:avLst>
          </a:prstGeom>
          <a:solidFill>
            <a:schemeClr val="bg2"/>
          </a:solidFill>
          <a:ln/>
        </p:spPr>
      </p:sp>
      <p:sp>
        <p:nvSpPr>
          <p:cNvPr id="11" name="Text 8"/>
          <p:cNvSpPr txBox="1"/>
          <p:nvPr/>
        </p:nvSpPr>
        <p:spPr>
          <a:xfrm>
            <a:off x="2286000" y="1280160"/>
            <a:ext cx="457200" cy="411480"/>
          </a:xfrm>
          <a:prstGeom prst="rect">
            <a:avLst/>
          </a:prstGeom>
          <a:noFill/>
          <a:ln/>
        </p:spPr>
        <p:txBody>
          <a:bodyPr wrap="square" lIns="0" tIns="0" rIns="0" bIns="0" rtlCol="0" anchor="t"/>
          <a:lstStyle/>
          <a:p>
            <a:pPr marL="0" indent="0">
              <a:buNone/>
            </a:pPr>
            <a:r>
              <a:rPr lang="en-US" sz="2400" b="1" dirty="0">
                <a:solidFill>
                  <a:schemeClr val="accent2"/>
                </a:solidFill>
                <a:latin typeface="Cambria" pitchFamily="34" charset="0"/>
                <a:ea typeface="Cambria" pitchFamily="34" charset="-122"/>
                <a:cs typeface="Cambria" pitchFamily="34" charset="-120"/>
              </a:rPr>
              <a:t>2</a:t>
            </a:r>
            <a:endParaRPr lang="en-US" sz="2400" dirty="0"/>
          </a:p>
        </p:txBody>
      </p:sp>
      <p:sp>
        <p:nvSpPr>
          <p:cNvPr id="12" name="Text 9"/>
          <p:cNvSpPr txBox="1"/>
          <p:nvPr/>
        </p:nvSpPr>
        <p:spPr>
          <a:xfrm>
            <a:off x="2286000" y="1691640"/>
            <a:ext cx="1188720" cy="274320"/>
          </a:xfrm>
          <a:prstGeom prst="rect">
            <a:avLst/>
          </a:prstGeom>
          <a:noFill/>
          <a:ln/>
        </p:spPr>
        <p:txBody>
          <a:bodyPr wrap="square" lIns="0" tIns="0" rIns="0" bIns="0" rtlCol="0" anchor="t"/>
          <a:lstStyle/>
          <a:p>
            <a:pPr marL="0" indent="0">
              <a:buNone/>
            </a:pPr>
            <a:r>
              <a:rPr lang="en-US" sz="1600" b="1" dirty="0">
                <a:solidFill>
                  <a:schemeClr val="tx1"/>
                </a:solidFill>
              </a:rPr>
              <a:t>CI</a:t>
            </a:r>
            <a:endParaRPr lang="en-US" sz="1600" dirty="0"/>
          </a:p>
        </p:txBody>
      </p:sp>
      <p:sp>
        <p:nvSpPr>
          <p:cNvPr id="13" name="Text 10"/>
          <p:cNvSpPr txBox="1"/>
          <p:nvPr/>
        </p:nvSpPr>
        <p:spPr>
          <a:xfrm>
            <a:off x="2286000" y="1975104"/>
            <a:ext cx="1188720" cy="411480"/>
          </a:xfrm>
          <a:prstGeom prst="rect">
            <a:avLst/>
          </a:prstGeom>
          <a:noFill/>
          <a:ln/>
        </p:spPr>
        <p:txBody>
          <a:bodyPr wrap="square" lIns="0" tIns="0" rIns="0" bIns="0" rtlCol="0" anchor="t"/>
          <a:lstStyle/>
          <a:p>
            <a:pPr marL="0" indent="0">
              <a:buNone/>
            </a:pPr>
            <a:r>
              <a:rPr lang="en-US" sz="1200" dirty="0">
                <a:solidFill>
                  <a:schemeClr val="tx2"/>
                </a:solidFill>
              </a:rPr>
              <a:t>ruff, pytest, build</a:t>
            </a:r>
            <a:endParaRPr lang="en-US" sz="1200" dirty="0"/>
          </a:p>
        </p:txBody>
      </p:sp>
      <p:sp>
        <p:nvSpPr>
          <p:cNvPr id="14" name="Text 11"/>
          <p:cNvSpPr txBox="1"/>
          <p:nvPr/>
        </p:nvSpPr>
        <p:spPr>
          <a:xfrm>
            <a:off x="2286000" y="2432304"/>
            <a:ext cx="1188720" cy="201168"/>
          </a:xfrm>
          <a:prstGeom prst="rect">
            <a:avLst/>
          </a:prstGeom>
          <a:noFill/>
          <a:ln/>
        </p:spPr>
        <p:txBody>
          <a:bodyPr wrap="square" lIns="0" tIns="0" rIns="0" bIns="0" rtlCol="0" anchor="t"/>
          <a:lstStyle/>
          <a:p>
            <a:pPr marL="0" indent="0">
              <a:buNone/>
            </a:pPr>
            <a:r>
              <a:rPr lang="en-US" sz="1100" b="1" dirty="0">
                <a:solidFill>
                  <a:schemeClr val="accent1"/>
                </a:solidFill>
              </a:rPr>
              <a:t>Slide 10</a:t>
            </a:r>
            <a:endParaRPr lang="en-US" sz="1100" dirty="0"/>
          </a:p>
        </p:txBody>
      </p:sp>
      <p:sp>
        <p:nvSpPr>
          <p:cNvPr id="15" name="step Image"/>
          <p:cNvSpPr/>
          <p:nvPr/>
        </p:nvSpPr>
        <p:spPr>
          <a:xfrm>
            <a:off x="3840480" y="1188720"/>
            <a:ext cx="1463040" cy="1508760"/>
          </a:xfrm>
          <a:prstGeom prst="roundRect">
            <a:avLst>
              <a:gd name="adj" fmla="val 5000"/>
            </a:avLst>
          </a:prstGeom>
          <a:solidFill>
            <a:schemeClr val="bg2"/>
          </a:solidFill>
          <a:ln/>
        </p:spPr>
      </p:sp>
      <p:sp>
        <p:nvSpPr>
          <p:cNvPr id="16" name="Text 13"/>
          <p:cNvSpPr txBox="1"/>
          <p:nvPr/>
        </p:nvSpPr>
        <p:spPr>
          <a:xfrm>
            <a:off x="3977640" y="1280160"/>
            <a:ext cx="457200" cy="411480"/>
          </a:xfrm>
          <a:prstGeom prst="rect">
            <a:avLst/>
          </a:prstGeom>
          <a:noFill/>
          <a:ln/>
        </p:spPr>
        <p:txBody>
          <a:bodyPr wrap="square" lIns="0" tIns="0" rIns="0" bIns="0" rtlCol="0" anchor="t"/>
          <a:lstStyle/>
          <a:p>
            <a:pPr marL="0" indent="0">
              <a:buNone/>
            </a:pPr>
            <a:r>
              <a:rPr lang="en-US" sz="2400" b="1" dirty="0">
                <a:solidFill>
                  <a:schemeClr val="accent2"/>
                </a:solidFill>
                <a:latin typeface="Cambria" pitchFamily="34" charset="0"/>
                <a:ea typeface="Cambria" pitchFamily="34" charset="-122"/>
                <a:cs typeface="Cambria" pitchFamily="34" charset="-120"/>
              </a:rPr>
              <a:t>3</a:t>
            </a:r>
            <a:endParaRPr lang="en-US" sz="2400" dirty="0"/>
          </a:p>
        </p:txBody>
      </p:sp>
      <p:sp>
        <p:nvSpPr>
          <p:cNvPr id="17" name="Text 14"/>
          <p:cNvSpPr txBox="1"/>
          <p:nvPr/>
        </p:nvSpPr>
        <p:spPr>
          <a:xfrm>
            <a:off x="3977640" y="1691640"/>
            <a:ext cx="1188720" cy="274320"/>
          </a:xfrm>
          <a:prstGeom prst="rect">
            <a:avLst/>
          </a:prstGeom>
          <a:noFill/>
          <a:ln/>
        </p:spPr>
        <p:txBody>
          <a:bodyPr wrap="square" lIns="0" tIns="0" rIns="0" bIns="0" rtlCol="0" anchor="t"/>
          <a:lstStyle/>
          <a:p>
            <a:pPr marL="0" indent="0">
              <a:buNone/>
            </a:pPr>
            <a:r>
              <a:rPr lang="en-US" sz="1600" b="1" dirty="0">
                <a:solidFill>
                  <a:schemeClr val="tx1"/>
                </a:solidFill>
              </a:rPr>
              <a:t>Image</a:t>
            </a:r>
            <a:endParaRPr lang="en-US" sz="1600" dirty="0"/>
          </a:p>
        </p:txBody>
      </p:sp>
      <p:sp>
        <p:nvSpPr>
          <p:cNvPr id="18" name="Text 15"/>
          <p:cNvSpPr txBox="1"/>
          <p:nvPr/>
        </p:nvSpPr>
        <p:spPr>
          <a:xfrm>
            <a:off x="3977640" y="1975104"/>
            <a:ext cx="1188720" cy="411480"/>
          </a:xfrm>
          <a:prstGeom prst="rect">
            <a:avLst/>
          </a:prstGeom>
          <a:noFill/>
          <a:ln/>
        </p:spPr>
        <p:txBody>
          <a:bodyPr wrap="square" lIns="0" tIns="0" rIns="0" bIns="0" rtlCol="0" anchor="t"/>
          <a:lstStyle/>
          <a:p>
            <a:pPr marL="0" indent="0">
              <a:buNone/>
            </a:pPr>
            <a:r>
              <a:rPr lang="en-US" sz="1200" dirty="0">
                <a:solidFill>
                  <a:schemeClr val="tx2"/>
                </a:solidFill>
              </a:rPr>
              <a:t>Docker, tagged by SHA</a:t>
            </a:r>
            <a:endParaRPr lang="en-US" sz="1200" dirty="0"/>
          </a:p>
        </p:txBody>
      </p:sp>
      <p:sp>
        <p:nvSpPr>
          <p:cNvPr id="19" name="Text 16"/>
          <p:cNvSpPr txBox="1"/>
          <p:nvPr/>
        </p:nvSpPr>
        <p:spPr>
          <a:xfrm>
            <a:off x="3977640" y="2432304"/>
            <a:ext cx="1188720" cy="201168"/>
          </a:xfrm>
          <a:prstGeom prst="rect">
            <a:avLst/>
          </a:prstGeom>
          <a:noFill/>
          <a:ln/>
        </p:spPr>
        <p:txBody>
          <a:bodyPr wrap="square" lIns="0" tIns="0" rIns="0" bIns="0" rtlCol="0" anchor="t"/>
          <a:lstStyle/>
          <a:p>
            <a:pPr marL="0" indent="0">
              <a:buNone/>
            </a:pPr>
            <a:r>
              <a:rPr lang="en-US" sz="1100" b="1" dirty="0">
                <a:solidFill>
                  <a:schemeClr val="accent1"/>
                </a:solidFill>
              </a:rPr>
              <a:t>Slide 8</a:t>
            </a:r>
            <a:endParaRPr lang="en-US" sz="1100" dirty="0"/>
          </a:p>
        </p:txBody>
      </p:sp>
      <p:sp>
        <p:nvSpPr>
          <p:cNvPr id="20" name="step Scan"/>
          <p:cNvSpPr/>
          <p:nvPr/>
        </p:nvSpPr>
        <p:spPr>
          <a:xfrm>
            <a:off x="5532120" y="1188720"/>
            <a:ext cx="1463040" cy="1508760"/>
          </a:xfrm>
          <a:prstGeom prst="roundRect">
            <a:avLst>
              <a:gd name="adj" fmla="val 5000"/>
            </a:avLst>
          </a:prstGeom>
          <a:solidFill>
            <a:schemeClr val="bg2"/>
          </a:solidFill>
          <a:ln/>
        </p:spPr>
      </p:sp>
      <p:sp>
        <p:nvSpPr>
          <p:cNvPr id="21" name="Text 18"/>
          <p:cNvSpPr txBox="1"/>
          <p:nvPr/>
        </p:nvSpPr>
        <p:spPr>
          <a:xfrm>
            <a:off x="5669280" y="1280160"/>
            <a:ext cx="457200" cy="411480"/>
          </a:xfrm>
          <a:prstGeom prst="rect">
            <a:avLst/>
          </a:prstGeom>
          <a:noFill/>
          <a:ln/>
        </p:spPr>
        <p:txBody>
          <a:bodyPr wrap="square" lIns="0" tIns="0" rIns="0" bIns="0" rtlCol="0" anchor="t"/>
          <a:lstStyle/>
          <a:p>
            <a:pPr marL="0" indent="0">
              <a:buNone/>
            </a:pPr>
            <a:r>
              <a:rPr lang="en-US" sz="2400" b="1" dirty="0">
                <a:solidFill>
                  <a:schemeClr val="accent2"/>
                </a:solidFill>
                <a:latin typeface="Cambria" pitchFamily="34" charset="0"/>
                <a:ea typeface="Cambria" pitchFamily="34" charset="-122"/>
                <a:cs typeface="Cambria" pitchFamily="34" charset="-120"/>
              </a:rPr>
              <a:t>4</a:t>
            </a:r>
            <a:endParaRPr lang="en-US" sz="2400" dirty="0"/>
          </a:p>
        </p:txBody>
      </p:sp>
      <p:sp>
        <p:nvSpPr>
          <p:cNvPr id="22" name="Text 19"/>
          <p:cNvSpPr txBox="1"/>
          <p:nvPr/>
        </p:nvSpPr>
        <p:spPr>
          <a:xfrm>
            <a:off x="5669280" y="1691640"/>
            <a:ext cx="1188720" cy="274320"/>
          </a:xfrm>
          <a:prstGeom prst="rect">
            <a:avLst/>
          </a:prstGeom>
          <a:noFill/>
          <a:ln/>
        </p:spPr>
        <p:txBody>
          <a:bodyPr wrap="square" lIns="0" tIns="0" rIns="0" bIns="0" rtlCol="0" anchor="t"/>
          <a:lstStyle/>
          <a:p>
            <a:pPr marL="0" indent="0">
              <a:buNone/>
            </a:pPr>
            <a:r>
              <a:rPr lang="en-US" sz="1600" b="1" dirty="0">
                <a:solidFill>
                  <a:schemeClr val="tx1"/>
                </a:solidFill>
              </a:rPr>
              <a:t>Scan</a:t>
            </a:r>
            <a:endParaRPr lang="en-US" sz="1600" dirty="0"/>
          </a:p>
        </p:txBody>
      </p:sp>
      <p:sp>
        <p:nvSpPr>
          <p:cNvPr id="23" name="Text 20"/>
          <p:cNvSpPr txBox="1"/>
          <p:nvPr/>
        </p:nvSpPr>
        <p:spPr>
          <a:xfrm>
            <a:off x="5669280" y="1975104"/>
            <a:ext cx="1188720" cy="411480"/>
          </a:xfrm>
          <a:prstGeom prst="rect">
            <a:avLst/>
          </a:prstGeom>
          <a:noFill/>
          <a:ln/>
        </p:spPr>
        <p:txBody>
          <a:bodyPr wrap="square" lIns="0" tIns="0" rIns="0" bIns="0" rtlCol="0" anchor="t"/>
          <a:lstStyle/>
          <a:p>
            <a:pPr marL="0" indent="0">
              <a:buNone/>
            </a:pPr>
            <a:r>
              <a:rPr lang="en-US" sz="1200" dirty="0">
                <a:solidFill>
                  <a:schemeClr val="tx2"/>
                </a:solidFill>
              </a:rPr>
              <a:t>Trivy blocks HIGH</a:t>
            </a:r>
            <a:endParaRPr lang="en-US" sz="1200" dirty="0"/>
          </a:p>
        </p:txBody>
      </p:sp>
      <p:sp>
        <p:nvSpPr>
          <p:cNvPr id="24" name="Text 21"/>
          <p:cNvSpPr txBox="1"/>
          <p:nvPr/>
        </p:nvSpPr>
        <p:spPr>
          <a:xfrm>
            <a:off x="5669280" y="2432304"/>
            <a:ext cx="1188720" cy="201168"/>
          </a:xfrm>
          <a:prstGeom prst="rect">
            <a:avLst/>
          </a:prstGeom>
          <a:noFill/>
          <a:ln/>
        </p:spPr>
        <p:txBody>
          <a:bodyPr wrap="square" lIns="0" tIns="0" rIns="0" bIns="0" rtlCol="0" anchor="t"/>
          <a:lstStyle/>
          <a:p>
            <a:pPr marL="0" indent="0">
              <a:buNone/>
            </a:pPr>
            <a:r>
              <a:rPr lang="en-US" sz="1100" b="1" dirty="0">
                <a:solidFill>
                  <a:schemeClr val="accent1"/>
                </a:solidFill>
              </a:rPr>
              <a:t>Slide 11</a:t>
            </a:r>
            <a:endParaRPr lang="en-US" sz="1100" dirty="0"/>
          </a:p>
        </p:txBody>
      </p:sp>
      <p:sp>
        <p:nvSpPr>
          <p:cNvPr id="25" name="step Registry"/>
          <p:cNvSpPr/>
          <p:nvPr/>
        </p:nvSpPr>
        <p:spPr>
          <a:xfrm>
            <a:off x="7223760" y="1188720"/>
            <a:ext cx="1463040" cy="1508760"/>
          </a:xfrm>
          <a:prstGeom prst="roundRect">
            <a:avLst>
              <a:gd name="adj" fmla="val 5000"/>
            </a:avLst>
          </a:prstGeom>
          <a:solidFill>
            <a:schemeClr val="bg2"/>
          </a:solidFill>
          <a:ln/>
        </p:spPr>
      </p:sp>
      <p:sp>
        <p:nvSpPr>
          <p:cNvPr id="26" name="Text 23"/>
          <p:cNvSpPr txBox="1"/>
          <p:nvPr/>
        </p:nvSpPr>
        <p:spPr>
          <a:xfrm>
            <a:off x="7360920" y="1280160"/>
            <a:ext cx="457200" cy="411480"/>
          </a:xfrm>
          <a:prstGeom prst="rect">
            <a:avLst/>
          </a:prstGeom>
          <a:noFill/>
          <a:ln/>
        </p:spPr>
        <p:txBody>
          <a:bodyPr wrap="square" lIns="0" tIns="0" rIns="0" bIns="0" rtlCol="0" anchor="t"/>
          <a:lstStyle/>
          <a:p>
            <a:pPr marL="0" indent="0">
              <a:buNone/>
            </a:pPr>
            <a:r>
              <a:rPr lang="en-US" sz="2400" b="1" dirty="0">
                <a:solidFill>
                  <a:schemeClr val="accent2"/>
                </a:solidFill>
                <a:latin typeface="Cambria" pitchFamily="34" charset="0"/>
                <a:ea typeface="Cambria" pitchFamily="34" charset="-122"/>
                <a:cs typeface="Cambria" pitchFamily="34" charset="-120"/>
              </a:rPr>
              <a:t>5</a:t>
            </a:r>
            <a:endParaRPr lang="en-US" sz="2400" dirty="0"/>
          </a:p>
        </p:txBody>
      </p:sp>
      <p:sp>
        <p:nvSpPr>
          <p:cNvPr id="27" name="Text 24"/>
          <p:cNvSpPr txBox="1"/>
          <p:nvPr/>
        </p:nvSpPr>
        <p:spPr>
          <a:xfrm>
            <a:off x="7360920" y="1691640"/>
            <a:ext cx="1188720" cy="274320"/>
          </a:xfrm>
          <a:prstGeom prst="rect">
            <a:avLst/>
          </a:prstGeom>
          <a:noFill/>
          <a:ln/>
        </p:spPr>
        <p:txBody>
          <a:bodyPr wrap="square" lIns="0" tIns="0" rIns="0" bIns="0" rtlCol="0" anchor="t"/>
          <a:lstStyle/>
          <a:p>
            <a:pPr marL="0" indent="0">
              <a:buNone/>
            </a:pPr>
            <a:r>
              <a:rPr lang="en-US" sz="1600" b="1" dirty="0">
                <a:solidFill>
                  <a:schemeClr val="tx1"/>
                </a:solidFill>
              </a:rPr>
              <a:t>Registry</a:t>
            </a:r>
            <a:endParaRPr lang="en-US" sz="1600" dirty="0"/>
          </a:p>
        </p:txBody>
      </p:sp>
      <p:sp>
        <p:nvSpPr>
          <p:cNvPr id="28" name="Text 25"/>
          <p:cNvSpPr txBox="1"/>
          <p:nvPr/>
        </p:nvSpPr>
        <p:spPr>
          <a:xfrm>
            <a:off x="7360920" y="1975104"/>
            <a:ext cx="1188720" cy="411480"/>
          </a:xfrm>
          <a:prstGeom prst="rect">
            <a:avLst/>
          </a:prstGeom>
          <a:noFill/>
          <a:ln/>
        </p:spPr>
        <p:txBody>
          <a:bodyPr wrap="square" lIns="0" tIns="0" rIns="0" bIns="0" rtlCol="0" anchor="t"/>
          <a:lstStyle/>
          <a:p>
            <a:pPr marL="0" indent="0">
              <a:buNone/>
            </a:pPr>
            <a:r>
              <a:rPr lang="en-US" sz="1200" dirty="0">
                <a:solidFill>
                  <a:schemeClr val="tx2"/>
                </a:solidFill>
              </a:rPr>
              <a:t>GitHub Container Registry</a:t>
            </a:r>
            <a:endParaRPr lang="en-US" sz="1200" dirty="0"/>
          </a:p>
        </p:txBody>
      </p:sp>
      <p:sp>
        <p:nvSpPr>
          <p:cNvPr id="29" name="Text 26"/>
          <p:cNvSpPr txBox="1"/>
          <p:nvPr/>
        </p:nvSpPr>
        <p:spPr>
          <a:xfrm>
            <a:off x="7360920" y="2432304"/>
            <a:ext cx="1188720" cy="201168"/>
          </a:xfrm>
          <a:prstGeom prst="rect">
            <a:avLst/>
          </a:prstGeom>
          <a:noFill/>
          <a:ln/>
        </p:spPr>
        <p:txBody>
          <a:bodyPr wrap="square" lIns="0" tIns="0" rIns="0" bIns="0" rtlCol="0" anchor="t"/>
          <a:lstStyle/>
          <a:p>
            <a:pPr marL="0" indent="0">
              <a:buNone/>
            </a:pPr>
            <a:r>
              <a:rPr lang="en-US" sz="1100" b="1" dirty="0">
                <a:solidFill>
                  <a:schemeClr val="accent1"/>
                </a:solidFill>
              </a:rPr>
              <a:t>Slide 12</a:t>
            </a:r>
            <a:endParaRPr lang="en-US" sz="1100" dirty="0"/>
          </a:p>
        </p:txBody>
      </p:sp>
      <p:sp>
        <p:nvSpPr>
          <p:cNvPr id="30" name="step Terraform"/>
          <p:cNvSpPr/>
          <p:nvPr/>
        </p:nvSpPr>
        <p:spPr>
          <a:xfrm>
            <a:off x="1303020" y="2834640"/>
            <a:ext cx="1463040" cy="1508760"/>
          </a:xfrm>
          <a:prstGeom prst="roundRect">
            <a:avLst>
              <a:gd name="adj" fmla="val 5000"/>
            </a:avLst>
          </a:prstGeom>
          <a:solidFill>
            <a:schemeClr val="bg2"/>
          </a:solidFill>
          <a:ln/>
        </p:spPr>
      </p:sp>
      <p:sp>
        <p:nvSpPr>
          <p:cNvPr id="31" name="Text 28"/>
          <p:cNvSpPr txBox="1"/>
          <p:nvPr/>
        </p:nvSpPr>
        <p:spPr>
          <a:xfrm>
            <a:off x="1440180" y="2926080"/>
            <a:ext cx="457200" cy="411480"/>
          </a:xfrm>
          <a:prstGeom prst="rect">
            <a:avLst/>
          </a:prstGeom>
          <a:noFill/>
          <a:ln/>
        </p:spPr>
        <p:txBody>
          <a:bodyPr wrap="square" lIns="0" tIns="0" rIns="0" bIns="0" rtlCol="0" anchor="t"/>
          <a:lstStyle/>
          <a:p>
            <a:pPr marL="0" indent="0">
              <a:buNone/>
            </a:pPr>
            <a:r>
              <a:rPr lang="en-US" sz="2400" b="1" dirty="0">
                <a:solidFill>
                  <a:schemeClr val="accent2"/>
                </a:solidFill>
                <a:latin typeface="Cambria" pitchFamily="34" charset="0"/>
                <a:ea typeface="Cambria" pitchFamily="34" charset="-122"/>
                <a:cs typeface="Cambria" pitchFamily="34" charset="-120"/>
              </a:rPr>
              <a:t>6</a:t>
            </a:r>
            <a:endParaRPr lang="en-US" sz="2400" dirty="0"/>
          </a:p>
        </p:txBody>
      </p:sp>
      <p:sp>
        <p:nvSpPr>
          <p:cNvPr id="32" name="Text 29"/>
          <p:cNvSpPr txBox="1"/>
          <p:nvPr/>
        </p:nvSpPr>
        <p:spPr>
          <a:xfrm>
            <a:off x="1440180" y="3337560"/>
            <a:ext cx="1188720" cy="274320"/>
          </a:xfrm>
          <a:prstGeom prst="rect">
            <a:avLst/>
          </a:prstGeom>
          <a:noFill/>
          <a:ln/>
        </p:spPr>
        <p:txBody>
          <a:bodyPr wrap="square" lIns="0" tIns="0" rIns="0" bIns="0" rtlCol="0" anchor="t"/>
          <a:lstStyle/>
          <a:p>
            <a:pPr marL="0" indent="0">
              <a:buNone/>
            </a:pPr>
            <a:r>
              <a:rPr lang="en-US" sz="1600" b="1" dirty="0">
                <a:solidFill>
                  <a:schemeClr val="tx1"/>
                </a:solidFill>
              </a:rPr>
              <a:t>Terraform</a:t>
            </a:r>
            <a:endParaRPr lang="en-US" sz="1600" dirty="0"/>
          </a:p>
        </p:txBody>
      </p:sp>
      <p:sp>
        <p:nvSpPr>
          <p:cNvPr id="33" name="Text 30"/>
          <p:cNvSpPr txBox="1"/>
          <p:nvPr/>
        </p:nvSpPr>
        <p:spPr>
          <a:xfrm>
            <a:off x="1440180" y="3621024"/>
            <a:ext cx="1188720" cy="411480"/>
          </a:xfrm>
          <a:prstGeom prst="rect">
            <a:avLst/>
          </a:prstGeom>
          <a:noFill/>
          <a:ln/>
        </p:spPr>
        <p:txBody>
          <a:bodyPr wrap="square" lIns="0" tIns="0" rIns="0" bIns="0" rtlCol="0" anchor="t"/>
          <a:lstStyle/>
          <a:p>
            <a:pPr marL="0" indent="0">
              <a:buNone/>
            </a:pPr>
            <a:r>
              <a:rPr lang="en-US" sz="1200" dirty="0">
                <a:solidFill>
                  <a:schemeClr val="tx2"/>
                </a:solidFill>
              </a:rPr>
              <a:t>VPC and EKS</a:t>
            </a:r>
            <a:endParaRPr lang="en-US" sz="1200" dirty="0"/>
          </a:p>
        </p:txBody>
      </p:sp>
      <p:sp>
        <p:nvSpPr>
          <p:cNvPr id="34" name="Text 31"/>
          <p:cNvSpPr txBox="1"/>
          <p:nvPr/>
        </p:nvSpPr>
        <p:spPr>
          <a:xfrm>
            <a:off x="1440180" y="4078224"/>
            <a:ext cx="1188720" cy="201168"/>
          </a:xfrm>
          <a:prstGeom prst="rect">
            <a:avLst/>
          </a:prstGeom>
          <a:noFill/>
          <a:ln/>
        </p:spPr>
        <p:txBody>
          <a:bodyPr wrap="square" lIns="0" tIns="0" rIns="0" bIns="0" rtlCol="0" anchor="t"/>
          <a:lstStyle/>
          <a:p>
            <a:pPr marL="0" indent="0">
              <a:buNone/>
            </a:pPr>
            <a:r>
              <a:rPr lang="en-US" sz="1100" b="1" dirty="0">
                <a:solidFill>
                  <a:schemeClr val="accent1"/>
                </a:solidFill>
              </a:rPr>
              <a:t>Slide 13</a:t>
            </a:r>
            <a:endParaRPr lang="en-US" sz="1100" dirty="0"/>
          </a:p>
        </p:txBody>
      </p:sp>
      <p:sp>
        <p:nvSpPr>
          <p:cNvPr id="35" name="step Helm"/>
          <p:cNvSpPr/>
          <p:nvPr/>
        </p:nvSpPr>
        <p:spPr>
          <a:xfrm>
            <a:off x="2994660" y="2834640"/>
            <a:ext cx="1463040" cy="1508760"/>
          </a:xfrm>
          <a:prstGeom prst="roundRect">
            <a:avLst>
              <a:gd name="adj" fmla="val 5000"/>
            </a:avLst>
          </a:prstGeom>
          <a:solidFill>
            <a:schemeClr val="bg2"/>
          </a:solidFill>
          <a:ln/>
        </p:spPr>
      </p:sp>
      <p:sp>
        <p:nvSpPr>
          <p:cNvPr id="36" name="Text 33"/>
          <p:cNvSpPr txBox="1"/>
          <p:nvPr/>
        </p:nvSpPr>
        <p:spPr>
          <a:xfrm>
            <a:off x="3131820" y="2926080"/>
            <a:ext cx="457200" cy="411480"/>
          </a:xfrm>
          <a:prstGeom prst="rect">
            <a:avLst/>
          </a:prstGeom>
          <a:noFill/>
          <a:ln/>
        </p:spPr>
        <p:txBody>
          <a:bodyPr wrap="square" lIns="0" tIns="0" rIns="0" bIns="0" rtlCol="0" anchor="t"/>
          <a:lstStyle/>
          <a:p>
            <a:pPr marL="0" indent="0">
              <a:buNone/>
            </a:pPr>
            <a:r>
              <a:rPr lang="en-US" sz="2400" b="1" dirty="0">
                <a:solidFill>
                  <a:schemeClr val="accent2"/>
                </a:solidFill>
                <a:latin typeface="Cambria" pitchFamily="34" charset="0"/>
                <a:ea typeface="Cambria" pitchFamily="34" charset="-122"/>
                <a:cs typeface="Cambria" pitchFamily="34" charset="-120"/>
              </a:rPr>
              <a:t>7</a:t>
            </a:r>
            <a:endParaRPr lang="en-US" sz="2400" dirty="0"/>
          </a:p>
        </p:txBody>
      </p:sp>
      <p:sp>
        <p:nvSpPr>
          <p:cNvPr id="37" name="Text 34"/>
          <p:cNvSpPr txBox="1"/>
          <p:nvPr/>
        </p:nvSpPr>
        <p:spPr>
          <a:xfrm>
            <a:off x="3131820" y="3337560"/>
            <a:ext cx="1188720" cy="274320"/>
          </a:xfrm>
          <a:prstGeom prst="rect">
            <a:avLst/>
          </a:prstGeom>
          <a:noFill/>
          <a:ln/>
        </p:spPr>
        <p:txBody>
          <a:bodyPr wrap="square" lIns="0" tIns="0" rIns="0" bIns="0" rtlCol="0" anchor="t"/>
          <a:lstStyle/>
          <a:p>
            <a:pPr marL="0" indent="0">
              <a:buNone/>
            </a:pPr>
            <a:r>
              <a:rPr lang="en-US" sz="1600" b="1" dirty="0">
                <a:solidFill>
                  <a:schemeClr val="tx1"/>
                </a:solidFill>
              </a:rPr>
              <a:t>Helm</a:t>
            </a:r>
            <a:endParaRPr lang="en-US" sz="1600" dirty="0"/>
          </a:p>
        </p:txBody>
      </p:sp>
      <p:sp>
        <p:nvSpPr>
          <p:cNvPr id="38" name="Text 35"/>
          <p:cNvSpPr txBox="1"/>
          <p:nvPr/>
        </p:nvSpPr>
        <p:spPr>
          <a:xfrm>
            <a:off x="3131820" y="3621024"/>
            <a:ext cx="1188720" cy="411480"/>
          </a:xfrm>
          <a:prstGeom prst="rect">
            <a:avLst/>
          </a:prstGeom>
          <a:noFill/>
          <a:ln/>
        </p:spPr>
        <p:txBody>
          <a:bodyPr wrap="square" lIns="0" tIns="0" rIns="0" bIns="0" rtlCol="0" anchor="t"/>
          <a:lstStyle/>
          <a:p>
            <a:pPr marL="0" indent="0">
              <a:buNone/>
            </a:pPr>
            <a:r>
              <a:rPr lang="en-US" sz="1200" dirty="0">
                <a:solidFill>
                  <a:schemeClr val="tx2"/>
                </a:solidFill>
              </a:rPr>
              <a:t>chart to the cluster</a:t>
            </a:r>
            <a:endParaRPr lang="en-US" sz="1200" dirty="0"/>
          </a:p>
        </p:txBody>
      </p:sp>
      <p:sp>
        <p:nvSpPr>
          <p:cNvPr id="39" name="Text 36"/>
          <p:cNvSpPr txBox="1"/>
          <p:nvPr/>
        </p:nvSpPr>
        <p:spPr>
          <a:xfrm>
            <a:off x="3131820" y="4078224"/>
            <a:ext cx="1188720" cy="201168"/>
          </a:xfrm>
          <a:prstGeom prst="rect">
            <a:avLst/>
          </a:prstGeom>
          <a:noFill/>
          <a:ln/>
        </p:spPr>
        <p:txBody>
          <a:bodyPr wrap="square" lIns="0" tIns="0" rIns="0" bIns="0" rtlCol="0" anchor="t"/>
          <a:lstStyle/>
          <a:p>
            <a:pPr marL="0" indent="0">
              <a:buNone/>
            </a:pPr>
            <a:r>
              <a:rPr lang="en-US" sz="1100" b="1" dirty="0">
                <a:solidFill>
                  <a:schemeClr val="accent1"/>
                </a:solidFill>
              </a:rPr>
              <a:t>Slide 16</a:t>
            </a:r>
            <a:endParaRPr lang="en-US" sz="1100" dirty="0"/>
          </a:p>
        </p:txBody>
      </p:sp>
      <p:sp>
        <p:nvSpPr>
          <p:cNvPr id="40" name="step Ingress"/>
          <p:cNvSpPr/>
          <p:nvPr/>
        </p:nvSpPr>
        <p:spPr>
          <a:xfrm>
            <a:off x="4686300" y="2834640"/>
            <a:ext cx="1463040" cy="1508760"/>
          </a:xfrm>
          <a:prstGeom prst="roundRect">
            <a:avLst>
              <a:gd name="adj" fmla="val 5000"/>
            </a:avLst>
          </a:prstGeom>
          <a:solidFill>
            <a:schemeClr val="bg2"/>
          </a:solidFill>
          <a:ln/>
        </p:spPr>
      </p:sp>
      <p:sp>
        <p:nvSpPr>
          <p:cNvPr id="41" name="Text 38"/>
          <p:cNvSpPr txBox="1"/>
          <p:nvPr/>
        </p:nvSpPr>
        <p:spPr>
          <a:xfrm>
            <a:off x="4823460" y="2926080"/>
            <a:ext cx="457200" cy="411480"/>
          </a:xfrm>
          <a:prstGeom prst="rect">
            <a:avLst/>
          </a:prstGeom>
          <a:noFill/>
          <a:ln/>
        </p:spPr>
        <p:txBody>
          <a:bodyPr wrap="square" lIns="0" tIns="0" rIns="0" bIns="0" rtlCol="0" anchor="t"/>
          <a:lstStyle/>
          <a:p>
            <a:pPr marL="0" indent="0">
              <a:buNone/>
            </a:pPr>
            <a:r>
              <a:rPr lang="en-US" sz="2400" b="1" dirty="0">
                <a:solidFill>
                  <a:schemeClr val="accent2"/>
                </a:solidFill>
                <a:latin typeface="Cambria" pitchFamily="34" charset="0"/>
                <a:ea typeface="Cambria" pitchFamily="34" charset="-122"/>
                <a:cs typeface="Cambria" pitchFamily="34" charset="-120"/>
              </a:rPr>
              <a:t>8</a:t>
            </a:r>
            <a:endParaRPr lang="en-US" sz="2400" dirty="0"/>
          </a:p>
        </p:txBody>
      </p:sp>
      <p:sp>
        <p:nvSpPr>
          <p:cNvPr id="42" name="Text 39"/>
          <p:cNvSpPr txBox="1"/>
          <p:nvPr/>
        </p:nvSpPr>
        <p:spPr>
          <a:xfrm>
            <a:off x="4823460" y="3337560"/>
            <a:ext cx="1188720" cy="274320"/>
          </a:xfrm>
          <a:prstGeom prst="rect">
            <a:avLst/>
          </a:prstGeom>
          <a:noFill/>
          <a:ln/>
        </p:spPr>
        <p:txBody>
          <a:bodyPr wrap="square" lIns="0" tIns="0" rIns="0" bIns="0" rtlCol="0" anchor="t"/>
          <a:lstStyle/>
          <a:p>
            <a:pPr marL="0" indent="0">
              <a:buNone/>
            </a:pPr>
            <a:r>
              <a:rPr lang="en-US" sz="1600" b="1" dirty="0">
                <a:solidFill>
                  <a:schemeClr val="tx1"/>
                </a:solidFill>
              </a:rPr>
              <a:t>Ingress</a:t>
            </a:r>
            <a:endParaRPr lang="en-US" sz="1600" dirty="0"/>
          </a:p>
        </p:txBody>
      </p:sp>
      <p:sp>
        <p:nvSpPr>
          <p:cNvPr id="43" name="Text 40"/>
          <p:cNvSpPr txBox="1"/>
          <p:nvPr/>
        </p:nvSpPr>
        <p:spPr>
          <a:xfrm>
            <a:off x="4823460" y="3621024"/>
            <a:ext cx="1188720" cy="411480"/>
          </a:xfrm>
          <a:prstGeom prst="rect">
            <a:avLst/>
          </a:prstGeom>
          <a:noFill/>
          <a:ln/>
        </p:spPr>
        <p:txBody>
          <a:bodyPr wrap="square" lIns="0" tIns="0" rIns="0" bIns="0" rtlCol="0" anchor="t"/>
          <a:lstStyle/>
          <a:p>
            <a:pPr marL="0" indent="0">
              <a:buNone/>
            </a:pPr>
            <a:r>
              <a:rPr lang="en-US" sz="1200" dirty="0">
                <a:solidFill>
                  <a:schemeClr val="tx2"/>
                </a:solidFill>
              </a:rPr>
              <a:t>one public address</a:t>
            </a:r>
            <a:endParaRPr lang="en-US" sz="1200" dirty="0"/>
          </a:p>
        </p:txBody>
      </p:sp>
      <p:sp>
        <p:nvSpPr>
          <p:cNvPr id="44" name="Text 41"/>
          <p:cNvSpPr txBox="1"/>
          <p:nvPr/>
        </p:nvSpPr>
        <p:spPr>
          <a:xfrm>
            <a:off x="4823460" y="4078224"/>
            <a:ext cx="1188720" cy="201168"/>
          </a:xfrm>
          <a:prstGeom prst="rect">
            <a:avLst/>
          </a:prstGeom>
          <a:noFill/>
          <a:ln/>
        </p:spPr>
        <p:txBody>
          <a:bodyPr wrap="square" lIns="0" tIns="0" rIns="0" bIns="0" rtlCol="0" anchor="t"/>
          <a:lstStyle/>
          <a:p>
            <a:pPr marL="0" indent="0">
              <a:buNone/>
            </a:pPr>
            <a:r>
              <a:rPr lang="en-US" sz="1100" b="1" dirty="0">
                <a:solidFill>
                  <a:schemeClr val="accent1"/>
                </a:solidFill>
              </a:rPr>
              <a:t>Slide 18</a:t>
            </a:r>
            <a:endParaRPr lang="en-US" sz="1100" dirty="0"/>
          </a:p>
        </p:txBody>
      </p:sp>
      <p:sp>
        <p:nvSpPr>
          <p:cNvPr id="45" name="step Observe"/>
          <p:cNvSpPr/>
          <p:nvPr/>
        </p:nvSpPr>
        <p:spPr>
          <a:xfrm>
            <a:off x="6377940" y="2834640"/>
            <a:ext cx="1463040" cy="1508760"/>
          </a:xfrm>
          <a:prstGeom prst="roundRect">
            <a:avLst>
              <a:gd name="adj" fmla="val 5000"/>
            </a:avLst>
          </a:prstGeom>
          <a:solidFill>
            <a:schemeClr val="bg2"/>
          </a:solidFill>
          <a:ln/>
        </p:spPr>
      </p:sp>
      <p:sp>
        <p:nvSpPr>
          <p:cNvPr id="46" name="Text 43"/>
          <p:cNvSpPr txBox="1"/>
          <p:nvPr/>
        </p:nvSpPr>
        <p:spPr>
          <a:xfrm>
            <a:off x="6515100" y="2926080"/>
            <a:ext cx="457200" cy="411480"/>
          </a:xfrm>
          <a:prstGeom prst="rect">
            <a:avLst/>
          </a:prstGeom>
          <a:noFill/>
          <a:ln/>
        </p:spPr>
        <p:txBody>
          <a:bodyPr wrap="square" lIns="0" tIns="0" rIns="0" bIns="0" rtlCol="0" anchor="t"/>
          <a:lstStyle/>
          <a:p>
            <a:pPr marL="0" indent="0">
              <a:buNone/>
            </a:pPr>
            <a:r>
              <a:rPr lang="en-US" sz="2400" b="1" dirty="0">
                <a:solidFill>
                  <a:schemeClr val="accent2"/>
                </a:solidFill>
                <a:latin typeface="Cambria" pitchFamily="34" charset="0"/>
                <a:ea typeface="Cambria" pitchFamily="34" charset="-122"/>
                <a:cs typeface="Cambria" pitchFamily="34" charset="-120"/>
              </a:rPr>
              <a:t>9</a:t>
            </a:r>
            <a:endParaRPr lang="en-US" sz="2400" dirty="0"/>
          </a:p>
        </p:txBody>
      </p:sp>
      <p:sp>
        <p:nvSpPr>
          <p:cNvPr id="47" name="Text 44"/>
          <p:cNvSpPr txBox="1"/>
          <p:nvPr/>
        </p:nvSpPr>
        <p:spPr>
          <a:xfrm>
            <a:off x="6515100" y="3337560"/>
            <a:ext cx="1188720" cy="274320"/>
          </a:xfrm>
          <a:prstGeom prst="rect">
            <a:avLst/>
          </a:prstGeom>
          <a:noFill/>
          <a:ln/>
        </p:spPr>
        <p:txBody>
          <a:bodyPr wrap="square" lIns="0" tIns="0" rIns="0" bIns="0" rtlCol="0" anchor="t"/>
          <a:lstStyle/>
          <a:p>
            <a:pPr marL="0" indent="0">
              <a:buNone/>
            </a:pPr>
            <a:r>
              <a:rPr lang="en-US" sz="1600" b="1" dirty="0">
                <a:solidFill>
                  <a:schemeClr val="tx1"/>
                </a:solidFill>
              </a:rPr>
              <a:t>Observe</a:t>
            </a:r>
            <a:endParaRPr lang="en-US" sz="1600" dirty="0"/>
          </a:p>
        </p:txBody>
      </p:sp>
      <p:sp>
        <p:nvSpPr>
          <p:cNvPr id="48" name="Text 45"/>
          <p:cNvSpPr txBox="1"/>
          <p:nvPr/>
        </p:nvSpPr>
        <p:spPr>
          <a:xfrm>
            <a:off x="6515100" y="3621024"/>
            <a:ext cx="1188720" cy="411480"/>
          </a:xfrm>
          <a:prstGeom prst="rect">
            <a:avLst/>
          </a:prstGeom>
          <a:noFill/>
          <a:ln/>
        </p:spPr>
        <p:txBody>
          <a:bodyPr wrap="square" lIns="0" tIns="0" rIns="0" bIns="0" rtlCol="0" anchor="t"/>
          <a:lstStyle/>
          <a:p>
            <a:pPr marL="0" indent="0">
              <a:buNone/>
            </a:pPr>
            <a:r>
              <a:rPr lang="en-US" sz="1200" dirty="0">
                <a:solidFill>
                  <a:schemeClr val="tx2"/>
                </a:solidFill>
              </a:rPr>
              <a:t>HPA, Prometheus, Grafana</a:t>
            </a:r>
            <a:endParaRPr lang="en-US" sz="1200" dirty="0"/>
          </a:p>
        </p:txBody>
      </p:sp>
      <p:sp>
        <p:nvSpPr>
          <p:cNvPr id="49" name="Text 46"/>
          <p:cNvSpPr txBox="1"/>
          <p:nvPr/>
        </p:nvSpPr>
        <p:spPr>
          <a:xfrm>
            <a:off x="6515100" y="4078224"/>
            <a:ext cx="1188720" cy="201168"/>
          </a:xfrm>
          <a:prstGeom prst="rect">
            <a:avLst/>
          </a:prstGeom>
          <a:noFill/>
          <a:ln/>
        </p:spPr>
        <p:txBody>
          <a:bodyPr wrap="square" lIns="0" tIns="0" rIns="0" bIns="0" rtlCol="0" anchor="t"/>
          <a:lstStyle/>
          <a:p>
            <a:pPr marL="0" indent="0">
              <a:buNone/>
            </a:pPr>
            <a:r>
              <a:rPr lang="en-US" sz="1100" b="1" dirty="0">
                <a:solidFill>
                  <a:schemeClr val="accent1"/>
                </a:solidFill>
              </a:rPr>
              <a:t>Slide 20</a:t>
            </a:r>
            <a:endParaRPr lang="en-US" sz="1100" dirty="0"/>
          </a:p>
        </p:txBody>
      </p:sp>
      <p:sp>
        <p:nvSpPr>
          <p:cNvPr id="4"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182880"/>
            <a:ext cx="365760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BUILD</a:t>
            </a:r>
            <a:endParaRPr lang="en-US" sz="1000" dirty="0"/>
          </a:p>
        </p:txBody>
      </p:sp>
      <p:sp>
        <p:nvSpPr>
          <p:cNvPr id="3" name="Text 0"/>
          <p:cNvSpPr>
            <a:spLocks noGrp="1"/>
          </p:cNvSpPr>
          <p:nvPr>
            <p:ph type="title" idx="100" hasCustomPrompt="1"/>
          </p:nvPr>
        </p:nvSpPr>
        <p:spPr>
          <a:xfrm>
            <a:off x="457200" y="384048"/>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Architecture at a glance</a:t>
            </a:r>
            <a:endParaRPr lang="en-US" sz="2800" dirty="0"/>
          </a:p>
        </p:txBody>
      </p:sp>
      <p:sp>
        <p:nvSpPr>
          <p:cNvPr id="5" name="node Developer"/>
          <p:cNvSpPr/>
          <p:nvPr/>
        </p:nvSpPr>
        <p:spPr>
          <a:xfrm>
            <a:off x="457200" y="1234440"/>
            <a:ext cx="1645920" cy="685800"/>
          </a:xfrm>
          <a:prstGeom prst="roundRect">
            <a:avLst>
              <a:gd name="adj" fmla="val 10667"/>
            </a:avLst>
          </a:prstGeom>
          <a:solidFill>
            <a:schemeClr val="bg1"/>
          </a:solidFill>
          <a:ln w="12700">
            <a:solidFill>
              <a:schemeClr val="accent5"/>
            </a:solidFill>
            <a:prstDash val="solid"/>
          </a:ln>
        </p:spPr>
      </p:sp>
      <p:sp>
        <p:nvSpPr>
          <p:cNvPr id="6" name="Text 3"/>
          <p:cNvSpPr txBox="1"/>
          <p:nvPr/>
        </p:nvSpPr>
        <p:spPr>
          <a:xfrm>
            <a:off x="530352" y="1234440"/>
            <a:ext cx="1499616" cy="685800"/>
          </a:xfrm>
          <a:prstGeom prst="rect">
            <a:avLst/>
          </a:prstGeom>
          <a:noFill/>
          <a:ln/>
        </p:spPr>
        <p:txBody>
          <a:bodyPr wrap="square" lIns="0" tIns="0" rIns="0" bIns="0" rtlCol="0" anchor="ctr"/>
          <a:lstStyle/>
          <a:p>
            <a:pPr marL="0" indent="0" algn="ctr">
              <a:buNone/>
            </a:pPr>
            <a:r>
              <a:rPr lang="en-US" sz="1400" b="1" dirty="0">
                <a:solidFill>
                  <a:schemeClr val="tx1"/>
                </a:solidFill>
              </a:rPr>
              <a:t>Developer</a:t>
            </a:r>
            <a:endParaRPr lang="en-US" sz="1400" dirty="0"/>
          </a:p>
          <a:p>
            <a:pPr marL="0" indent="0" algn="ctr">
              <a:buNone/>
            </a:pPr>
            <a:r>
              <a:rPr lang="en-US" sz="1100" dirty="0">
                <a:solidFill>
                  <a:schemeClr val="tx2"/>
                </a:solidFill>
              </a:rPr>
              <a:t>git push</a:t>
            </a:r>
            <a:endParaRPr lang="en-US" sz="1400" dirty="0"/>
          </a:p>
        </p:txBody>
      </p:sp>
      <p:sp>
        <p:nvSpPr>
          <p:cNvPr id="7" name="node GitHub Actions"/>
          <p:cNvSpPr/>
          <p:nvPr/>
        </p:nvSpPr>
        <p:spPr>
          <a:xfrm>
            <a:off x="457200" y="2377440"/>
            <a:ext cx="1645920" cy="822960"/>
          </a:xfrm>
          <a:prstGeom prst="roundRect">
            <a:avLst>
              <a:gd name="adj" fmla="val 8889"/>
            </a:avLst>
          </a:prstGeom>
          <a:solidFill>
            <a:schemeClr val="bg1"/>
          </a:solidFill>
          <a:ln w="12700">
            <a:solidFill>
              <a:schemeClr val="accent5"/>
            </a:solidFill>
            <a:prstDash val="solid"/>
          </a:ln>
        </p:spPr>
      </p:sp>
      <p:sp>
        <p:nvSpPr>
          <p:cNvPr id="8" name="Text 5"/>
          <p:cNvSpPr txBox="1"/>
          <p:nvPr/>
        </p:nvSpPr>
        <p:spPr>
          <a:xfrm>
            <a:off x="530352" y="2377440"/>
            <a:ext cx="1499616" cy="822960"/>
          </a:xfrm>
          <a:prstGeom prst="rect">
            <a:avLst/>
          </a:prstGeom>
          <a:noFill/>
          <a:ln/>
        </p:spPr>
        <p:txBody>
          <a:bodyPr wrap="square" lIns="0" tIns="0" rIns="0" bIns="0" rtlCol="0" anchor="ctr"/>
          <a:lstStyle/>
          <a:p>
            <a:pPr marL="0" indent="0" algn="ctr">
              <a:buNone/>
            </a:pPr>
            <a:r>
              <a:rPr lang="en-US" sz="1400" b="1" dirty="0">
                <a:solidFill>
                  <a:schemeClr val="tx1"/>
                </a:solidFill>
              </a:rPr>
              <a:t>GitHub Actions</a:t>
            </a:r>
            <a:endParaRPr lang="en-US" sz="1400" dirty="0"/>
          </a:p>
          <a:p>
            <a:pPr marL="0" indent="0" algn="ctr">
              <a:buNone/>
            </a:pPr>
            <a:r>
              <a:rPr lang="en-US" sz="1100" dirty="0">
                <a:solidFill>
                  <a:schemeClr val="tx2"/>
                </a:solidFill>
              </a:rPr>
              <a:t>test, build, scan</a:t>
            </a:r>
            <a:endParaRPr lang="en-US" sz="1400" dirty="0"/>
          </a:p>
        </p:txBody>
      </p:sp>
      <p:sp>
        <p:nvSpPr>
          <p:cNvPr id="9" name="node GHCR"/>
          <p:cNvSpPr/>
          <p:nvPr/>
        </p:nvSpPr>
        <p:spPr>
          <a:xfrm>
            <a:off x="457200" y="3657600"/>
            <a:ext cx="1645920" cy="685800"/>
          </a:xfrm>
          <a:prstGeom prst="roundRect">
            <a:avLst>
              <a:gd name="adj" fmla="val 10667"/>
            </a:avLst>
          </a:prstGeom>
          <a:solidFill>
            <a:schemeClr val="bg1"/>
          </a:solidFill>
          <a:ln w="12700">
            <a:solidFill>
              <a:schemeClr val="accent5"/>
            </a:solidFill>
            <a:prstDash val="solid"/>
          </a:ln>
        </p:spPr>
      </p:sp>
      <p:sp>
        <p:nvSpPr>
          <p:cNvPr id="10" name="Text 7"/>
          <p:cNvSpPr txBox="1"/>
          <p:nvPr/>
        </p:nvSpPr>
        <p:spPr>
          <a:xfrm>
            <a:off x="530352" y="3657600"/>
            <a:ext cx="1499616" cy="685800"/>
          </a:xfrm>
          <a:prstGeom prst="rect">
            <a:avLst/>
          </a:prstGeom>
          <a:noFill/>
          <a:ln/>
        </p:spPr>
        <p:txBody>
          <a:bodyPr wrap="square" lIns="0" tIns="0" rIns="0" bIns="0" rtlCol="0" anchor="ctr"/>
          <a:lstStyle/>
          <a:p>
            <a:pPr marL="0" indent="0" algn="ctr">
              <a:buNone/>
            </a:pPr>
            <a:r>
              <a:rPr lang="en-US" sz="1400" b="1" dirty="0">
                <a:solidFill>
                  <a:schemeClr val="tx1"/>
                </a:solidFill>
              </a:rPr>
              <a:t>GHCR</a:t>
            </a:r>
            <a:endParaRPr lang="en-US" sz="1400" dirty="0"/>
          </a:p>
          <a:p>
            <a:pPr marL="0" indent="0" algn="ctr">
              <a:buNone/>
            </a:pPr>
            <a:r>
              <a:rPr lang="en-US" sz="1100" dirty="0">
                <a:solidFill>
                  <a:schemeClr val="tx2"/>
                </a:solidFill>
              </a:rPr>
              <a:t>images by SHA</a:t>
            </a:r>
            <a:endParaRPr lang="en-US" sz="1400" dirty="0"/>
          </a:p>
        </p:txBody>
      </p:sp>
      <p:sp>
        <p:nvSpPr>
          <p:cNvPr id="11" name="arrow"/>
          <p:cNvSpPr/>
          <p:nvPr/>
        </p:nvSpPr>
        <p:spPr>
          <a:xfrm>
            <a:off x="1280160" y="1920240"/>
            <a:ext cx="0" cy="457200"/>
          </a:xfrm>
          <a:prstGeom prst="line">
            <a:avLst/>
          </a:prstGeom>
          <a:noFill/>
          <a:ln w="19050">
            <a:solidFill>
              <a:schemeClr val="tx2"/>
            </a:solidFill>
            <a:prstDash val="solid"/>
            <a:tailEnd type="triangle"/>
          </a:ln>
        </p:spPr>
      </p:sp>
      <p:sp>
        <p:nvSpPr>
          <p:cNvPr id="12" name="arrow"/>
          <p:cNvSpPr/>
          <p:nvPr/>
        </p:nvSpPr>
        <p:spPr>
          <a:xfrm>
            <a:off x="1280160" y="3200400"/>
            <a:ext cx="0" cy="457200"/>
          </a:xfrm>
          <a:prstGeom prst="line">
            <a:avLst/>
          </a:prstGeom>
          <a:noFill/>
          <a:ln w="19050">
            <a:solidFill>
              <a:schemeClr val="tx2"/>
            </a:solidFill>
            <a:prstDash val="solid"/>
            <a:tailEnd type="triangle"/>
          </a:ln>
        </p:spPr>
      </p:sp>
      <p:sp>
        <p:nvSpPr>
          <p:cNvPr id="13" name="AWS region box"/>
          <p:cNvSpPr/>
          <p:nvPr/>
        </p:nvSpPr>
        <p:spPr>
          <a:xfrm>
            <a:off x="2651760" y="1188720"/>
            <a:ext cx="6035040" cy="3429000"/>
          </a:xfrm>
          <a:prstGeom prst="roundRect">
            <a:avLst>
              <a:gd name="adj" fmla="val 2667"/>
            </a:avLst>
          </a:prstGeom>
          <a:solidFill>
            <a:schemeClr val="bg2"/>
          </a:solidFill>
          <a:ln/>
        </p:spPr>
      </p:sp>
      <p:sp>
        <p:nvSpPr>
          <p:cNvPr id="14" name="Text 11"/>
          <p:cNvSpPr txBox="1"/>
          <p:nvPr/>
        </p:nvSpPr>
        <p:spPr>
          <a:xfrm>
            <a:off x="2834640" y="1298448"/>
            <a:ext cx="5669280" cy="274320"/>
          </a:xfrm>
          <a:prstGeom prst="rect">
            <a:avLst/>
          </a:prstGeom>
          <a:noFill/>
          <a:ln/>
        </p:spPr>
        <p:txBody>
          <a:bodyPr wrap="square" lIns="0" tIns="0" rIns="0" bIns="0" rtlCol="0" anchor="t"/>
          <a:lstStyle/>
          <a:p>
            <a:pPr marL="0" indent="0">
              <a:buNone/>
            </a:pPr>
            <a:r>
              <a:rPr lang="en-US" sz="1200" b="1" dirty="0">
                <a:solidFill>
                  <a:schemeClr val="accent1"/>
                </a:solidFill>
              </a:rPr>
              <a:t>AWS ap-south-1  ·  VPC and EKS, built with Terraform</a:t>
            </a:r>
            <a:endParaRPr lang="en-US" sz="1200" dirty="0"/>
          </a:p>
        </p:txBody>
      </p:sp>
      <p:sp>
        <p:nvSpPr>
          <p:cNvPr id="15" name="node Ingress"/>
          <p:cNvSpPr/>
          <p:nvPr/>
        </p:nvSpPr>
        <p:spPr>
          <a:xfrm>
            <a:off x="2834640" y="1828800"/>
            <a:ext cx="1234440" cy="914400"/>
          </a:xfrm>
          <a:prstGeom prst="roundRect">
            <a:avLst>
              <a:gd name="adj" fmla="val 8000"/>
            </a:avLst>
          </a:prstGeom>
          <a:solidFill>
            <a:schemeClr val="accent1"/>
          </a:solidFill>
          <a:ln w="12700">
            <a:solidFill>
              <a:schemeClr val="accent1"/>
            </a:solidFill>
            <a:prstDash val="solid"/>
          </a:ln>
        </p:spPr>
      </p:sp>
      <p:sp>
        <p:nvSpPr>
          <p:cNvPr id="16" name="Text 13"/>
          <p:cNvSpPr txBox="1"/>
          <p:nvPr/>
        </p:nvSpPr>
        <p:spPr>
          <a:xfrm>
            <a:off x="2907792" y="1828800"/>
            <a:ext cx="1088136" cy="914400"/>
          </a:xfrm>
          <a:prstGeom prst="rect">
            <a:avLst/>
          </a:prstGeom>
          <a:noFill/>
          <a:ln/>
        </p:spPr>
        <p:txBody>
          <a:bodyPr wrap="square" lIns="0" tIns="0" rIns="0" bIns="0" rtlCol="0" anchor="ctr"/>
          <a:lstStyle/>
          <a:p>
            <a:pPr marL="0" indent="0" algn="ctr">
              <a:buNone/>
            </a:pPr>
            <a:r>
              <a:rPr lang="en-US" sz="1400" b="1" dirty="0">
                <a:solidFill>
                  <a:schemeClr val="bg1"/>
                </a:solidFill>
              </a:rPr>
              <a:t>Ingress</a:t>
            </a:r>
            <a:endParaRPr lang="en-US" sz="1400" dirty="0"/>
          </a:p>
          <a:p>
            <a:pPr marL="0" indent="0" algn="ctr">
              <a:buNone/>
            </a:pPr>
            <a:r>
              <a:rPr lang="en-US" sz="1100" dirty="0">
                <a:solidFill>
                  <a:schemeClr val="bg1"/>
                </a:solidFill>
              </a:rPr>
              <a:t>NGINX</a:t>
            </a:r>
            <a:endParaRPr lang="en-US" sz="1400" dirty="0"/>
          </a:p>
        </p:txBody>
      </p:sp>
      <p:sp>
        <p:nvSpPr>
          <p:cNvPr id="17" name="node Frontend"/>
          <p:cNvSpPr/>
          <p:nvPr/>
        </p:nvSpPr>
        <p:spPr>
          <a:xfrm>
            <a:off x="4343400" y="1828800"/>
            <a:ext cx="1234440" cy="914400"/>
          </a:xfrm>
          <a:prstGeom prst="roundRect">
            <a:avLst>
              <a:gd name="adj" fmla="val 8000"/>
            </a:avLst>
          </a:prstGeom>
          <a:solidFill>
            <a:schemeClr val="bg1"/>
          </a:solidFill>
          <a:ln w="12700">
            <a:solidFill>
              <a:schemeClr val="accent5"/>
            </a:solidFill>
            <a:prstDash val="solid"/>
          </a:ln>
        </p:spPr>
      </p:sp>
      <p:sp>
        <p:nvSpPr>
          <p:cNvPr id="18" name="Text 15"/>
          <p:cNvSpPr txBox="1"/>
          <p:nvPr/>
        </p:nvSpPr>
        <p:spPr>
          <a:xfrm>
            <a:off x="4416552" y="1828800"/>
            <a:ext cx="1088136" cy="914400"/>
          </a:xfrm>
          <a:prstGeom prst="rect">
            <a:avLst/>
          </a:prstGeom>
          <a:noFill/>
          <a:ln/>
        </p:spPr>
        <p:txBody>
          <a:bodyPr wrap="square" lIns="0" tIns="0" rIns="0" bIns="0" rtlCol="0" anchor="ctr"/>
          <a:lstStyle/>
          <a:p>
            <a:pPr marL="0" indent="0" algn="ctr">
              <a:buNone/>
            </a:pPr>
            <a:r>
              <a:rPr lang="en-US" sz="1400" b="1" dirty="0">
                <a:solidFill>
                  <a:schemeClr val="tx1"/>
                </a:solidFill>
              </a:rPr>
              <a:t>Frontend</a:t>
            </a:r>
            <a:endParaRPr lang="en-US" sz="1400" dirty="0"/>
          </a:p>
          <a:p>
            <a:pPr marL="0" indent="0" algn="ctr">
              <a:buNone/>
            </a:pPr>
            <a:r>
              <a:rPr lang="en-US" sz="1100" dirty="0">
                <a:solidFill>
                  <a:schemeClr val="tx2"/>
                </a:solidFill>
              </a:rPr>
              <a:t>React, nginx x2</a:t>
            </a:r>
            <a:endParaRPr lang="en-US" sz="1400" dirty="0"/>
          </a:p>
        </p:txBody>
      </p:sp>
      <p:sp>
        <p:nvSpPr>
          <p:cNvPr id="19" name="node Backend"/>
          <p:cNvSpPr/>
          <p:nvPr/>
        </p:nvSpPr>
        <p:spPr>
          <a:xfrm>
            <a:off x="5852160" y="1828800"/>
            <a:ext cx="1234440" cy="914400"/>
          </a:xfrm>
          <a:prstGeom prst="roundRect">
            <a:avLst>
              <a:gd name="adj" fmla="val 8000"/>
            </a:avLst>
          </a:prstGeom>
          <a:solidFill>
            <a:schemeClr val="bg1"/>
          </a:solidFill>
          <a:ln w="12700">
            <a:solidFill>
              <a:schemeClr val="accent5"/>
            </a:solidFill>
            <a:prstDash val="solid"/>
          </a:ln>
        </p:spPr>
      </p:sp>
      <p:sp>
        <p:nvSpPr>
          <p:cNvPr id="20" name="Text 17"/>
          <p:cNvSpPr txBox="1"/>
          <p:nvPr/>
        </p:nvSpPr>
        <p:spPr>
          <a:xfrm>
            <a:off x="5925312" y="1828800"/>
            <a:ext cx="1088136" cy="914400"/>
          </a:xfrm>
          <a:prstGeom prst="rect">
            <a:avLst/>
          </a:prstGeom>
          <a:noFill/>
          <a:ln/>
        </p:spPr>
        <p:txBody>
          <a:bodyPr wrap="square" lIns="0" tIns="0" rIns="0" bIns="0" rtlCol="0" anchor="ctr"/>
          <a:lstStyle/>
          <a:p>
            <a:pPr marL="0" indent="0" algn="ctr">
              <a:buNone/>
            </a:pPr>
            <a:r>
              <a:rPr lang="en-US" sz="1400" b="1" dirty="0">
                <a:solidFill>
                  <a:schemeClr val="tx1"/>
                </a:solidFill>
              </a:rPr>
              <a:t>Backend</a:t>
            </a:r>
            <a:endParaRPr lang="en-US" sz="1400" dirty="0"/>
          </a:p>
          <a:p>
            <a:pPr marL="0" indent="0" algn="ctr">
              <a:buNone/>
            </a:pPr>
            <a:r>
              <a:rPr lang="en-US" sz="1100" dirty="0">
                <a:solidFill>
                  <a:schemeClr val="tx2"/>
                </a:solidFill>
              </a:rPr>
              <a:t>FastAPI x2</a:t>
            </a:r>
            <a:endParaRPr lang="en-US" sz="1400" dirty="0"/>
          </a:p>
        </p:txBody>
      </p:sp>
      <p:sp>
        <p:nvSpPr>
          <p:cNvPr id="21" name="node PostgreSQL"/>
          <p:cNvSpPr/>
          <p:nvPr/>
        </p:nvSpPr>
        <p:spPr>
          <a:xfrm>
            <a:off x="7360920" y="1828800"/>
            <a:ext cx="1188720" cy="914400"/>
          </a:xfrm>
          <a:prstGeom prst="roundRect">
            <a:avLst>
              <a:gd name="adj" fmla="val 8000"/>
            </a:avLst>
          </a:prstGeom>
          <a:solidFill>
            <a:schemeClr val="bg1"/>
          </a:solidFill>
          <a:ln w="12700">
            <a:solidFill>
              <a:schemeClr val="accent5"/>
            </a:solidFill>
            <a:prstDash val="solid"/>
          </a:ln>
        </p:spPr>
      </p:sp>
      <p:sp>
        <p:nvSpPr>
          <p:cNvPr id="22" name="Text 19"/>
          <p:cNvSpPr txBox="1"/>
          <p:nvPr/>
        </p:nvSpPr>
        <p:spPr>
          <a:xfrm>
            <a:off x="7434072" y="1828800"/>
            <a:ext cx="1042416" cy="914400"/>
          </a:xfrm>
          <a:prstGeom prst="rect">
            <a:avLst/>
          </a:prstGeom>
          <a:noFill/>
          <a:ln/>
        </p:spPr>
        <p:txBody>
          <a:bodyPr wrap="square" lIns="0" tIns="0" rIns="0" bIns="0" rtlCol="0" anchor="ctr"/>
          <a:lstStyle/>
          <a:p>
            <a:pPr marL="0" indent="0" algn="ctr">
              <a:buNone/>
            </a:pPr>
            <a:r>
              <a:rPr lang="en-US" sz="1400" b="1" dirty="0">
                <a:solidFill>
                  <a:schemeClr val="tx1"/>
                </a:solidFill>
              </a:rPr>
              <a:t>PostgreSQL</a:t>
            </a:r>
            <a:endParaRPr lang="en-US" sz="1400" dirty="0"/>
          </a:p>
          <a:p>
            <a:pPr marL="0" indent="0" algn="ctr">
              <a:buNone/>
            </a:pPr>
            <a:r>
              <a:rPr lang="en-US" sz="1100" dirty="0">
                <a:solidFill>
                  <a:schemeClr val="tx2"/>
                </a:solidFill>
              </a:rPr>
              <a:t>StatefulSet, PVC</a:t>
            </a:r>
            <a:endParaRPr lang="en-US" sz="1400" dirty="0"/>
          </a:p>
        </p:txBody>
      </p:sp>
      <p:sp>
        <p:nvSpPr>
          <p:cNvPr id="23" name="arrow"/>
          <p:cNvSpPr/>
          <p:nvPr/>
        </p:nvSpPr>
        <p:spPr>
          <a:xfrm>
            <a:off x="4069080" y="2286000"/>
            <a:ext cx="274320" cy="0"/>
          </a:xfrm>
          <a:prstGeom prst="line">
            <a:avLst/>
          </a:prstGeom>
          <a:noFill/>
          <a:ln w="19050">
            <a:solidFill>
              <a:schemeClr val="tx2"/>
            </a:solidFill>
            <a:prstDash val="solid"/>
            <a:tailEnd type="triangle"/>
          </a:ln>
        </p:spPr>
      </p:sp>
      <p:sp>
        <p:nvSpPr>
          <p:cNvPr id="24" name="arrow"/>
          <p:cNvSpPr/>
          <p:nvPr/>
        </p:nvSpPr>
        <p:spPr>
          <a:xfrm>
            <a:off x="5577840" y="2286000"/>
            <a:ext cx="274320" cy="0"/>
          </a:xfrm>
          <a:prstGeom prst="line">
            <a:avLst/>
          </a:prstGeom>
          <a:noFill/>
          <a:ln w="19050">
            <a:solidFill>
              <a:schemeClr val="tx2"/>
            </a:solidFill>
            <a:prstDash val="solid"/>
            <a:tailEnd type="triangle"/>
          </a:ln>
        </p:spPr>
      </p:sp>
      <p:sp>
        <p:nvSpPr>
          <p:cNvPr id="25" name="arrow"/>
          <p:cNvSpPr/>
          <p:nvPr/>
        </p:nvSpPr>
        <p:spPr>
          <a:xfrm>
            <a:off x="7086600" y="2286000"/>
            <a:ext cx="274320" cy="0"/>
          </a:xfrm>
          <a:prstGeom prst="line">
            <a:avLst/>
          </a:prstGeom>
          <a:noFill/>
          <a:ln w="19050">
            <a:solidFill>
              <a:schemeClr val="tx2"/>
            </a:solidFill>
            <a:prstDash val="solid"/>
            <a:tailEnd type="triangle"/>
          </a:ln>
        </p:spPr>
      </p:sp>
      <p:sp>
        <p:nvSpPr>
          <p:cNvPr id="26" name="Text 23"/>
          <p:cNvSpPr txBox="1"/>
          <p:nvPr/>
        </p:nvSpPr>
        <p:spPr>
          <a:xfrm>
            <a:off x="2834640" y="3383280"/>
            <a:ext cx="2743200" cy="640080"/>
          </a:xfrm>
          <a:prstGeom prst="rect">
            <a:avLst/>
          </a:prstGeom>
          <a:noFill/>
          <a:ln/>
        </p:spPr>
        <p:txBody>
          <a:bodyPr wrap="square" lIns="0" tIns="0" rIns="0" bIns="0" rtlCol="0" anchor="t"/>
          <a:lstStyle/>
          <a:p>
            <a:pPr marL="0" indent="0">
              <a:buNone/>
            </a:pPr>
            <a:r>
              <a:rPr lang="en-US" sz="1200" dirty="0">
                <a:solidFill>
                  <a:schemeClr val="tx2"/>
                </a:solidFill>
              </a:rPr>
              <a:t>An HPA scales the backend from 2 to 5 pods on CPU load.</a:t>
            </a:r>
            <a:endParaRPr lang="en-US" sz="1200" dirty="0"/>
          </a:p>
        </p:txBody>
      </p:sp>
      <p:sp>
        <p:nvSpPr>
          <p:cNvPr id="27" name="node Prometheus"/>
          <p:cNvSpPr/>
          <p:nvPr/>
        </p:nvSpPr>
        <p:spPr>
          <a:xfrm>
            <a:off x="5852160" y="3246120"/>
            <a:ext cx="1234440" cy="868680"/>
          </a:xfrm>
          <a:prstGeom prst="roundRect">
            <a:avLst>
              <a:gd name="adj" fmla="val 8421"/>
            </a:avLst>
          </a:prstGeom>
          <a:solidFill>
            <a:schemeClr val="bg1"/>
          </a:solidFill>
          <a:ln w="12700">
            <a:solidFill>
              <a:schemeClr val="accent5"/>
            </a:solidFill>
            <a:prstDash val="solid"/>
          </a:ln>
        </p:spPr>
      </p:sp>
      <p:sp>
        <p:nvSpPr>
          <p:cNvPr id="28" name="Text 25"/>
          <p:cNvSpPr txBox="1"/>
          <p:nvPr/>
        </p:nvSpPr>
        <p:spPr>
          <a:xfrm>
            <a:off x="5925312" y="3246120"/>
            <a:ext cx="1088136" cy="868680"/>
          </a:xfrm>
          <a:prstGeom prst="rect">
            <a:avLst/>
          </a:prstGeom>
          <a:noFill/>
          <a:ln/>
        </p:spPr>
        <p:txBody>
          <a:bodyPr wrap="square" lIns="0" tIns="0" rIns="0" bIns="0" rtlCol="0" anchor="ctr"/>
          <a:lstStyle/>
          <a:p>
            <a:pPr marL="0" indent="0" algn="ctr">
              <a:buNone/>
            </a:pPr>
            <a:r>
              <a:rPr lang="en-US" sz="1400" b="1" dirty="0">
                <a:solidFill>
                  <a:schemeClr val="tx1"/>
                </a:solidFill>
              </a:rPr>
              <a:t>Prometheus</a:t>
            </a:r>
            <a:endParaRPr lang="en-US" sz="1400" dirty="0"/>
          </a:p>
          <a:p>
            <a:pPr marL="0" indent="0" algn="ctr">
              <a:buNone/>
            </a:pPr>
            <a:r>
              <a:rPr lang="en-US" sz="1100" dirty="0">
                <a:solidFill>
                  <a:schemeClr val="tx2"/>
                </a:solidFill>
              </a:rPr>
              <a:t>scrapes /metrics</a:t>
            </a:r>
            <a:endParaRPr lang="en-US" sz="1400" dirty="0"/>
          </a:p>
        </p:txBody>
      </p:sp>
      <p:sp>
        <p:nvSpPr>
          <p:cNvPr id="29" name="node Grafana"/>
          <p:cNvSpPr/>
          <p:nvPr/>
        </p:nvSpPr>
        <p:spPr>
          <a:xfrm>
            <a:off x="7360920" y="3246120"/>
            <a:ext cx="1188720" cy="868680"/>
          </a:xfrm>
          <a:prstGeom prst="roundRect">
            <a:avLst>
              <a:gd name="adj" fmla="val 8421"/>
            </a:avLst>
          </a:prstGeom>
          <a:solidFill>
            <a:schemeClr val="bg1"/>
          </a:solidFill>
          <a:ln w="12700">
            <a:solidFill>
              <a:schemeClr val="accent5"/>
            </a:solidFill>
            <a:prstDash val="solid"/>
          </a:ln>
        </p:spPr>
      </p:sp>
      <p:sp>
        <p:nvSpPr>
          <p:cNvPr id="30" name="Text 27"/>
          <p:cNvSpPr txBox="1"/>
          <p:nvPr/>
        </p:nvSpPr>
        <p:spPr>
          <a:xfrm>
            <a:off x="7434072" y="3246120"/>
            <a:ext cx="1042416" cy="868680"/>
          </a:xfrm>
          <a:prstGeom prst="rect">
            <a:avLst/>
          </a:prstGeom>
          <a:noFill/>
          <a:ln/>
        </p:spPr>
        <p:txBody>
          <a:bodyPr wrap="square" lIns="0" tIns="0" rIns="0" bIns="0" rtlCol="0" anchor="ctr"/>
          <a:lstStyle/>
          <a:p>
            <a:pPr marL="0" indent="0" algn="ctr">
              <a:buNone/>
            </a:pPr>
            <a:r>
              <a:rPr lang="en-US" sz="1400" b="1" dirty="0">
                <a:solidFill>
                  <a:schemeClr val="tx1"/>
                </a:solidFill>
              </a:rPr>
              <a:t>Grafana</a:t>
            </a:r>
            <a:endParaRPr lang="en-US" sz="1400" dirty="0"/>
          </a:p>
          <a:p>
            <a:pPr marL="0" indent="0" algn="ctr">
              <a:buNone/>
            </a:pPr>
            <a:r>
              <a:rPr lang="en-US" sz="1100" dirty="0">
                <a:solidFill>
                  <a:schemeClr val="tx2"/>
                </a:solidFill>
              </a:rPr>
              <a:t>dashboards</a:t>
            </a:r>
            <a:endParaRPr lang="en-US" sz="1400" dirty="0"/>
          </a:p>
        </p:txBody>
      </p:sp>
      <p:sp>
        <p:nvSpPr>
          <p:cNvPr id="31" name="arrow"/>
          <p:cNvSpPr/>
          <p:nvPr/>
        </p:nvSpPr>
        <p:spPr>
          <a:xfrm flipV="1">
            <a:off x="6464808" y="2743200"/>
            <a:ext cx="0" cy="502920"/>
          </a:xfrm>
          <a:prstGeom prst="line">
            <a:avLst/>
          </a:prstGeom>
          <a:noFill/>
          <a:ln w="19050">
            <a:solidFill>
              <a:schemeClr val="tx2"/>
            </a:solidFill>
            <a:prstDash val="solid"/>
            <a:tailEnd type="triangle"/>
          </a:ln>
        </p:spPr>
      </p:sp>
      <p:sp>
        <p:nvSpPr>
          <p:cNvPr id="32" name="arrow"/>
          <p:cNvSpPr/>
          <p:nvPr/>
        </p:nvSpPr>
        <p:spPr>
          <a:xfrm>
            <a:off x="7086600" y="3675888"/>
            <a:ext cx="274320" cy="0"/>
          </a:xfrm>
          <a:prstGeom prst="line">
            <a:avLst/>
          </a:prstGeom>
          <a:noFill/>
          <a:ln w="19050">
            <a:solidFill>
              <a:schemeClr val="tx2"/>
            </a:solidFill>
            <a:prstDash val="solid"/>
            <a:tailEnd type="triangle"/>
          </a:ln>
        </p:spPr>
      </p:sp>
      <p:sp>
        <p:nvSpPr>
          <p:cNvPr id="33" name="arrow"/>
          <p:cNvSpPr/>
          <p:nvPr/>
        </p:nvSpPr>
        <p:spPr>
          <a:xfrm>
            <a:off x="2103120" y="2788920"/>
            <a:ext cx="548640" cy="0"/>
          </a:xfrm>
          <a:prstGeom prst="line">
            <a:avLst/>
          </a:prstGeom>
          <a:noFill/>
          <a:ln w="19050">
            <a:solidFill>
              <a:schemeClr val="tx2"/>
            </a:solidFill>
            <a:prstDash val="solid"/>
            <a:tailEnd type="triangle"/>
          </a:ln>
        </p:spPr>
      </p:sp>
      <p:sp>
        <p:nvSpPr>
          <p:cNvPr id="34" name="arrow"/>
          <p:cNvSpPr/>
          <p:nvPr/>
        </p:nvSpPr>
        <p:spPr>
          <a:xfrm>
            <a:off x="2103120" y="4005072"/>
            <a:ext cx="548640" cy="0"/>
          </a:xfrm>
          <a:prstGeom prst="line">
            <a:avLst/>
          </a:prstGeom>
          <a:noFill/>
          <a:ln w="19050">
            <a:solidFill>
              <a:schemeClr val="tx2"/>
            </a:solidFill>
            <a:prstDash val="solid"/>
            <a:tailEnd type="triangle"/>
          </a:ln>
        </p:spPr>
      </p:sp>
      <p:sp>
        <p:nvSpPr>
          <p:cNvPr id="35" name="Text 32"/>
          <p:cNvSpPr txBox="1"/>
          <p:nvPr/>
        </p:nvSpPr>
        <p:spPr>
          <a:xfrm>
            <a:off x="2194560" y="2560320"/>
            <a:ext cx="411480" cy="182880"/>
          </a:xfrm>
          <a:prstGeom prst="rect">
            <a:avLst/>
          </a:prstGeom>
          <a:noFill/>
          <a:ln/>
        </p:spPr>
        <p:txBody>
          <a:bodyPr wrap="square" lIns="0" tIns="0" rIns="0" bIns="0" rtlCol="0" anchor="t"/>
          <a:lstStyle/>
          <a:p>
            <a:pPr marL="0" indent="0">
              <a:buNone/>
            </a:pPr>
            <a:r>
              <a:rPr lang="en-US" sz="900" dirty="0">
                <a:solidFill>
                  <a:schemeClr val="tx2"/>
                </a:solidFill>
              </a:rPr>
              <a:t>helm</a:t>
            </a:r>
            <a:endParaRPr lang="en-US" sz="900" dirty="0"/>
          </a:p>
        </p:txBody>
      </p:sp>
      <p:sp>
        <p:nvSpPr>
          <p:cNvPr id="36" name="Text 33"/>
          <p:cNvSpPr txBox="1"/>
          <p:nvPr/>
        </p:nvSpPr>
        <p:spPr>
          <a:xfrm>
            <a:off x="2194560" y="3803904"/>
            <a:ext cx="457200" cy="182880"/>
          </a:xfrm>
          <a:prstGeom prst="rect">
            <a:avLst/>
          </a:prstGeom>
          <a:noFill/>
          <a:ln/>
        </p:spPr>
        <p:txBody>
          <a:bodyPr wrap="square" lIns="0" tIns="0" rIns="0" bIns="0" rtlCol="0" anchor="t"/>
          <a:lstStyle/>
          <a:p>
            <a:pPr marL="0" indent="0">
              <a:buNone/>
            </a:pPr>
            <a:r>
              <a:rPr lang="en-US" sz="900" dirty="0">
                <a:solidFill>
                  <a:schemeClr val="tx2"/>
                </a:solidFill>
              </a:rPr>
              <a:t>pull</a:t>
            </a:r>
            <a:endParaRPr lang="en-US" sz="900" dirty="0"/>
          </a:p>
        </p:txBody>
      </p:sp>
      <p:sp>
        <p:nvSpPr>
          <p:cNvPr id="4"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182880"/>
            <a:ext cx="365760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BUILD</a:t>
            </a:r>
            <a:endParaRPr lang="en-US" sz="1000" dirty="0"/>
          </a:p>
        </p:txBody>
      </p:sp>
      <p:sp>
        <p:nvSpPr>
          <p:cNvPr id="3" name="Text 0"/>
          <p:cNvSpPr>
            <a:spLocks noGrp="1"/>
          </p:cNvSpPr>
          <p:nvPr>
            <p:ph type="title" idx="100" hasCustomPrompt="1"/>
          </p:nvPr>
        </p:nvSpPr>
        <p:spPr>
          <a:xfrm>
            <a:off x="457200" y="384048"/>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A tested API: 24 tests on every push</a:t>
            </a:r>
            <a:endParaRPr lang="en-US" sz="2800" dirty="0"/>
          </a:p>
        </p:txBody>
      </p:sp>
      <p:sp>
        <p:nvSpPr>
          <p:cNvPr id="5" name="Text 2"/>
          <p:cNvSpPr txBox="1"/>
          <p:nvPr/>
        </p:nvSpPr>
        <p:spPr>
          <a:xfrm>
            <a:off x="457200" y="1097280"/>
            <a:ext cx="1188720" cy="731520"/>
          </a:xfrm>
          <a:prstGeom prst="rect">
            <a:avLst/>
          </a:prstGeom>
          <a:noFill/>
          <a:ln/>
        </p:spPr>
        <p:txBody>
          <a:bodyPr wrap="square" lIns="0" tIns="0" rIns="0" bIns="0" rtlCol="0" anchor="t"/>
          <a:lstStyle/>
          <a:p>
            <a:pPr marL="0" indent="0">
              <a:buNone/>
            </a:pPr>
            <a:r>
              <a:rPr lang="en-US" sz="5400" b="1" dirty="0">
                <a:solidFill>
                  <a:schemeClr val="accent2"/>
                </a:solidFill>
                <a:latin typeface="Cambria" pitchFamily="34" charset="0"/>
                <a:ea typeface="Cambria" pitchFamily="34" charset="-122"/>
                <a:cs typeface="Cambria" pitchFamily="34" charset="-120"/>
              </a:rPr>
              <a:t>24</a:t>
            </a:r>
            <a:endParaRPr lang="en-US" sz="5400" dirty="0"/>
          </a:p>
        </p:txBody>
      </p:sp>
      <p:sp>
        <p:nvSpPr>
          <p:cNvPr id="6" name="Text 3"/>
          <p:cNvSpPr txBox="1"/>
          <p:nvPr/>
        </p:nvSpPr>
        <p:spPr>
          <a:xfrm>
            <a:off x="1737360" y="1188720"/>
            <a:ext cx="2286000" cy="822960"/>
          </a:xfrm>
          <a:prstGeom prst="rect">
            <a:avLst/>
          </a:prstGeom>
          <a:noFill/>
          <a:ln/>
        </p:spPr>
        <p:txBody>
          <a:bodyPr wrap="square" lIns="0" tIns="0" rIns="0" bIns="0" rtlCol="0" anchor="t"/>
          <a:lstStyle/>
          <a:p>
            <a:pPr marL="0" indent="0">
              <a:buNone/>
            </a:pPr>
            <a:r>
              <a:rPr lang="en-US" sz="1400" dirty="0">
                <a:solidFill>
                  <a:schemeClr val="tx1"/>
                </a:solidFill>
              </a:rPr>
              <a:t>pytest tests, run on every push. FastAPI, SQLAlchemy 2, Alembic with 2 migrations.</a:t>
            </a:r>
            <a:endParaRPr lang="en-US" sz="1400" dirty="0"/>
          </a:p>
        </p:txBody>
      </p:sp>
      <p:sp>
        <p:nvSpPr>
          <p:cNvPr id="7" name="code card"/>
          <p:cNvSpPr/>
          <p:nvPr/>
        </p:nvSpPr>
        <p:spPr>
          <a:xfrm>
            <a:off x="4297680" y="1097280"/>
            <a:ext cx="4389120" cy="1051560"/>
          </a:xfrm>
          <a:prstGeom prst="roundRect">
            <a:avLst>
              <a:gd name="adj" fmla="val 5217"/>
            </a:avLst>
          </a:prstGeom>
          <a:solidFill>
            <a:schemeClr val="tx1"/>
          </a:solidFill>
          <a:ln/>
        </p:spPr>
      </p:sp>
      <p:sp>
        <p:nvSpPr>
          <p:cNvPr id="8" name="Text 5"/>
          <p:cNvSpPr txBox="1"/>
          <p:nvPr/>
        </p:nvSpPr>
        <p:spPr>
          <a:xfrm>
            <a:off x="4434840" y="1188720"/>
            <a:ext cx="4114800" cy="868680"/>
          </a:xfrm>
          <a:prstGeom prst="rect">
            <a:avLst/>
          </a:prstGeom>
          <a:noFill/>
          <a:ln/>
        </p:spPr>
        <p:txBody>
          <a:bodyPr wrap="square" lIns="0" tIns="0" rIns="0" bIns="0" rtlCol="0" anchor="t"/>
          <a:lstStyle/>
          <a:p>
            <a:pPr marL="0" indent="0">
              <a:spcAft>
                <a:spcPts val="300"/>
              </a:spcAft>
              <a:buNone/>
            </a:pPr>
            <a:r>
              <a:rPr lang="en-US" sz="1200" dirty="0">
                <a:solidFill>
                  <a:schemeClr val="bg1"/>
                </a:solidFill>
                <a:latin typeface="Courier New" pitchFamily="34" charset="0"/>
                <a:ea typeface="Courier New" pitchFamily="34" charset="-122"/>
                <a:cs typeface="Courier New" pitchFamily="34" charset="-120"/>
              </a:rPr>
              <a:t>/api/doctors   /api/patients</a:t>
            </a:r>
            <a:endParaRPr lang="en-US" sz="1200" dirty="0"/>
          </a:p>
          <a:p>
            <a:pPr marL="0" indent="0">
              <a:spcAft>
                <a:spcPts val="300"/>
              </a:spcAft>
              <a:buNone/>
            </a:pPr>
            <a:r>
              <a:rPr lang="en-US" sz="1200" dirty="0">
                <a:solidFill>
                  <a:schemeClr val="bg1"/>
                </a:solidFill>
                <a:latin typeface="Courier New" pitchFamily="34" charset="0"/>
                <a:ea typeface="Courier New" pitchFamily="34" charset="-122"/>
                <a:cs typeface="Courier New" pitchFamily="34" charset="-120"/>
              </a:rPr>
              <a:t>/api/appointments  (+ /stats)</a:t>
            </a:r>
            <a:endParaRPr lang="en-US" sz="1200" dirty="0"/>
          </a:p>
          <a:p>
            <a:pPr marL="0" indent="0">
              <a:spcAft>
                <a:spcPts val="300"/>
              </a:spcAft>
              <a:buNone/>
            </a:pPr>
            <a:r>
              <a:rPr lang="en-US" sz="1200" dirty="0">
                <a:solidFill>
                  <a:schemeClr val="bg1"/>
                </a:solidFill>
                <a:latin typeface="Courier New" pitchFamily="34" charset="0"/>
                <a:ea typeface="Courier New" pitchFamily="34" charset="-122"/>
                <a:cs typeface="Courier New" pitchFamily="34" charset="-120"/>
              </a:rPr>
              <a:t>/api/queue</a:t>
            </a:r>
            <a:endParaRPr lang="en-US" sz="1200" dirty="0"/>
          </a:p>
          <a:p>
            <a:pPr marL="0" indent="0">
              <a:spcAft>
                <a:spcPts val="300"/>
              </a:spcAft>
              <a:buNone/>
            </a:pPr>
            <a:r>
              <a:rPr lang="en-US" sz="1200" dirty="0">
                <a:solidFill>
                  <a:schemeClr val="accent5"/>
                </a:solidFill>
                <a:latin typeface="Courier New" pitchFamily="34" charset="0"/>
                <a:ea typeface="Courier New" pitchFamily="34" charset="-122"/>
                <a:cs typeface="Courier New" pitchFamily="34" charset="-120"/>
              </a:rPr>
              <a:t>/health   /ready   /metrics</a:t>
            </a:r>
            <a:endParaRPr lang="en-US" sz="1200" dirty="0"/>
          </a:p>
        </p:txBody>
      </p:sp>
      <p:pic>
        <p:nvPicPr>
          <p:cNvPr id="9" name="Image 0" descr="pytest -v: 24 collected, 24 passed in 1.54s"/>
          <p:cNvPicPr>
            <a:picLocks noChangeAspect="1"/>
          </p:cNvPicPr>
          <p:nvPr/>
        </p:nvPicPr>
        <p:blipFill>
          <a:blip r:embed="rId3"/>
          <a:stretch>
            <a:fillRect/>
          </a:stretch>
        </p:blipFill>
        <p:spPr>
          <a:xfrm>
            <a:off x="457200" y="2331720"/>
            <a:ext cx="8229600" cy="2086377"/>
          </a:xfrm>
          <a:prstGeom prst="rect">
            <a:avLst/>
          </a:prstGeom>
        </p:spPr>
      </p:pic>
      <p:sp>
        <p:nvSpPr>
          <p:cNvPr id="10" name="Frame: pytest -v: 24 collected, 24 passed in 1.54s"/>
          <p:cNvSpPr/>
          <p:nvPr/>
        </p:nvSpPr>
        <p:spPr>
          <a:xfrm>
            <a:off x="457200" y="2331720"/>
            <a:ext cx="8229600" cy="2086377"/>
          </a:xfrm>
          <a:prstGeom prst="rect">
            <a:avLst/>
          </a:prstGeom>
          <a:solidFill>
            <a:schemeClr val="bg1">
              <a:alpha val="0"/>
            </a:schemeClr>
          </a:solidFill>
          <a:ln w="9525">
            <a:solidFill>
              <a:schemeClr val="accent5"/>
            </a:solidFill>
            <a:prstDash val="solid"/>
          </a:ln>
        </p:spPr>
      </p:sp>
      <p:sp>
        <p:nvSpPr>
          <p:cNvPr id="11" name="Text 7"/>
          <p:cNvSpPr txBox="1"/>
          <p:nvPr/>
        </p:nvSpPr>
        <p:spPr>
          <a:xfrm>
            <a:off x="457200" y="4472961"/>
            <a:ext cx="8229600" cy="201168"/>
          </a:xfrm>
          <a:prstGeom prst="rect">
            <a:avLst/>
          </a:prstGeom>
          <a:noFill/>
          <a:ln/>
        </p:spPr>
        <p:txBody>
          <a:bodyPr wrap="square" lIns="0" tIns="0" rIns="0" bIns="0" rtlCol="0" anchor="t"/>
          <a:lstStyle/>
          <a:p>
            <a:pPr marL="0" indent="0">
              <a:buNone/>
            </a:pPr>
            <a:r>
              <a:rPr lang="en-US" sz="1000" i="1" dirty="0">
                <a:solidFill>
                  <a:schemeClr val="tx2"/>
                </a:solidFill>
              </a:rPr>
              <a:t>pytest -v: 24 collected, 24 passed in 1.54s</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182880"/>
            <a:ext cx="365760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BUILD</a:t>
            </a:r>
            <a:endParaRPr lang="en-US" sz="1000" dirty="0"/>
          </a:p>
        </p:txBody>
      </p:sp>
      <p:sp>
        <p:nvSpPr>
          <p:cNvPr id="3" name="Text 0"/>
          <p:cNvSpPr>
            <a:spLocks noGrp="1"/>
          </p:cNvSpPr>
          <p:nvPr>
            <p:ph type="title" idx="100" hasCustomPrompt="1"/>
          </p:nvPr>
        </p:nvSpPr>
        <p:spPr>
          <a:xfrm>
            <a:off x="457200" y="384048"/>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A small data model with strict rules</a:t>
            </a:r>
            <a:endParaRPr lang="en-US" sz="2800" dirty="0"/>
          </a:p>
        </p:txBody>
      </p:sp>
      <p:sp>
        <p:nvSpPr>
          <p:cNvPr id="5" name="table doctors"/>
          <p:cNvSpPr/>
          <p:nvPr/>
        </p:nvSpPr>
        <p:spPr>
          <a:xfrm>
            <a:off x="457200" y="1188720"/>
            <a:ext cx="2468880" cy="1645920"/>
          </a:xfrm>
          <a:prstGeom prst="roundRect">
            <a:avLst>
              <a:gd name="adj" fmla="val 3333"/>
            </a:avLst>
          </a:prstGeom>
          <a:solidFill>
            <a:schemeClr val="bg2"/>
          </a:solidFill>
          <a:ln w="12700">
            <a:solidFill>
              <a:schemeClr val="accent5"/>
            </a:solidFill>
            <a:prstDash val="solid"/>
          </a:ln>
        </p:spPr>
      </p:sp>
      <p:sp>
        <p:nvSpPr>
          <p:cNvPr id="6" name="header doctors"/>
          <p:cNvSpPr/>
          <p:nvPr/>
        </p:nvSpPr>
        <p:spPr>
          <a:xfrm>
            <a:off x="466344" y="1197864"/>
            <a:ext cx="2450592" cy="347472"/>
          </a:xfrm>
          <a:prstGeom prst="rect">
            <a:avLst/>
          </a:prstGeom>
          <a:solidFill>
            <a:schemeClr val="accent1"/>
          </a:solidFill>
          <a:ln/>
        </p:spPr>
      </p:sp>
      <p:sp>
        <p:nvSpPr>
          <p:cNvPr id="7" name="Text 4"/>
          <p:cNvSpPr txBox="1"/>
          <p:nvPr/>
        </p:nvSpPr>
        <p:spPr>
          <a:xfrm>
            <a:off x="594360" y="1197864"/>
            <a:ext cx="2194560" cy="347472"/>
          </a:xfrm>
          <a:prstGeom prst="rect">
            <a:avLst/>
          </a:prstGeom>
          <a:noFill/>
          <a:ln/>
        </p:spPr>
        <p:txBody>
          <a:bodyPr wrap="square" lIns="0" tIns="0" rIns="0" bIns="0" rtlCol="0" anchor="ctr"/>
          <a:lstStyle/>
          <a:p>
            <a:pPr marL="0" indent="0">
              <a:buNone/>
            </a:pPr>
            <a:r>
              <a:rPr lang="en-US" sz="1400" b="1" dirty="0">
                <a:solidFill>
                  <a:schemeClr val="bg1"/>
                </a:solidFill>
                <a:latin typeface="Courier New" pitchFamily="34" charset="0"/>
                <a:ea typeface="Courier New" pitchFamily="34" charset="-122"/>
                <a:cs typeface="Courier New" pitchFamily="34" charset="-120"/>
              </a:rPr>
              <a:t>doctors</a:t>
            </a:r>
            <a:endParaRPr lang="en-US" sz="1400" dirty="0"/>
          </a:p>
        </p:txBody>
      </p:sp>
      <p:sp>
        <p:nvSpPr>
          <p:cNvPr id="8" name="Text 5"/>
          <p:cNvSpPr txBox="1"/>
          <p:nvPr/>
        </p:nvSpPr>
        <p:spPr>
          <a:xfrm>
            <a:off x="594360" y="1645920"/>
            <a:ext cx="2194560" cy="1097280"/>
          </a:xfrm>
          <a:prstGeom prst="rect">
            <a:avLst/>
          </a:prstGeom>
          <a:noFill/>
          <a:ln/>
        </p:spPr>
        <p:txBody>
          <a:bodyPr wrap="square" lIns="0" tIns="0" rIns="0" bIns="0" rtlCol="0" anchor="t"/>
          <a:lstStyle/>
          <a:p>
            <a:pPr marL="0" indent="0">
              <a:spcAft>
                <a:spcPts val="300"/>
              </a:spcAft>
              <a:buNone/>
            </a:pPr>
            <a:r>
              <a:rPr lang="en-US" sz="1200" dirty="0">
                <a:solidFill>
                  <a:schemeClr val="tx1"/>
                </a:solidFill>
                <a:latin typeface="Courier New" pitchFamily="34" charset="0"/>
                <a:ea typeface="Courier New" pitchFamily="34" charset="-122"/>
                <a:cs typeface="Courier New" pitchFamily="34" charset="-120"/>
              </a:rPr>
              <a:t>id            PK</a:t>
            </a:r>
            <a:endParaRPr lang="en-US" sz="1200" dirty="0"/>
          </a:p>
          <a:p>
            <a:pPr marL="0" indent="0">
              <a:spcAft>
                <a:spcPts val="300"/>
              </a:spcAft>
              <a:buNone/>
            </a:pPr>
            <a:r>
              <a:rPr lang="en-US" sz="1200" dirty="0">
                <a:solidFill>
                  <a:schemeClr val="tx1"/>
                </a:solidFill>
                <a:latin typeface="Courier New" pitchFamily="34" charset="0"/>
                <a:ea typeface="Courier New" pitchFamily="34" charset="-122"/>
                <a:cs typeface="Courier New" pitchFamily="34" charset="-120"/>
              </a:rPr>
              <a:t>name</a:t>
            </a:r>
            <a:endParaRPr lang="en-US" sz="1200" dirty="0"/>
          </a:p>
          <a:p>
            <a:pPr marL="0" indent="0">
              <a:spcAft>
                <a:spcPts val="300"/>
              </a:spcAft>
              <a:buNone/>
            </a:pPr>
            <a:r>
              <a:rPr lang="en-US" sz="1200" dirty="0">
                <a:solidFill>
                  <a:schemeClr val="tx1"/>
                </a:solidFill>
                <a:latin typeface="Courier New" pitchFamily="34" charset="0"/>
                <a:ea typeface="Courier New" pitchFamily="34" charset="-122"/>
                <a:cs typeface="Courier New" pitchFamily="34" charset="-120"/>
              </a:rPr>
              <a:t>specialization</a:t>
            </a:r>
            <a:endParaRPr lang="en-US" sz="1200" dirty="0"/>
          </a:p>
          <a:p>
            <a:pPr marL="0" indent="0">
              <a:spcAft>
                <a:spcPts val="300"/>
              </a:spcAft>
              <a:buNone/>
            </a:pPr>
            <a:r>
              <a:rPr lang="en-US" sz="1200" dirty="0">
                <a:solidFill>
                  <a:schemeClr val="tx1"/>
                </a:solidFill>
                <a:latin typeface="Courier New" pitchFamily="34" charset="0"/>
                <a:ea typeface="Courier New" pitchFamily="34" charset="-122"/>
                <a:cs typeface="Courier New" pitchFamily="34" charset="-120"/>
              </a:rPr>
              <a:t>room</a:t>
            </a:r>
            <a:endParaRPr lang="en-US" sz="1200" dirty="0"/>
          </a:p>
        </p:txBody>
      </p:sp>
      <p:sp>
        <p:nvSpPr>
          <p:cNvPr id="9" name="table patients"/>
          <p:cNvSpPr/>
          <p:nvPr/>
        </p:nvSpPr>
        <p:spPr>
          <a:xfrm>
            <a:off x="457200" y="3017520"/>
            <a:ext cx="2468880" cy="1554480"/>
          </a:xfrm>
          <a:prstGeom prst="roundRect">
            <a:avLst>
              <a:gd name="adj" fmla="val 3529"/>
            </a:avLst>
          </a:prstGeom>
          <a:solidFill>
            <a:schemeClr val="bg2"/>
          </a:solidFill>
          <a:ln w="12700">
            <a:solidFill>
              <a:schemeClr val="accent5"/>
            </a:solidFill>
            <a:prstDash val="solid"/>
          </a:ln>
        </p:spPr>
      </p:sp>
      <p:sp>
        <p:nvSpPr>
          <p:cNvPr id="10" name="header patients"/>
          <p:cNvSpPr/>
          <p:nvPr/>
        </p:nvSpPr>
        <p:spPr>
          <a:xfrm>
            <a:off x="466344" y="3026664"/>
            <a:ext cx="2450592" cy="347472"/>
          </a:xfrm>
          <a:prstGeom prst="rect">
            <a:avLst/>
          </a:prstGeom>
          <a:solidFill>
            <a:schemeClr val="accent1"/>
          </a:solidFill>
          <a:ln/>
        </p:spPr>
      </p:sp>
      <p:sp>
        <p:nvSpPr>
          <p:cNvPr id="11" name="Text 8"/>
          <p:cNvSpPr txBox="1"/>
          <p:nvPr/>
        </p:nvSpPr>
        <p:spPr>
          <a:xfrm>
            <a:off x="594360" y="3026664"/>
            <a:ext cx="2194560" cy="347472"/>
          </a:xfrm>
          <a:prstGeom prst="rect">
            <a:avLst/>
          </a:prstGeom>
          <a:noFill/>
          <a:ln/>
        </p:spPr>
        <p:txBody>
          <a:bodyPr wrap="square" lIns="0" tIns="0" rIns="0" bIns="0" rtlCol="0" anchor="ctr"/>
          <a:lstStyle/>
          <a:p>
            <a:pPr marL="0" indent="0">
              <a:buNone/>
            </a:pPr>
            <a:r>
              <a:rPr lang="en-US" sz="1400" b="1" dirty="0">
                <a:solidFill>
                  <a:schemeClr val="bg1"/>
                </a:solidFill>
                <a:latin typeface="Courier New" pitchFamily="34" charset="0"/>
                <a:ea typeface="Courier New" pitchFamily="34" charset="-122"/>
                <a:cs typeface="Courier New" pitchFamily="34" charset="-120"/>
              </a:rPr>
              <a:t>patients</a:t>
            </a:r>
            <a:endParaRPr lang="en-US" sz="1400" dirty="0"/>
          </a:p>
        </p:txBody>
      </p:sp>
      <p:sp>
        <p:nvSpPr>
          <p:cNvPr id="12" name="Text 9"/>
          <p:cNvSpPr txBox="1"/>
          <p:nvPr/>
        </p:nvSpPr>
        <p:spPr>
          <a:xfrm>
            <a:off x="594360" y="3474720"/>
            <a:ext cx="2194560" cy="1097280"/>
          </a:xfrm>
          <a:prstGeom prst="rect">
            <a:avLst/>
          </a:prstGeom>
          <a:noFill/>
          <a:ln/>
        </p:spPr>
        <p:txBody>
          <a:bodyPr wrap="square" lIns="0" tIns="0" rIns="0" bIns="0" rtlCol="0" anchor="t"/>
          <a:lstStyle/>
          <a:p>
            <a:pPr marL="0" indent="0">
              <a:spcAft>
                <a:spcPts val="300"/>
              </a:spcAft>
              <a:buNone/>
            </a:pPr>
            <a:r>
              <a:rPr lang="en-US" sz="1200" dirty="0">
                <a:solidFill>
                  <a:schemeClr val="tx1"/>
                </a:solidFill>
                <a:latin typeface="Courier New" pitchFamily="34" charset="0"/>
                <a:ea typeface="Courier New" pitchFamily="34" charset="-122"/>
                <a:cs typeface="Courier New" pitchFamily="34" charset="-120"/>
              </a:rPr>
              <a:t>id            PK</a:t>
            </a:r>
            <a:endParaRPr lang="en-US" sz="1200" dirty="0"/>
          </a:p>
          <a:p>
            <a:pPr marL="0" indent="0">
              <a:spcAft>
                <a:spcPts val="300"/>
              </a:spcAft>
              <a:buNone/>
            </a:pPr>
            <a:r>
              <a:rPr lang="en-US" sz="1200" dirty="0">
                <a:solidFill>
                  <a:schemeClr val="tx1"/>
                </a:solidFill>
                <a:latin typeface="Courier New" pitchFamily="34" charset="0"/>
                <a:ea typeface="Courier New" pitchFamily="34" charset="-122"/>
                <a:cs typeface="Courier New" pitchFamily="34" charset="-120"/>
              </a:rPr>
              <a:t>name</a:t>
            </a:r>
            <a:endParaRPr lang="en-US" sz="1200" dirty="0"/>
          </a:p>
          <a:p>
            <a:pPr marL="0" indent="0">
              <a:spcAft>
                <a:spcPts val="300"/>
              </a:spcAft>
              <a:buNone/>
            </a:pPr>
            <a:r>
              <a:rPr lang="en-US" sz="1200" dirty="0">
                <a:solidFill>
                  <a:schemeClr val="tx1"/>
                </a:solidFill>
                <a:latin typeface="Courier New" pitchFamily="34" charset="0"/>
                <a:ea typeface="Courier New" pitchFamily="34" charset="-122"/>
                <a:cs typeface="Courier New" pitchFamily="34" charset="-120"/>
              </a:rPr>
              <a:t>phone</a:t>
            </a:r>
            <a:endParaRPr lang="en-US" sz="1200" dirty="0"/>
          </a:p>
          <a:p>
            <a:pPr marL="0" indent="0">
              <a:spcAft>
                <a:spcPts val="300"/>
              </a:spcAft>
              <a:buNone/>
            </a:pPr>
            <a:r>
              <a:rPr lang="en-US" sz="1200" dirty="0">
                <a:solidFill>
                  <a:schemeClr val="tx1"/>
                </a:solidFill>
                <a:latin typeface="Courier New" pitchFamily="34" charset="0"/>
                <a:ea typeface="Courier New" pitchFamily="34" charset="-122"/>
                <a:cs typeface="Courier New" pitchFamily="34" charset="-120"/>
              </a:rPr>
              <a:t>age</a:t>
            </a:r>
            <a:endParaRPr lang="en-US" sz="1200" dirty="0"/>
          </a:p>
        </p:txBody>
      </p:sp>
      <p:sp>
        <p:nvSpPr>
          <p:cNvPr id="13" name="table appointments"/>
          <p:cNvSpPr/>
          <p:nvPr/>
        </p:nvSpPr>
        <p:spPr>
          <a:xfrm>
            <a:off x="3566160" y="1188720"/>
            <a:ext cx="2834640" cy="3383280"/>
          </a:xfrm>
          <a:prstGeom prst="roundRect">
            <a:avLst>
              <a:gd name="adj" fmla="val 1935"/>
            </a:avLst>
          </a:prstGeom>
          <a:solidFill>
            <a:schemeClr val="bg2"/>
          </a:solidFill>
          <a:ln w="12700">
            <a:solidFill>
              <a:schemeClr val="accent5"/>
            </a:solidFill>
            <a:prstDash val="solid"/>
          </a:ln>
        </p:spPr>
      </p:sp>
      <p:sp>
        <p:nvSpPr>
          <p:cNvPr id="14" name="header appointments"/>
          <p:cNvSpPr/>
          <p:nvPr/>
        </p:nvSpPr>
        <p:spPr>
          <a:xfrm>
            <a:off x="3575304" y="1197864"/>
            <a:ext cx="2816352" cy="347472"/>
          </a:xfrm>
          <a:prstGeom prst="rect">
            <a:avLst/>
          </a:prstGeom>
          <a:solidFill>
            <a:schemeClr val="accent1"/>
          </a:solidFill>
          <a:ln/>
        </p:spPr>
      </p:sp>
      <p:sp>
        <p:nvSpPr>
          <p:cNvPr id="15" name="Text 12"/>
          <p:cNvSpPr txBox="1"/>
          <p:nvPr/>
        </p:nvSpPr>
        <p:spPr>
          <a:xfrm>
            <a:off x="3703320" y="1197864"/>
            <a:ext cx="2560320" cy="347472"/>
          </a:xfrm>
          <a:prstGeom prst="rect">
            <a:avLst/>
          </a:prstGeom>
          <a:noFill/>
          <a:ln/>
        </p:spPr>
        <p:txBody>
          <a:bodyPr wrap="square" lIns="0" tIns="0" rIns="0" bIns="0" rtlCol="0" anchor="ctr"/>
          <a:lstStyle/>
          <a:p>
            <a:pPr marL="0" indent="0">
              <a:buNone/>
            </a:pPr>
            <a:r>
              <a:rPr lang="en-US" sz="1400" b="1" dirty="0">
                <a:solidFill>
                  <a:schemeClr val="bg1"/>
                </a:solidFill>
                <a:latin typeface="Courier New" pitchFamily="34" charset="0"/>
                <a:ea typeface="Courier New" pitchFamily="34" charset="-122"/>
                <a:cs typeface="Courier New" pitchFamily="34" charset="-120"/>
              </a:rPr>
              <a:t>appointments</a:t>
            </a:r>
            <a:endParaRPr lang="en-US" sz="1400" dirty="0"/>
          </a:p>
        </p:txBody>
      </p:sp>
      <p:sp>
        <p:nvSpPr>
          <p:cNvPr id="16" name="Text 13"/>
          <p:cNvSpPr txBox="1"/>
          <p:nvPr/>
        </p:nvSpPr>
        <p:spPr>
          <a:xfrm>
            <a:off x="3703320" y="1645920"/>
            <a:ext cx="2560320" cy="1920240"/>
          </a:xfrm>
          <a:prstGeom prst="rect">
            <a:avLst/>
          </a:prstGeom>
          <a:noFill/>
          <a:ln/>
        </p:spPr>
        <p:txBody>
          <a:bodyPr wrap="square" lIns="0" tIns="0" rIns="0" bIns="0" rtlCol="0" anchor="t"/>
          <a:lstStyle/>
          <a:p>
            <a:pPr marL="0" indent="0">
              <a:spcAft>
                <a:spcPts val="300"/>
              </a:spcAft>
              <a:buNone/>
            </a:pPr>
            <a:r>
              <a:rPr lang="en-US" sz="1200" dirty="0">
                <a:solidFill>
                  <a:schemeClr val="tx1"/>
                </a:solidFill>
                <a:latin typeface="Courier New" pitchFamily="34" charset="0"/>
                <a:ea typeface="Courier New" pitchFamily="34" charset="-122"/>
                <a:cs typeface="Courier New" pitchFamily="34" charset="-120"/>
              </a:rPr>
              <a:t>id            PK</a:t>
            </a:r>
            <a:endParaRPr lang="en-US" sz="1200" dirty="0"/>
          </a:p>
          <a:p>
            <a:pPr marL="0" indent="0">
              <a:spcAft>
                <a:spcPts val="300"/>
              </a:spcAft>
              <a:buNone/>
            </a:pPr>
            <a:r>
              <a:rPr lang="en-US" sz="1200" dirty="0">
                <a:solidFill>
                  <a:schemeClr val="tx1"/>
                </a:solidFill>
                <a:latin typeface="Courier New" pitchFamily="34" charset="0"/>
                <a:ea typeface="Courier New" pitchFamily="34" charset="-122"/>
                <a:cs typeface="Courier New" pitchFamily="34" charset="-120"/>
              </a:rPr>
              <a:t>doctor_id     FK</a:t>
            </a:r>
            <a:endParaRPr lang="en-US" sz="1200" dirty="0"/>
          </a:p>
          <a:p>
            <a:pPr marL="0" indent="0">
              <a:spcAft>
                <a:spcPts val="300"/>
              </a:spcAft>
              <a:buNone/>
            </a:pPr>
            <a:r>
              <a:rPr lang="en-US" sz="1200" dirty="0">
                <a:solidFill>
                  <a:schemeClr val="tx1"/>
                </a:solidFill>
                <a:latin typeface="Courier New" pitchFamily="34" charset="0"/>
                <a:ea typeface="Courier New" pitchFamily="34" charset="-122"/>
                <a:cs typeface="Courier New" pitchFamily="34" charset="-120"/>
              </a:rPr>
              <a:t>patient_id    FK</a:t>
            </a:r>
            <a:endParaRPr lang="en-US" sz="1200" dirty="0"/>
          </a:p>
          <a:p>
            <a:pPr marL="0" indent="0">
              <a:spcAft>
                <a:spcPts val="300"/>
              </a:spcAft>
              <a:buNone/>
            </a:pPr>
            <a:r>
              <a:rPr lang="en-US" sz="1200" dirty="0">
                <a:solidFill>
                  <a:schemeClr val="tx1"/>
                </a:solidFill>
                <a:latin typeface="Courier New" pitchFamily="34" charset="0"/>
                <a:ea typeface="Courier New" pitchFamily="34" charset="-122"/>
                <a:cs typeface="Courier New" pitchFamily="34" charset="-120"/>
              </a:rPr>
              <a:t>scheduled_at</a:t>
            </a:r>
            <a:endParaRPr lang="en-US" sz="1200" dirty="0"/>
          </a:p>
          <a:p>
            <a:pPr marL="0" indent="0">
              <a:spcAft>
                <a:spcPts val="300"/>
              </a:spcAft>
              <a:buNone/>
            </a:pPr>
            <a:r>
              <a:rPr lang="en-US" sz="1200" dirty="0">
                <a:solidFill>
                  <a:schemeClr val="tx1"/>
                </a:solidFill>
                <a:latin typeface="Courier New" pitchFamily="34" charset="0"/>
                <a:ea typeface="Courier New" pitchFamily="34" charset="-122"/>
                <a:cs typeface="Courier New" pitchFamily="34" charset="-120"/>
              </a:rPr>
              <a:t>reason</a:t>
            </a:r>
            <a:endParaRPr lang="en-US" sz="1200" dirty="0"/>
          </a:p>
          <a:p>
            <a:pPr marL="0" indent="0">
              <a:spcAft>
                <a:spcPts val="300"/>
              </a:spcAft>
              <a:buNone/>
            </a:pPr>
            <a:r>
              <a:rPr lang="en-US" sz="1200" dirty="0">
                <a:solidFill>
                  <a:schemeClr val="tx1"/>
                </a:solidFill>
                <a:latin typeface="Courier New" pitchFamily="34" charset="0"/>
                <a:ea typeface="Courier New" pitchFamily="34" charset="-122"/>
                <a:cs typeface="Courier New" pitchFamily="34" charset="-120"/>
              </a:rPr>
              <a:t>status</a:t>
            </a:r>
            <a:endParaRPr lang="en-US" sz="1200" dirty="0"/>
          </a:p>
          <a:p>
            <a:pPr marL="0" indent="0">
              <a:spcAft>
                <a:spcPts val="300"/>
              </a:spcAft>
              <a:buNone/>
            </a:pPr>
            <a:r>
              <a:rPr lang="en-US" sz="1200" dirty="0">
                <a:solidFill>
                  <a:schemeClr val="tx1"/>
                </a:solidFill>
                <a:latin typeface="Courier New" pitchFamily="34" charset="0"/>
                <a:ea typeface="Courier New" pitchFamily="34" charset="-122"/>
                <a:cs typeface="Courier New" pitchFamily="34" charset="-120"/>
              </a:rPr>
              <a:t>token_number</a:t>
            </a:r>
            <a:endParaRPr lang="en-US" sz="1200" dirty="0"/>
          </a:p>
        </p:txBody>
      </p:sp>
      <p:sp>
        <p:nvSpPr>
          <p:cNvPr id="17" name="Text 14"/>
          <p:cNvSpPr txBox="1"/>
          <p:nvPr/>
        </p:nvSpPr>
        <p:spPr>
          <a:xfrm>
            <a:off x="3703320" y="3977640"/>
            <a:ext cx="2560320" cy="502920"/>
          </a:xfrm>
          <a:prstGeom prst="rect">
            <a:avLst/>
          </a:prstGeom>
          <a:noFill/>
          <a:ln/>
        </p:spPr>
        <p:txBody>
          <a:bodyPr wrap="square" lIns="0" tIns="0" rIns="0" bIns="0" rtlCol="0" anchor="b"/>
          <a:lstStyle/>
          <a:p>
            <a:pPr marL="0" indent="0">
              <a:buNone/>
            </a:pPr>
            <a:r>
              <a:rPr lang="en-US" sz="1200" dirty="0">
                <a:solidFill>
                  <a:schemeClr val="tx2"/>
                </a:solidFill>
              </a:rPr>
              <a:t>Indexes: scheduled_at, and (doctor_id, scheduled_at) from migration 0002</a:t>
            </a:r>
            <a:endParaRPr lang="en-US" sz="1200" dirty="0"/>
          </a:p>
        </p:txBody>
      </p:sp>
      <p:sp>
        <p:nvSpPr>
          <p:cNvPr id="18" name="arrow"/>
          <p:cNvSpPr/>
          <p:nvPr/>
        </p:nvSpPr>
        <p:spPr>
          <a:xfrm>
            <a:off x="2926080" y="2011680"/>
            <a:ext cx="640080" cy="0"/>
          </a:xfrm>
          <a:prstGeom prst="line">
            <a:avLst/>
          </a:prstGeom>
          <a:noFill/>
          <a:ln w="19050">
            <a:solidFill>
              <a:schemeClr val="tx2"/>
            </a:solidFill>
            <a:prstDash val="solid"/>
            <a:tailEnd type="triangle"/>
          </a:ln>
        </p:spPr>
      </p:sp>
      <p:sp>
        <p:nvSpPr>
          <p:cNvPr id="19" name="arrow"/>
          <p:cNvSpPr/>
          <p:nvPr/>
        </p:nvSpPr>
        <p:spPr>
          <a:xfrm>
            <a:off x="2926080" y="3794760"/>
            <a:ext cx="640080" cy="0"/>
          </a:xfrm>
          <a:prstGeom prst="line">
            <a:avLst/>
          </a:prstGeom>
          <a:noFill/>
          <a:ln w="19050">
            <a:solidFill>
              <a:schemeClr val="tx2"/>
            </a:solidFill>
            <a:prstDash val="solid"/>
            <a:tailEnd type="triangle"/>
          </a:ln>
        </p:spPr>
      </p:sp>
      <p:sp>
        <p:nvSpPr>
          <p:cNvPr id="20" name="Text 17"/>
          <p:cNvSpPr txBox="1"/>
          <p:nvPr/>
        </p:nvSpPr>
        <p:spPr>
          <a:xfrm>
            <a:off x="6766560" y="1188720"/>
            <a:ext cx="1920240" cy="201168"/>
          </a:xfrm>
          <a:prstGeom prst="rect">
            <a:avLst/>
          </a:prstGeom>
          <a:noFill/>
          <a:ln/>
        </p:spPr>
        <p:txBody>
          <a:bodyPr wrap="square" lIns="0" tIns="0" rIns="0" bIns="0" rtlCol="0" anchor="t"/>
          <a:lstStyle/>
          <a:p>
            <a:pPr marL="0" indent="0">
              <a:buNone/>
            </a:pPr>
            <a:r>
              <a:rPr lang="en-US" sz="1000" b="1" kern="0" spc="300" dirty="0">
                <a:solidFill>
                  <a:schemeClr val="tx2"/>
                </a:solidFill>
              </a:rPr>
              <a:t>STATUS FLOW</a:t>
            </a:r>
            <a:endParaRPr lang="en-US" sz="1000" dirty="0"/>
          </a:p>
        </p:txBody>
      </p:sp>
      <p:sp>
        <p:nvSpPr>
          <p:cNvPr id="21" name="status booked"/>
          <p:cNvSpPr/>
          <p:nvPr/>
        </p:nvSpPr>
        <p:spPr>
          <a:xfrm>
            <a:off x="6766560" y="1508760"/>
            <a:ext cx="1920240" cy="457200"/>
          </a:xfrm>
          <a:prstGeom prst="roundRect">
            <a:avLst>
              <a:gd name="adj" fmla="val 16000"/>
            </a:avLst>
          </a:prstGeom>
          <a:solidFill>
            <a:schemeClr val="accent1"/>
          </a:solidFill>
          <a:ln/>
        </p:spPr>
      </p:sp>
      <p:sp>
        <p:nvSpPr>
          <p:cNvPr id="22" name="Text 19"/>
          <p:cNvSpPr txBox="1"/>
          <p:nvPr/>
        </p:nvSpPr>
        <p:spPr>
          <a:xfrm>
            <a:off x="6766560" y="1508760"/>
            <a:ext cx="1920240" cy="457200"/>
          </a:xfrm>
          <a:prstGeom prst="rect">
            <a:avLst/>
          </a:prstGeom>
          <a:no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booked</a:t>
            </a:r>
            <a:endParaRPr lang="en-US" sz="1400" dirty="0"/>
          </a:p>
        </p:txBody>
      </p:sp>
      <p:sp>
        <p:nvSpPr>
          <p:cNvPr id="23" name="arrow"/>
          <p:cNvSpPr/>
          <p:nvPr/>
        </p:nvSpPr>
        <p:spPr>
          <a:xfrm>
            <a:off x="7726680" y="1965960"/>
            <a:ext cx="0" cy="201168"/>
          </a:xfrm>
          <a:prstGeom prst="line">
            <a:avLst/>
          </a:prstGeom>
          <a:noFill/>
          <a:ln w="19050">
            <a:solidFill>
              <a:schemeClr val="tx2"/>
            </a:solidFill>
            <a:prstDash val="solid"/>
            <a:tailEnd type="triangle"/>
          </a:ln>
        </p:spPr>
      </p:sp>
      <p:sp>
        <p:nvSpPr>
          <p:cNvPr id="24" name="status checked_in"/>
          <p:cNvSpPr/>
          <p:nvPr/>
        </p:nvSpPr>
        <p:spPr>
          <a:xfrm>
            <a:off x="6766560" y="2167128"/>
            <a:ext cx="1920240" cy="457200"/>
          </a:xfrm>
          <a:prstGeom prst="roundRect">
            <a:avLst>
              <a:gd name="adj" fmla="val 16000"/>
            </a:avLst>
          </a:prstGeom>
          <a:solidFill>
            <a:schemeClr val="accent1"/>
          </a:solidFill>
          <a:ln/>
        </p:spPr>
      </p:sp>
      <p:sp>
        <p:nvSpPr>
          <p:cNvPr id="25" name="Text 22"/>
          <p:cNvSpPr txBox="1"/>
          <p:nvPr/>
        </p:nvSpPr>
        <p:spPr>
          <a:xfrm>
            <a:off x="6766560" y="2167128"/>
            <a:ext cx="1920240" cy="457200"/>
          </a:xfrm>
          <a:prstGeom prst="rect">
            <a:avLst/>
          </a:prstGeom>
          <a:no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checked_in</a:t>
            </a:r>
            <a:endParaRPr lang="en-US" sz="1400" dirty="0"/>
          </a:p>
        </p:txBody>
      </p:sp>
      <p:sp>
        <p:nvSpPr>
          <p:cNvPr id="26" name="arrow"/>
          <p:cNvSpPr/>
          <p:nvPr/>
        </p:nvSpPr>
        <p:spPr>
          <a:xfrm>
            <a:off x="7726680" y="2624328"/>
            <a:ext cx="0" cy="201168"/>
          </a:xfrm>
          <a:prstGeom prst="line">
            <a:avLst/>
          </a:prstGeom>
          <a:noFill/>
          <a:ln w="19050">
            <a:solidFill>
              <a:schemeClr val="tx2"/>
            </a:solidFill>
            <a:prstDash val="solid"/>
            <a:tailEnd type="triangle"/>
          </a:ln>
        </p:spPr>
      </p:sp>
      <p:sp>
        <p:nvSpPr>
          <p:cNvPr id="27" name="status completed"/>
          <p:cNvSpPr/>
          <p:nvPr/>
        </p:nvSpPr>
        <p:spPr>
          <a:xfrm>
            <a:off x="6766560" y="2825496"/>
            <a:ext cx="1920240" cy="457200"/>
          </a:xfrm>
          <a:prstGeom prst="roundRect">
            <a:avLst>
              <a:gd name="adj" fmla="val 16000"/>
            </a:avLst>
          </a:prstGeom>
          <a:solidFill>
            <a:schemeClr val="accent1"/>
          </a:solidFill>
          <a:ln/>
        </p:spPr>
      </p:sp>
      <p:sp>
        <p:nvSpPr>
          <p:cNvPr id="28" name="Text 25"/>
          <p:cNvSpPr txBox="1"/>
          <p:nvPr/>
        </p:nvSpPr>
        <p:spPr>
          <a:xfrm>
            <a:off x="6766560" y="2825496"/>
            <a:ext cx="1920240" cy="457200"/>
          </a:xfrm>
          <a:prstGeom prst="rect">
            <a:avLst/>
          </a:prstGeom>
          <a:no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completed</a:t>
            </a:r>
            <a:endParaRPr lang="en-US" sz="1400" dirty="0"/>
          </a:p>
        </p:txBody>
      </p:sp>
      <p:sp>
        <p:nvSpPr>
          <p:cNvPr id="29" name="status cancelled"/>
          <p:cNvSpPr/>
          <p:nvPr/>
        </p:nvSpPr>
        <p:spPr>
          <a:xfrm>
            <a:off x="6766560" y="3483864"/>
            <a:ext cx="1920240" cy="457200"/>
          </a:xfrm>
          <a:prstGeom prst="roundRect">
            <a:avLst>
              <a:gd name="adj" fmla="val 16000"/>
            </a:avLst>
          </a:prstGeom>
          <a:solidFill>
            <a:schemeClr val="accent2"/>
          </a:solidFill>
          <a:ln/>
        </p:spPr>
      </p:sp>
      <p:sp>
        <p:nvSpPr>
          <p:cNvPr id="30" name="Text 27"/>
          <p:cNvSpPr txBox="1"/>
          <p:nvPr/>
        </p:nvSpPr>
        <p:spPr>
          <a:xfrm>
            <a:off x="6766560" y="3483864"/>
            <a:ext cx="1920240" cy="457200"/>
          </a:xfrm>
          <a:prstGeom prst="rect">
            <a:avLst/>
          </a:prstGeom>
          <a:no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cancelled</a:t>
            </a:r>
            <a:endParaRPr lang="en-US" sz="1400" dirty="0"/>
          </a:p>
        </p:txBody>
      </p:sp>
      <p:sp>
        <p:nvSpPr>
          <p:cNvPr id="31" name="Text 28"/>
          <p:cNvSpPr txBox="1"/>
          <p:nvPr/>
        </p:nvSpPr>
        <p:spPr>
          <a:xfrm>
            <a:off x="6766560" y="4114800"/>
            <a:ext cx="1920240" cy="640080"/>
          </a:xfrm>
          <a:prstGeom prst="rect">
            <a:avLst/>
          </a:prstGeom>
          <a:noFill/>
          <a:ln/>
        </p:spPr>
        <p:txBody>
          <a:bodyPr wrap="square" lIns="0" tIns="0" rIns="0" bIns="0" rtlCol="0" anchor="t"/>
          <a:lstStyle/>
          <a:p>
            <a:pPr marL="0" indent="0">
              <a:buNone/>
            </a:pPr>
            <a:r>
              <a:rPr lang="en-US" sz="1200" dirty="0">
                <a:solidFill>
                  <a:schemeClr val="tx2"/>
                </a:solidFill>
              </a:rPr>
              <a:t>Token numbers are per doctor per day. Double-booking returns 409.</a:t>
            </a:r>
            <a:endParaRPr lang="en-US" sz="1200" dirty="0"/>
          </a:p>
        </p:txBody>
      </p:sp>
      <p:sp>
        <p:nvSpPr>
          <p:cNvPr id="4"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182880"/>
            <a:ext cx="365760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BUILD</a:t>
            </a:r>
            <a:endParaRPr lang="en-US" sz="1000" dirty="0"/>
          </a:p>
        </p:txBody>
      </p:sp>
      <p:sp>
        <p:nvSpPr>
          <p:cNvPr id="3" name="Text 0"/>
          <p:cNvSpPr>
            <a:spLocks noGrp="1"/>
          </p:cNvSpPr>
          <p:nvPr>
            <p:ph type="title" idx="100" hasCustomPrompt="1"/>
          </p:nvPr>
        </p:nvSpPr>
        <p:spPr>
          <a:xfrm>
            <a:off x="457200" y="384048"/>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Small containers that run as non-root</a:t>
            </a:r>
            <a:endParaRPr lang="en-US" sz="2800" dirty="0"/>
          </a:p>
        </p:txBody>
      </p:sp>
      <p:sp>
        <p:nvSpPr>
          <p:cNvPr id="5" name="card Backend"/>
          <p:cNvSpPr/>
          <p:nvPr/>
        </p:nvSpPr>
        <p:spPr>
          <a:xfrm>
            <a:off x="457200" y="1188720"/>
            <a:ext cx="2651760" cy="1097280"/>
          </a:xfrm>
          <a:prstGeom prst="roundRect">
            <a:avLst>
              <a:gd name="adj" fmla="val 6667"/>
            </a:avLst>
          </a:prstGeom>
          <a:solidFill>
            <a:schemeClr val="bg2"/>
          </a:solidFill>
          <a:ln/>
        </p:spPr>
      </p:sp>
      <p:sp>
        <p:nvSpPr>
          <p:cNvPr id="6" name="Text 3"/>
          <p:cNvSpPr txBox="1"/>
          <p:nvPr/>
        </p:nvSpPr>
        <p:spPr>
          <a:xfrm>
            <a:off x="594360" y="1280160"/>
            <a:ext cx="2377440" cy="274320"/>
          </a:xfrm>
          <a:prstGeom prst="rect">
            <a:avLst/>
          </a:prstGeom>
          <a:noFill/>
          <a:ln/>
        </p:spPr>
        <p:txBody>
          <a:bodyPr wrap="square" lIns="0" tIns="0" rIns="0" bIns="0" rtlCol="0" anchor="t"/>
          <a:lstStyle/>
          <a:p>
            <a:pPr marL="0" indent="0">
              <a:buNone/>
            </a:pPr>
            <a:r>
              <a:rPr lang="en-US" sz="1600" b="1" dirty="0">
                <a:solidFill>
                  <a:schemeClr val="tx1"/>
                </a:solidFill>
              </a:rPr>
              <a:t>Backend</a:t>
            </a:r>
            <a:endParaRPr lang="en-US" sz="1600" dirty="0"/>
          </a:p>
        </p:txBody>
      </p:sp>
      <p:sp>
        <p:nvSpPr>
          <p:cNvPr id="7" name="Text 4"/>
          <p:cNvSpPr txBox="1"/>
          <p:nvPr/>
        </p:nvSpPr>
        <p:spPr>
          <a:xfrm>
            <a:off x="594360" y="1600200"/>
            <a:ext cx="2377440" cy="640080"/>
          </a:xfrm>
          <a:prstGeom prst="rect">
            <a:avLst/>
          </a:prstGeom>
          <a:noFill/>
          <a:ln/>
        </p:spPr>
        <p:txBody>
          <a:bodyPr wrap="square" lIns="0" tIns="0" rIns="0" bIns="0" rtlCol="0" anchor="t"/>
          <a:lstStyle/>
          <a:p>
            <a:pPr marL="0" indent="0">
              <a:buNone/>
            </a:pPr>
            <a:r>
              <a:rPr lang="en-US" sz="1300" dirty="0">
                <a:solidFill>
                  <a:schemeClr val="tx2"/>
                </a:solidFill>
              </a:rPr>
              <a:t>Python 3.12 slim, UID 10001, runs migrations on start</a:t>
            </a:r>
            <a:endParaRPr lang="en-US" sz="1300" dirty="0"/>
          </a:p>
        </p:txBody>
      </p:sp>
      <p:sp>
        <p:nvSpPr>
          <p:cNvPr id="8" name="card Frontend"/>
          <p:cNvSpPr/>
          <p:nvPr/>
        </p:nvSpPr>
        <p:spPr>
          <a:xfrm>
            <a:off x="3291840" y="1188720"/>
            <a:ext cx="2651760" cy="1097280"/>
          </a:xfrm>
          <a:prstGeom prst="roundRect">
            <a:avLst>
              <a:gd name="adj" fmla="val 6667"/>
            </a:avLst>
          </a:prstGeom>
          <a:solidFill>
            <a:schemeClr val="bg2"/>
          </a:solidFill>
          <a:ln/>
        </p:spPr>
      </p:sp>
      <p:sp>
        <p:nvSpPr>
          <p:cNvPr id="9" name="Text 6"/>
          <p:cNvSpPr txBox="1"/>
          <p:nvPr/>
        </p:nvSpPr>
        <p:spPr>
          <a:xfrm>
            <a:off x="3429000" y="1280160"/>
            <a:ext cx="2377440" cy="274320"/>
          </a:xfrm>
          <a:prstGeom prst="rect">
            <a:avLst/>
          </a:prstGeom>
          <a:noFill/>
          <a:ln/>
        </p:spPr>
        <p:txBody>
          <a:bodyPr wrap="square" lIns="0" tIns="0" rIns="0" bIns="0" rtlCol="0" anchor="t"/>
          <a:lstStyle/>
          <a:p>
            <a:pPr marL="0" indent="0">
              <a:buNone/>
            </a:pPr>
            <a:r>
              <a:rPr lang="en-US" sz="1600" b="1" dirty="0">
                <a:solidFill>
                  <a:schemeClr val="tx1"/>
                </a:solidFill>
              </a:rPr>
              <a:t>Frontend</a:t>
            </a:r>
            <a:endParaRPr lang="en-US" sz="1600" dirty="0"/>
          </a:p>
        </p:txBody>
      </p:sp>
      <p:sp>
        <p:nvSpPr>
          <p:cNvPr id="10" name="Text 7"/>
          <p:cNvSpPr txBox="1"/>
          <p:nvPr/>
        </p:nvSpPr>
        <p:spPr>
          <a:xfrm>
            <a:off x="3429000" y="1600200"/>
            <a:ext cx="2377440" cy="640080"/>
          </a:xfrm>
          <a:prstGeom prst="rect">
            <a:avLst/>
          </a:prstGeom>
          <a:noFill/>
          <a:ln/>
        </p:spPr>
        <p:txBody>
          <a:bodyPr wrap="square" lIns="0" tIns="0" rIns="0" bIns="0" rtlCol="0" anchor="t"/>
          <a:lstStyle/>
          <a:p>
            <a:pPr marL="0" indent="0">
              <a:buNone/>
            </a:pPr>
            <a:r>
              <a:rPr lang="en-US" sz="1300" dirty="0">
                <a:solidFill>
                  <a:schemeClr val="tx2"/>
                </a:solidFill>
              </a:rPr>
              <a:t>Multi-stage build, nginx on 8080, proxies /api</a:t>
            </a:r>
            <a:endParaRPr lang="en-US" sz="1300" dirty="0"/>
          </a:p>
        </p:txBody>
      </p:sp>
      <p:sp>
        <p:nvSpPr>
          <p:cNvPr id="11" name="card Compose"/>
          <p:cNvSpPr/>
          <p:nvPr/>
        </p:nvSpPr>
        <p:spPr>
          <a:xfrm>
            <a:off x="6126480" y="1188720"/>
            <a:ext cx="2651760" cy="1097280"/>
          </a:xfrm>
          <a:prstGeom prst="roundRect">
            <a:avLst>
              <a:gd name="adj" fmla="val 6667"/>
            </a:avLst>
          </a:prstGeom>
          <a:solidFill>
            <a:schemeClr val="bg2"/>
          </a:solidFill>
          <a:ln/>
        </p:spPr>
      </p:sp>
      <p:sp>
        <p:nvSpPr>
          <p:cNvPr id="12" name="Text 9"/>
          <p:cNvSpPr txBox="1"/>
          <p:nvPr/>
        </p:nvSpPr>
        <p:spPr>
          <a:xfrm>
            <a:off x="6263640" y="1280160"/>
            <a:ext cx="2377440" cy="274320"/>
          </a:xfrm>
          <a:prstGeom prst="rect">
            <a:avLst/>
          </a:prstGeom>
          <a:noFill/>
          <a:ln/>
        </p:spPr>
        <p:txBody>
          <a:bodyPr wrap="square" lIns="0" tIns="0" rIns="0" bIns="0" rtlCol="0" anchor="t"/>
          <a:lstStyle/>
          <a:p>
            <a:pPr marL="0" indent="0">
              <a:buNone/>
            </a:pPr>
            <a:r>
              <a:rPr lang="en-US" sz="1600" b="1" dirty="0">
                <a:solidFill>
                  <a:schemeClr val="tx1"/>
                </a:solidFill>
              </a:rPr>
              <a:t>Compose</a:t>
            </a:r>
            <a:endParaRPr lang="en-US" sz="1600" dirty="0"/>
          </a:p>
        </p:txBody>
      </p:sp>
      <p:sp>
        <p:nvSpPr>
          <p:cNvPr id="13" name="Text 10"/>
          <p:cNvSpPr txBox="1"/>
          <p:nvPr/>
        </p:nvSpPr>
        <p:spPr>
          <a:xfrm>
            <a:off x="6263640" y="1600200"/>
            <a:ext cx="2377440" cy="640080"/>
          </a:xfrm>
          <a:prstGeom prst="rect">
            <a:avLst/>
          </a:prstGeom>
          <a:noFill/>
          <a:ln/>
        </p:spPr>
        <p:txBody>
          <a:bodyPr wrap="square" lIns="0" tIns="0" rIns="0" bIns="0" rtlCol="0" anchor="t"/>
          <a:lstStyle/>
          <a:p>
            <a:pPr marL="0" indent="0">
              <a:buNone/>
            </a:pPr>
            <a:r>
              <a:rPr lang="en-US" sz="1300" dirty="0">
                <a:solidFill>
                  <a:schemeClr val="tx2"/>
                </a:solidFill>
              </a:rPr>
              <a:t>Postgres, backend :8000, frontend :3000</a:t>
            </a:r>
            <a:endParaRPr lang="en-US" sz="1300" dirty="0"/>
          </a:p>
        </p:txBody>
      </p:sp>
      <p:pic>
        <p:nvPicPr>
          <p:cNvPr id="14" name="Image 0" descr="docker compose logs: frontend (nginx) proxies each /api call to the backend, all 200 OK"/>
          <p:cNvPicPr>
            <a:picLocks noChangeAspect="1"/>
          </p:cNvPicPr>
          <p:nvPr/>
        </p:nvPicPr>
        <p:blipFill>
          <a:blip r:embed="rId3"/>
          <a:stretch>
            <a:fillRect/>
          </a:stretch>
        </p:blipFill>
        <p:spPr>
          <a:xfrm>
            <a:off x="457200" y="2514600"/>
            <a:ext cx="7826262" cy="2011680"/>
          </a:xfrm>
          <a:prstGeom prst="rect">
            <a:avLst/>
          </a:prstGeom>
        </p:spPr>
      </p:pic>
      <p:sp>
        <p:nvSpPr>
          <p:cNvPr id="15" name="Frame: docker compose logs: frontend (nginx) proxies each /api call to the backend, all 200 OK"/>
          <p:cNvSpPr/>
          <p:nvPr/>
        </p:nvSpPr>
        <p:spPr>
          <a:xfrm>
            <a:off x="457200" y="2514600"/>
            <a:ext cx="7826262" cy="2011680"/>
          </a:xfrm>
          <a:prstGeom prst="rect">
            <a:avLst/>
          </a:prstGeom>
          <a:solidFill>
            <a:schemeClr val="bg1">
              <a:alpha val="0"/>
            </a:schemeClr>
          </a:solidFill>
          <a:ln w="9525">
            <a:solidFill>
              <a:schemeClr val="accent5"/>
            </a:solidFill>
            <a:prstDash val="solid"/>
          </a:ln>
        </p:spPr>
      </p:sp>
      <p:sp>
        <p:nvSpPr>
          <p:cNvPr id="16" name="Text 12"/>
          <p:cNvSpPr txBox="1"/>
          <p:nvPr/>
        </p:nvSpPr>
        <p:spPr>
          <a:xfrm>
            <a:off x="457200" y="4581144"/>
            <a:ext cx="7826262" cy="201168"/>
          </a:xfrm>
          <a:prstGeom prst="rect">
            <a:avLst/>
          </a:prstGeom>
          <a:noFill/>
          <a:ln/>
        </p:spPr>
        <p:txBody>
          <a:bodyPr wrap="square" lIns="0" tIns="0" rIns="0" bIns="0" rtlCol="0" anchor="t"/>
          <a:lstStyle/>
          <a:p>
            <a:pPr marL="0" indent="0">
              <a:buNone/>
            </a:pPr>
            <a:r>
              <a:rPr lang="en-US" sz="1000" i="1" dirty="0">
                <a:solidFill>
                  <a:schemeClr val="tx2"/>
                </a:solidFill>
              </a:rPr>
              <a:t>docker compose logs: frontend (nginx) proxies each /api call to the backend, all 200 OK</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182880"/>
            <a:ext cx="365760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BUILD</a:t>
            </a:r>
            <a:endParaRPr lang="en-US" sz="1000" dirty="0"/>
          </a:p>
        </p:txBody>
      </p:sp>
      <p:sp>
        <p:nvSpPr>
          <p:cNvPr id="3" name="Text 0"/>
          <p:cNvSpPr>
            <a:spLocks noGrp="1"/>
          </p:cNvSpPr>
          <p:nvPr>
            <p:ph type="title" idx="100" hasCustomPrompt="1"/>
          </p:nvPr>
        </p:nvSpPr>
        <p:spPr>
          <a:xfrm>
            <a:off x="457200" y="384048"/>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One repository holds everything</a:t>
            </a:r>
            <a:endParaRPr lang="en-US" sz="2800" dirty="0"/>
          </a:p>
        </p:txBody>
      </p:sp>
      <p:sp>
        <p:nvSpPr>
          <p:cNvPr id="5" name="code card"/>
          <p:cNvSpPr/>
          <p:nvPr/>
        </p:nvSpPr>
        <p:spPr>
          <a:xfrm>
            <a:off x="457200" y="1188720"/>
            <a:ext cx="5120640" cy="3291840"/>
          </a:xfrm>
          <a:prstGeom prst="roundRect">
            <a:avLst>
              <a:gd name="adj" fmla="val 1667"/>
            </a:avLst>
          </a:prstGeom>
          <a:solidFill>
            <a:schemeClr val="tx1"/>
          </a:solidFill>
          <a:ln/>
        </p:spPr>
      </p:sp>
      <p:sp>
        <p:nvSpPr>
          <p:cNvPr id="6" name="Text 3"/>
          <p:cNvSpPr txBox="1"/>
          <p:nvPr/>
        </p:nvSpPr>
        <p:spPr>
          <a:xfrm>
            <a:off x="594360" y="1280160"/>
            <a:ext cx="4846320" cy="3108960"/>
          </a:xfrm>
          <a:prstGeom prst="rect">
            <a:avLst/>
          </a:prstGeom>
          <a:noFill/>
          <a:ln/>
        </p:spPr>
        <p:txBody>
          <a:bodyPr wrap="square" lIns="0" tIns="0" rIns="0" bIns="0" rtlCol="0" anchor="t"/>
          <a:lstStyle/>
          <a:p>
            <a:pPr marL="0" indent="0">
              <a:spcAft>
                <a:spcPts val="300"/>
              </a:spcAft>
              <a:buNone/>
            </a:pPr>
            <a:r>
              <a:rPr lang="en-US" sz="1200" dirty="0">
                <a:solidFill>
                  <a:schemeClr val="bg1"/>
                </a:solidFill>
                <a:latin typeface="Courier New" pitchFamily="34" charset="0"/>
                <a:ea typeface="Courier New" pitchFamily="34" charset="-122"/>
                <a:cs typeface="Courier New" pitchFamily="34" charset="-120"/>
              </a:rPr>
              <a:t>clinicq/</a:t>
            </a:r>
            <a:endParaRPr lang="en-US" sz="1200" dirty="0"/>
          </a:p>
          <a:p>
            <a:pPr marL="0" indent="0">
              <a:spcAft>
                <a:spcPts val="300"/>
              </a:spcAft>
              <a:buNone/>
            </a:pPr>
            <a:r>
              <a:rPr lang="en-US" sz="1200" dirty="0">
                <a:solidFill>
                  <a:schemeClr val="bg1"/>
                </a:solidFill>
                <a:latin typeface="Courier New" pitchFamily="34" charset="0"/>
                <a:ea typeface="Courier New" pitchFamily="34" charset="-122"/>
                <a:cs typeface="Courier New" pitchFamily="34" charset="-120"/>
              </a:rPr>
              <a:t>  backend/            FastAPI, Alembic, tests</a:t>
            </a:r>
            <a:endParaRPr lang="en-US" sz="1200" dirty="0"/>
          </a:p>
          <a:p>
            <a:pPr marL="0" indent="0">
              <a:spcAft>
                <a:spcPts val="300"/>
              </a:spcAft>
              <a:buNone/>
            </a:pPr>
            <a:r>
              <a:rPr lang="en-US" sz="1200" dirty="0">
                <a:solidFill>
                  <a:schemeClr val="bg1"/>
                </a:solidFill>
                <a:latin typeface="Courier New" pitchFamily="34" charset="0"/>
                <a:ea typeface="Courier New" pitchFamily="34" charset="-122"/>
                <a:cs typeface="Courier New" pitchFamily="34" charset="-120"/>
              </a:rPr>
              <a:t>  frontend/           React + Vite, nginx</a:t>
            </a:r>
            <a:endParaRPr lang="en-US" sz="1200" dirty="0"/>
          </a:p>
          <a:p>
            <a:pPr marL="0" indent="0">
              <a:spcAft>
                <a:spcPts val="300"/>
              </a:spcAft>
              <a:buNone/>
            </a:pPr>
            <a:r>
              <a:rPr lang="en-US" sz="1200" dirty="0">
                <a:solidFill>
                  <a:schemeClr val="bg1"/>
                </a:solidFill>
                <a:latin typeface="Courier New" pitchFamily="34" charset="0"/>
                <a:ea typeface="Courier New" pitchFamily="34" charset="-122"/>
                <a:cs typeface="Courier New" pitchFamily="34" charset="-120"/>
              </a:rPr>
              <a:t>  terraform/          VPC + EKS</a:t>
            </a:r>
            <a:endParaRPr lang="en-US" sz="1200" dirty="0"/>
          </a:p>
          <a:p>
            <a:pPr marL="0" indent="0">
              <a:spcAft>
                <a:spcPts val="300"/>
              </a:spcAft>
              <a:buNone/>
            </a:pPr>
            <a:r>
              <a:rPr lang="en-US" sz="1200" dirty="0">
                <a:solidFill>
                  <a:schemeClr val="bg1"/>
                </a:solidFill>
                <a:latin typeface="Courier New" pitchFamily="34" charset="0"/>
                <a:ea typeface="Courier New" pitchFamily="34" charset="-122"/>
                <a:cs typeface="Courier New" pitchFamily="34" charset="-120"/>
              </a:rPr>
              <a:t>  helm/clinicq/       the Helm chart</a:t>
            </a:r>
            <a:endParaRPr lang="en-US" sz="1200" dirty="0"/>
          </a:p>
          <a:p>
            <a:pPr marL="0" indent="0">
              <a:spcAft>
                <a:spcPts val="300"/>
              </a:spcAft>
              <a:buNone/>
            </a:pPr>
            <a:r>
              <a:rPr lang="en-US" sz="1200" dirty="0">
                <a:solidFill>
                  <a:schemeClr val="bg1"/>
                </a:solidFill>
                <a:latin typeface="Courier New" pitchFamily="34" charset="0"/>
                <a:ea typeface="Courier New" pitchFamily="34" charset="-122"/>
                <a:cs typeface="Courier New" pitchFamily="34" charset="-120"/>
              </a:rPr>
              <a:t>  k8s/                namespace, StorageClass</a:t>
            </a:r>
            <a:endParaRPr lang="en-US" sz="1200" dirty="0"/>
          </a:p>
          <a:p>
            <a:pPr marL="0" indent="0">
              <a:spcAft>
                <a:spcPts val="300"/>
              </a:spcAft>
              <a:buNone/>
            </a:pPr>
            <a:r>
              <a:rPr lang="en-US" sz="1200" dirty="0">
                <a:solidFill>
                  <a:schemeClr val="bg1"/>
                </a:solidFill>
                <a:latin typeface="Courier New" pitchFamily="34" charset="0"/>
                <a:ea typeface="Courier New" pitchFamily="34" charset="-122"/>
                <a:cs typeface="Courier New" pitchFamily="34" charset="-120"/>
              </a:rPr>
              <a:t>  monitoring/         Prometheus, Grafana</a:t>
            </a:r>
            <a:endParaRPr lang="en-US" sz="1200" dirty="0"/>
          </a:p>
          <a:p>
            <a:pPr marL="0" indent="0">
              <a:spcAft>
                <a:spcPts val="300"/>
              </a:spcAft>
              <a:buNone/>
            </a:pPr>
            <a:r>
              <a:rPr lang="en-US" sz="1200" dirty="0">
                <a:solidFill>
                  <a:schemeClr val="bg1"/>
                </a:solidFill>
                <a:latin typeface="Courier New" pitchFamily="34" charset="0"/>
                <a:ea typeface="Courier New" pitchFamily="34" charset="-122"/>
                <a:cs typeface="Courier New" pitchFamily="34" charset="-120"/>
              </a:rPr>
              <a:t>  troubleshooting/    two broken manifests</a:t>
            </a:r>
            <a:endParaRPr lang="en-US" sz="1200" dirty="0"/>
          </a:p>
          <a:p>
            <a:pPr marL="0" indent="0">
              <a:spcAft>
                <a:spcPts val="300"/>
              </a:spcAft>
              <a:buNone/>
            </a:pPr>
            <a:r>
              <a:rPr lang="en-US" sz="1200" dirty="0">
                <a:solidFill>
                  <a:schemeClr val="bg1"/>
                </a:solidFill>
                <a:latin typeface="Courier New" pitchFamily="34" charset="0"/>
                <a:ea typeface="Courier New" pitchFamily="34" charset="-122"/>
                <a:cs typeface="Courier New" pitchFamily="34" charset="-120"/>
              </a:rPr>
              <a:t>  scripts/            seed, kind, load test</a:t>
            </a:r>
            <a:endParaRPr lang="en-US" sz="1200" dirty="0"/>
          </a:p>
          <a:p>
            <a:pPr marL="0" indent="0">
              <a:spcAft>
                <a:spcPts val="300"/>
              </a:spcAft>
              <a:buNone/>
            </a:pPr>
            <a:r>
              <a:rPr lang="en-US" sz="1200" dirty="0">
                <a:solidFill>
                  <a:schemeClr val="bg1"/>
                </a:solidFill>
                <a:latin typeface="Courier New" pitchFamily="34" charset="0"/>
                <a:ea typeface="Courier New" pitchFamily="34" charset="-122"/>
                <a:cs typeface="Courier New" pitchFamily="34" charset="-120"/>
              </a:rPr>
              <a:t>  .github/workflows/  ci-cd.yml</a:t>
            </a:r>
            <a:endParaRPr lang="en-US" sz="1200" dirty="0"/>
          </a:p>
          <a:p>
            <a:pPr marL="0" indent="0">
              <a:spcAft>
                <a:spcPts val="300"/>
              </a:spcAft>
              <a:buNone/>
            </a:pPr>
            <a:r>
              <a:rPr lang="en-US" sz="1200" dirty="0">
                <a:solidFill>
                  <a:schemeClr val="bg1"/>
                </a:solidFill>
                <a:latin typeface="Courier New" pitchFamily="34" charset="0"/>
                <a:ea typeface="Courier New" pitchFamily="34" charset="-122"/>
                <a:cs typeface="Courier New" pitchFamily="34" charset="-120"/>
              </a:rPr>
              <a:t>  docker-compose.yml</a:t>
            </a:r>
            <a:endParaRPr lang="en-US" sz="1200" dirty="0"/>
          </a:p>
        </p:txBody>
      </p:sp>
      <p:sp>
        <p:nvSpPr>
          <p:cNvPr id="7" name="Text 4"/>
          <p:cNvSpPr txBox="1"/>
          <p:nvPr/>
        </p:nvSpPr>
        <p:spPr>
          <a:xfrm>
            <a:off x="5852160" y="1188720"/>
            <a:ext cx="2834640" cy="201168"/>
          </a:xfrm>
          <a:prstGeom prst="rect">
            <a:avLst/>
          </a:prstGeom>
          <a:noFill/>
          <a:ln/>
        </p:spPr>
        <p:txBody>
          <a:bodyPr wrap="square" lIns="0" tIns="0" rIns="0" bIns="0" rtlCol="0" anchor="t"/>
          <a:lstStyle/>
          <a:p>
            <a:pPr marL="0" indent="0">
              <a:buNone/>
            </a:pPr>
            <a:r>
              <a:rPr lang="en-US" sz="1000" b="1" kern="0" spc="300" dirty="0">
                <a:solidFill>
                  <a:schemeClr val="tx2"/>
                </a:solidFill>
              </a:rPr>
              <a:t>RUN IT LOCALLY</a:t>
            </a:r>
            <a:endParaRPr lang="en-US" sz="1000" dirty="0"/>
          </a:p>
        </p:txBody>
      </p:sp>
      <p:sp>
        <p:nvSpPr>
          <p:cNvPr id="8" name="code card"/>
          <p:cNvSpPr/>
          <p:nvPr/>
        </p:nvSpPr>
        <p:spPr>
          <a:xfrm>
            <a:off x="5852160" y="1508760"/>
            <a:ext cx="2834640" cy="1554480"/>
          </a:xfrm>
          <a:prstGeom prst="roundRect">
            <a:avLst>
              <a:gd name="adj" fmla="val 3529"/>
            </a:avLst>
          </a:prstGeom>
          <a:solidFill>
            <a:schemeClr val="tx1"/>
          </a:solidFill>
          <a:ln/>
        </p:spPr>
      </p:sp>
      <p:sp>
        <p:nvSpPr>
          <p:cNvPr id="9" name="Text 6"/>
          <p:cNvSpPr txBox="1"/>
          <p:nvPr/>
        </p:nvSpPr>
        <p:spPr>
          <a:xfrm>
            <a:off x="5989320" y="1600200"/>
            <a:ext cx="2560320" cy="1371600"/>
          </a:xfrm>
          <a:prstGeom prst="rect">
            <a:avLst/>
          </a:prstGeom>
          <a:noFill/>
          <a:ln/>
        </p:spPr>
        <p:txBody>
          <a:bodyPr wrap="square" lIns="0" tIns="0" rIns="0" bIns="0" rtlCol="0" anchor="t"/>
          <a:lstStyle/>
          <a:p>
            <a:pPr marL="0" indent="0">
              <a:spcAft>
                <a:spcPts val="300"/>
              </a:spcAft>
              <a:buNone/>
            </a:pPr>
            <a:r>
              <a:rPr lang="en-US" sz="1200" dirty="0">
                <a:solidFill>
                  <a:schemeClr val="bg1"/>
                </a:solidFill>
                <a:latin typeface="Courier New" pitchFamily="34" charset="0"/>
                <a:ea typeface="Courier New" pitchFamily="34" charset="-122"/>
                <a:cs typeface="Courier New" pitchFamily="34" charset="-120"/>
              </a:rPr>
              <a:t>docker compose up --build</a:t>
            </a:r>
            <a:endParaRPr lang="en-US" sz="1200" dirty="0"/>
          </a:p>
          <a:p>
            <a:pPr marL="0" indent="0">
              <a:spcAft>
                <a:spcPts val="300"/>
              </a:spcAft>
              <a:buNone/>
            </a:pPr>
            <a:r>
              <a:rPr lang="en-US" sz="1200" dirty="0">
                <a:solidFill>
                  <a:schemeClr val="accent5"/>
                </a:solidFill>
                <a:latin typeface="Courier New" pitchFamily="34" charset="0"/>
                <a:ea typeface="Courier New" pitchFamily="34" charset="-122"/>
                <a:cs typeface="Courier New" pitchFamily="34" charset="-120"/>
              </a:rPr>
              <a:t># app on localhost:3000</a:t>
            </a:r>
            <a:endParaRPr lang="en-US" sz="1200" dirty="0"/>
          </a:p>
          <a:p>
            <a:pPr marL="0" indent="0">
              <a:spcAft>
                <a:spcPts val="300"/>
              </a:spcAft>
              <a:buNone/>
            </a:pPr>
            <a:r>
              <a:rPr lang="en-US" sz="1200" dirty="0">
                <a:solidFill>
                  <a:schemeClr val="bg1"/>
                </a:solidFill>
                <a:latin typeface="Courier New" pitchFamily="34" charset="0"/>
                <a:ea typeface="Courier New" pitchFamily="34" charset="-122"/>
                <a:cs typeface="Courier New" pitchFamily="34" charset="-120"/>
              </a:rPr>
              <a:t>cd backend &amp;&amp; pytest</a:t>
            </a:r>
            <a:endParaRPr lang="en-US" sz="1200" dirty="0"/>
          </a:p>
          <a:p>
            <a:pPr marL="0" indent="0">
              <a:spcAft>
                <a:spcPts val="300"/>
              </a:spcAft>
              <a:buNone/>
            </a:pPr>
            <a:r>
              <a:rPr lang="en-US" sz="1200" dirty="0">
                <a:solidFill>
                  <a:schemeClr val="accent5"/>
                </a:solidFill>
                <a:latin typeface="Courier New" pitchFamily="34" charset="0"/>
                <a:ea typeface="Courier New" pitchFamily="34" charset="-122"/>
                <a:cs typeface="Courier New" pitchFamily="34" charset="-120"/>
              </a:rPr>
              <a:t># 24 tests</a:t>
            </a:r>
            <a:endParaRPr lang="en-US" sz="1200" dirty="0"/>
          </a:p>
        </p:txBody>
      </p:sp>
      <p:sp>
        <p:nvSpPr>
          <p:cNvPr id="10" name="Text 7"/>
          <p:cNvSpPr txBox="1"/>
          <p:nvPr/>
        </p:nvSpPr>
        <p:spPr>
          <a:xfrm>
            <a:off x="5852160" y="3337560"/>
            <a:ext cx="2834640" cy="914400"/>
          </a:xfrm>
          <a:prstGeom prst="rect">
            <a:avLst/>
          </a:prstGeom>
          <a:noFill/>
          <a:ln/>
        </p:spPr>
        <p:txBody>
          <a:bodyPr wrap="square" lIns="0" tIns="0" rIns="0" bIns="0" rtlCol="0" anchor="t"/>
          <a:lstStyle/>
          <a:p>
            <a:pPr marL="0" indent="0">
              <a:buNone/>
            </a:pPr>
            <a:r>
              <a:rPr lang="en-US" sz="1400" dirty="0">
                <a:solidFill>
                  <a:schemeClr val="tx2"/>
                </a:solidFill>
              </a:rPr>
              <a:t>The same code runs locally, on a kind cluster, and on EKS.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182880"/>
            <a:ext cx="365760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SHIP</a:t>
            </a:r>
            <a:endParaRPr lang="en-US" sz="1000" dirty="0"/>
          </a:p>
        </p:txBody>
      </p:sp>
      <p:sp>
        <p:nvSpPr>
          <p:cNvPr id="3" name="Text 0"/>
          <p:cNvSpPr>
            <a:spLocks noGrp="1"/>
          </p:cNvSpPr>
          <p:nvPr>
            <p:ph type="title" idx="100" hasCustomPrompt="1"/>
          </p:nvPr>
        </p:nvSpPr>
        <p:spPr>
          <a:xfrm>
            <a:off x="457200" y="384048"/>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Every push runs the same gates</a:t>
            </a:r>
            <a:endParaRPr lang="en-US" sz="2800" dirty="0"/>
          </a:p>
        </p:txBody>
      </p:sp>
      <p:sp>
        <p:nvSpPr>
          <p:cNvPr id="5" name="job dot 1"/>
          <p:cNvSpPr/>
          <p:nvPr/>
        </p:nvSpPr>
        <p:spPr>
          <a:xfrm>
            <a:off x="457200" y="1234440"/>
            <a:ext cx="365760" cy="365760"/>
          </a:xfrm>
          <a:prstGeom prst="ellipse">
            <a:avLst/>
          </a:prstGeom>
          <a:solidFill>
            <a:schemeClr val="accent1"/>
          </a:solidFill>
          <a:ln/>
        </p:spPr>
      </p:sp>
      <p:sp>
        <p:nvSpPr>
          <p:cNvPr id="6" name="Text 3"/>
          <p:cNvSpPr txBox="1"/>
          <p:nvPr/>
        </p:nvSpPr>
        <p:spPr>
          <a:xfrm>
            <a:off x="457200" y="123444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Text 4"/>
          <p:cNvSpPr txBox="1"/>
          <p:nvPr/>
        </p:nvSpPr>
        <p:spPr>
          <a:xfrm>
            <a:off x="960120" y="1188720"/>
            <a:ext cx="1920240" cy="502920"/>
          </a:xfrm>
          <a:prstGeom prst="rect">
            <a:avLst/>
          </a:prstGeom>
          <a:noFill/>
          <a:ln/>
        </p:spPr>
        <p:txBody>
          <a:bodyPr wrap="square" lIns="0" tIns="0" rIns="0" bIns="0" rtlCol="0" anchor="ctr"/>
          <a:lstStyle/>
          <a:p>
            <a:pPr marL="0" indent="0">
              <a:buNone/>
            </a:pPr>
            <a:r>
              <a:rPr lang="en-US" sz="1400" b="1" dirty="0">
                <a:solidFill>
                  <a:schemeClr val="tx1"/>
                </a:solidFill>
              </a:rPr>
              <a:t>test</a:t>
            </a:r>
            <a:endParaRPr lang="en-US" sz="1400" dirty="0"/>
          </a:p>
          <a:p>
            <a:pPr marL="0" indent="0">
              <a:buNone/>
            </a:pPr>
            <a:r>
              <a:rPr lang="en-US" sz="1200" dirty="0">
                <a:solidFill>
                  <a:schemeClr val="tx2"/>
                </a:solidFill>
              </a:rPr>
              <a:t>ruff, pytest, build</a:t>
            </a:r>
            <a:endParaRPr lang="en-US" sz="1400" dirty="0"/>
          </a:p>
        </p:txBody>
      </p:sp>
      <p:sp>
        <p:nvSpPr>
          <p:cNvPr id="8" name="job dot 2"/>
          <p:cNvSpPr/>
          <p:nvPr/>
        </p:nvSpPr>
        <p:spPr>
          <a:xfrm>
            <a:off x="457200" y="1892808"/>
            <a:ext cx="365760" cy="365760"/>
          </a:xfrm>
          <a:prstGeom prst="ellipse">
            <a:avLst/>
          </a:prstGeom>
          <a:solidFill>
            <a:schemeClr val="accent1"/>
          </a:solidFill>
          <a:ln/>
        </p:spPr>
      </p:sp>
      <p:sp>
        <p:nvSpPr>
          <p:cNvPr id="9" name="Text 6"/>
          <p:cNvSpPr txBox="1"/>
          <p:nvPr/>
        </p:nvSpPr>
        <p:spPr>
          <a:xfrm>
            <a:off x="457200" y="1892808"/>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0" name="Text 7"/>
          <p:cNvSpPr txBox="1"/>
          <p:nvPr/>
        </p:nvSpPr>
        <p:spPr>
          <a:xfrm>
            <a:off x="960120" y="1847088"/>
            <a:ext cx="1920240" cy="502920"/>
          </a:xfrm>
          <a:prstGeom prst="rect">
            <a:avLst/>
          </a:prstGeom>
          <a:noFill/>
          <a:ln/>
        </p:spPr>
        <p:txBody>
          <a:bodyPr wrap="square" lIns="0" tIns="0" rIns="0" bIns="0" rtlCol="0" anchor="ctr"/>
          <a:lstStyle/>
          <a:p>
            <a:pPr marL="0" indent="0">
              <a:buNone/>
            </a:pPr>
            <a:r>
              <a:rPr lang="en-US" sz="1400" b="1" dirty="0">
                <a:solidFill>
                  <a:schemeClr val="tx1"/>
                </a:solidFill>
              </a:rPr>
              <a:t>terraform-validate</a:t>
            </a:r>
            <a:endParaRPr lang="en-US" sz="1400" dirty="0"/>
          </a:p>
          <a:p>
            <a:pPr marL="0" indent="0">
              <a:buNone/>
            </a:pPr>
            <a:r>
              <a:rPr lang="en-US" sz="1200" dirty="0">
                <a:solidFill>
                  <a:schemeClr val="tx2"/>
                </a:solidFill>
              </a:rPr>
              <a:t>init, validate</a:t>
            </a:r>
            <a:endParaRPr lang="en-US" sz="1400" dirty="0"/>
          </a:p>
        </p:txBody>
      </p:sp>
      <p:sp>
        <p:nvSpPr>
          <p:cNvPr id="11" name="job dot 3"/>
          <p:cNvSpPr/>
          <p:nvPr/>
        </p:nvSpPr>
        <p:spPr>
          <a:xfrm>
            <a:off x="457200" y="2551176"/>
            <a:ext cx="365760" cy="365760"/>
          </a:xfrm>
          <a:prstGeom prst="ellipse">
            <a:avLst/>
          </a:prstGeom>
          <a:solidFill>
            <a:schemeClr val="accent1"/>
          </a:solidFill>
          <a:ln/>
        </p:spPr>
      </p:sp>
      <p:sp>
        <p:nvSpPr>
          <p:cNvPr id="12" name="Text 9"/>
          <p:cNvSpPr txBox="1"/>
          <p:nvPr/>
        </p:nvSpPr>
        <p:spPr>
          <a:xfrm>
            <a:off x="457200" y="2551176"/>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3" name="Text 10"/>
          <p:cNvSpPr txBox="1"/>
          <p:nvPr/>
        </p:nvSpPr>
        <p:spPr>
          <a:xfrm>
            <a:off x="960120" y="2505456"/>
            <a:ext cx="1920240" cy="502920"/>
          </a:xfrm>
          <a:prstGeom prst="rect">
            <a:avLst/>
          </a:prstGeom>
          <a:noFill/>
          <a:ln/>
        </p:spPr>
        <p:txBody>
          <a:bodyPr wrap="square" lIns="0" tIns="0" rIns="0" bIns="0" rtlCol="0" anchor="ctr"/>
          <a:lstStyle/>
          <a:p>
            <a:pPr marL="0" indent="0">
              <a:buNone/>
            </a:pPr>
            <a:r>
              <a:rPr lang="en-US" sz="1400" b="1" dirty="0">
                <a:solidFill>
                  <a:schemeClr val="tx1"/>
                </a:solidFill>
              </a:rPr>
              <a:t>helm-lint</a:t>
            </a:r>
            <a:endParaRPr lang="en-US" sz="1400" dirty="0"/>
          </a:p>
          <a:p>
            <a:pPr marL="0" indent="0">
              <a:buNone/>
            </a:pPr>
            <a:r>
              <a:rPr lang="en-US" sz="1200" dirty="0">
                <a:solidFill>
                  <a:schemeClr val="tx2"/>
                </a:solidFill>
              </a:rPr>
              <a:t>lint, render</a:t>
            </a:r>
            <a:endParaRPr lang="en-US" sz="1400" dirty="0"/>
          </a:p>
        </p:txBody>
      </p:sp>
      <p:sp>
        <p:nvSpPr>
          <p:cNvPr id="14" name="job dot 4"/>
          <p:cNvSpPr/>
          <p:nvPr/>
        </p:nvSpPr>
        <p:spPr>
          <a:xfrm>
            <a:off x="457200" y="3209544"/>
            <a:ext cx="365760" cy="365760"/>
          </a:xfrm>
          <a:prstGeom prst="ellipse">
            <a:avLst/>
          </a:prstGeom>
          <a:solidFill>
            <a:schemeClr val="accent1"/>
          </a:solidFill>
          <a:ln/>
        </p:spPr>
      </p:sp>
      <p:sp>
        <p:nvSpPr>
          <p:cNvPr id="15" name="Text 12"/>
          <p:cNvSpPr txBox="1"/>
          <p:nvPr/>
        </p:nvSpPr>
        <p:spPr>
          <a:xfrm>
            <a:off x="457200" y="3209544"/>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6" name="Text 13"/>
          <p:cNvSpPr txBox="1"/>
          <p:nvPr/>
        </p:nvSpPr>
        <p:spPr>
          <a:xfrm>
            <a:off x="960120" y="3163824"/>
            <a:ext cx="1920240" cy="502920"/>
          </a:xfrm>
          <a:prstGeom prst="rect">
            <a:avLst/>
          </a:prstGeom>
          <a:noFill/>
          <a:ln/>
        </p:spPr>
        <p:txBody>
          <a:bodyPr wrap="square" lIns="0" tIns="0" rIns="0" bIns="0" rtlCol="0" anchor="ctr"/>
          <a:lstStyle/>
          <a:p>
            <a:pPr marL="0" indent="0">
              <a:buNone/>
            </a:pPr>
            <a:r>
              <a:rPr lang="en-US" sz="1400" b="1" dirty="0">
                <a:solidFill>
                  <a:schemeClr val="tx1"/>
                </a:solidFill>
              </a:rPr>
              <a:t>build-scan-push</a:t>
            </a:r>
            <a:endParaRPr lang="en-US" sz="1400" dirty="0"/>
          </a:p>
          <a:p>
            <a:pPr marL="0" indent="0">
              <a:buNone/>
            </a:pPr>
            <a:r>
              <a:rPr lang="en-US" sz="1200" dirty="0">
                <a:solidFill>
                  <a:schemeClr val="tx2"/>
                </a:solidFill>
              </a:rPr>
              <a:t>matrix: 2 images</a:t>
            </a:r>
            <a:endParaRPr lang="en-US" sz="1400" dirty="0"/>
          </a:p>
        </p:txBody>
      </p:sp>
      <p:sp>
        <p:nvSpPr>
          <p:cNvPr id="17" name="job dot 5"/>
          <p:cNvSpPr/>
          <p:nvPr/>
        </p:nvSpPr>
        <p:spPr>
          <a:xfrm>
            <a:off x="457200" y="3867912"/>
            <a:ext cx="365760" cy="365760"/>
          </a:xfrm>
          <a:prstGeom prst="ellipse">
            <a:avLst/>
          </a:prstGeom>
          <a:solidFill>
            <a:schemeClr val="accent2"/>
          </a:solidFill>
          <a:ln/>
        </p:spPr>
      </p:sp>
      <p:sp>
        <p:nvSpPr>
          <p:cNvPr id="18" name="Text 15"/>
          <p:cNvSpPr txBox="1"/>
          <p:nvPr/>
        </p:nvSpPr>
        <p:spPr>
          <a:xfrm>
            <a:off x="457200" y="3867912"/>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19" name="Text 16"/>
          <p:cNvSpPr txBox="1"/>
          <p:nvPr/>
        </p:nvSpPr>
        <p:spPr>
          <a:xfrm>
            <a:off x="960120" y="3822192"/>
            <a:ext cx="1920240" cy="502920"/>
          </a:xfrm>
          <a:prstGeom prst="rect">
            <a:avLst/>
          </a:prstGeom>
          <a:noFill/>
          <a:ln/>
        </p:spPr>
        <p:txBody>
          <a:bodyPr wrap="square" lIns="0" tIns="0" rIns="0" bIns="0" rtlCol="0" anchor="ctr"/>
          <a:lstStyle/>
          <a:p>
            <a:pPr marL="0" indent="0">
              <a:buNone/>
            </a:pPr>
            <a:r>
              <a:rPr lang="en-US" sz="1400" b="1" dirty="0">
                <a:solidFill>
                  <a:schemeClr val="tx1"/>
                </a:solidFill>
              </a:rPr>
              <a:t>deploy</a:t>
            </a:r>
            <a:endParaRPr lang="en-US" sz="1400" dirty="0"/>
          </a:p>
          <a:p>
            <a:pPr marL="0" indent="0">
              <a:buNone/>
            </a:pPr>
            <a:r>
              <a:rPr lang="en-US" sz="1200" dirty="0">
                <a:solidFill>
                  <a:schemeClr val="tx2"/>
                </a:solidFill>
              </a:rPr>
              <a:t>helm to EKS</a:t>
            </a:r>
            <a:endParaRPr lang="en-US" sz="1400" dirty="0"/>
          </a:p>
        </p:txBody>
      </p:sp>
      <p:sp>
        <p:nvSpPr>
          <p:cNvPr id="20" name="Text 17"/>
          <p:cNvSpPr txBox="1"/>
          <p:nvPr/>
        </p:nvSpPr>
        <p:spPr>
          <a:xfrm>
            <a:off x="3108960" y="3977640"/>
            <a:ext cx="5577840" cy="457200"/>
          </a:xfrm>
          <a:prstGeom prst="rect">
            <a:avLst/>
          </a:prstGeom>
          <a:noFill/>
          <a:ln/>
        </p:spPr>
        <p:txBody>
          <a:bodyPr wrap="square" lIns="0" tIns="0" rIns="0" bIns="0" rtlCol="0" anchor="t"/>
          <a:lstStyle/>
          <a:p>
            <a:pPr marL="0" indent="0">
              <a:buNone/>
            </a:pPr>
            <a:r>
              <a:rPr lang="en-US" sz="1300" b="1" dirty="0">
                <a:solidFill>
                  <a:schemeClr val="accent1"/>
                </a:solidFill>
              </a:rPr>
              <a:t>Look for  </a:t>
            </a:r>
            <a:r>
              <a:rPr lang="en-US" sz="1300" dirty="0">
                <a:solidFill>
                  <a:schemeClr val="tx2"/>
                </a:solidFill>
              </a:rPr>
              <a:t>Status Success, 1m 18s, and Deploy to EKS shown as skipped because DEPLOY_ENABLED was off.</a:t>
            </a:r>
            <a:endParaRPr lang="en-US" sz="1300" dirty="0"/>
          </a:p>
        </p:txBody>
      </p:sp>
      <p:pic>
        <p:nvPicPr>
          <p:cNvPr id="21" name="Image 0" descr="Actions run #14: every gate green in 1m 18s (deploy gated by DEPLOY_ENABLED)"/>
          <p:cNvPicPr>
            <a:picLocks noChangeAspect="1"/>
          </p:cNvPicPr>
          <p:nvPr/>
        </p:nvPicPr>
        <p:blipFill>
          <a:blip r:embed="rId3"/>
          <a:stretch>
            <a:fillRect/>
          </a:stretch>
        </p:blipFill>
        <p:spPr>
          <a:xfrm>
            <a:off x="3108960" y="1188720"/>
            <a:ext cx="5577840" cy="2473651"/>
          </a:xfrm>
          <a:prstGeom prst="rect">
            <a:avLst/>
          </a:prstGeom>
        </p:spPr>
      </p:pic>
      <p:sp>
        <p:nvSpPr>
          <p:cNvPr id="22" name="Frame: Actions run #14: every gate green in 1m 18s (deploy gated by DEPLOY_ENABLED)"/>
          <p:cNvSpPr/>
          <p:nvPr/>
        </p:nvSpPr>
        <p:spPr>
          <a:xfrm>
            <a:off x="3108960" y="1188720"/>
            <a:ext cx="5577840" cy="2473651"/>
          </a:xfrm>
          <a:prstGeom prst="rect">
            <a:avLst/>
          </a:prstGeom>
          <a:solidFill>
            <a:schemeClr val="bg1">
              <a:alpha val="0"/>
            </a:schemeClr>
          </a:solidFill>
          <a:ln w="9525">
            <a:solidFill>
              <a:schemeClr val="accent5"/>
            </a:solidFill>
            <a:prstDash val="solid"/>
          </a:ln>
        </p:spPr>
      </p:sp>
      <p:sp>
        <p:nvSpPr>
          <p:cNvPr id="23" name="Text 19"/>
          <p:cNvSpPr txBox="1"/>
          <p:nvPr/>
        </p:nvSpPr>
        <p:spPr>
          <a:xfrm>
            <a:off x="3108960" y="3717235"/>
            <a:ext cx="5577840" cy="201168"/>
          </a:xfrm>
          <a:prstGeom prst="rect">
            <a:avLst/>
          </a:prstGeom>
          <a:noFill/>
          <a:ln/>
        </p:spPr>
        <p:txBody>
          <a:bodyPr wrap="square" lIns="0" tIns="0" rIns="0" bIns="0" rtlCol="0" anchor="t"/>
          <a:lstStyle/>
          <a:p>
            <a:pPr marL="0" indent="0">
              <a:buNone/>
            </a:pPr>
            <a:r>
              <a:rPr lang="en-US" sz="1000" i="1" dirty="0">
                <a:solidFill>
                  <a:schemeClr val="tx2"/>
                </a:solidFill>
              </a:rPr>
              <a:t>Actions run #14: every gate green in 1m 18s (deploy gated by DEPLOY_ENABLED)</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182880"/>
            <a:ext cx="365760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SHIP</a:t>
            </a:r>
            <a:endParaRPr lang="en-US" sz="1000" dirty="0"/>
          </a:p>
        </p:txBody>
      </p:sp>
      <p:sp>
        <p:nvSpPr>
          <p:cNvPr id="3" name="Text 0"/>
          <p:cNvSpPr>
            <a:spLocks noGrp="1"/>
          </p:cNvSpPr>
          <p:nvPr>
            <p:ph type="title" idx="100" hasCustomPrompt="1"/>
          </p:nvPr>
        </p:nvSpPr>
        <p:spPr>
          <a:xfrm>
            <a:off x="457200" y="384048"/>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Nothing vulnerable reaches the registry</a:t>
            </a:r>
            <a:endParaRPr lang="en-US" sz="2800" dirty="0"/>
          </a:p>
        </p:txBody>
      </p:sp>
      <p:sp>
        <p:nvSpPr>
          <p:cNvPr id="5" name="story card"/>
          <p:cNvSpPr/>
          <p:nvPr/>
        </p:nvSpPr>
        <p:spPr>
          <a:xfrm>
            <a:off x="457200" y="1188720"/>
            <a:ext cx="2926080" cy="3200400"/>
          </a:xfrm>
          <a:prstGeom prst="roundRect">
            <a:avLst>
              <a:gd name="adj" fmla="val 2500"/>
            </a:avLst>
          </a:prstGeom>
          <a:solidFill>
            <a:schemeClr val="bg2"/>
          </a:solidFill>
          <a:ln/>
        </p:spPr>
      </p:sp>
      <p:sp>
        <p:nvSpPr>
          <p:cNvPr id="6" name="Text 3"/>
          <p:cNvSpPr txBox="1"/>
          <p:nvPr/>
        </p:nvSpPr>
        <p:spPr>
          <a:xfrm>
            <a:off x="640080" y="1325880"/>
            <a:ext cx="2560320" cy="274320"/>
          </a:xfrm>
          <a:prstGeom prst="rect">
            <a:avLst/>
          </a:prstGeom>
          <a:noFill/>
          <a:ln/>
        </p:spPr>
        <p:txBody>
          <a:bodyPr wrap="square" lIns="0" tIns="0" rIns="0" bIns="0" rtlCol="0" anchor="t"/>
          <a:lstStyle/>
          <a:p>
            <a:pPr marL="0" indent="0">
              <a:buNone/>
            </a:pPr>
            <a:r>
              <a:rPr lang="en-US" sz="1600" b="1" dirty="0">
                <a:solidFill>
                  <a:schemeClr val="tx1"/>
                </a:solidFill>
              </a:rPr>
              <a:t>What happened</a:t>
            </a:r>
            <a:endParaRPr lang="en-US" sz="1600" dirty="0"/>
          </a:p>
        </p:txBody>
      </p:sp>
      <p:sp>
        <p:nvSpPr>
          <p:cNvPr id="7" name="Text 4"/>
          <p:cNvSpPr txBox="1"/>
          <p:nvPr/>
        </p:nvSpPr>
        <p:spPr>
          <a:xfrm>
            <a:off x="640080" y="1691640"/>
            <a:ext cx="2560320" cy="265176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chemeClr val="tx1"/>
                </a:solidFill>
              </a:rPr>
              <a:t>First scan failed on HIGH findings</a:t>
            </a:r>
            <a:endParaRPr lang="en-US" sz="1300" dirty="0"/>
          </a:p>
          <a:p>
            <a:pPr marL="177800" indent="-177800">
              <a:spcAft>
                <a:spcPts val="800"/>
              </a:spcAft>
              <a:buSzPct val="100000"/>
              <a:buChar char="•"/>
            </a:pPr>
            <a:r>
              <a:rPr lang="en-US" sz="1300" dirty="0">
                <a:solidFill>
                  <a:schemeClr val="tx1"/>
                </a:solidFill>
              </a:rPr>
              <a:t>All inside libraries vendored in pip</a:t>
            </a:r>
            <a:endParaRPr lang="en-US" sz="1300" dirty="0"/>
          </a:p>
          <a:p>
            <a:pPr marL="177800" indent="-177800">
              <a:spcAft>
                <a:spcPts val="800"/>
              </a:spcAft>
              <a:buSzPct val="100000"/>
              <a:buChar char="•"/>
            </a:pPr>
            <a:r>
              <a:rPr lang="en-US" sz="1300" dirty="0">
                <a:solidFill>
                  <a:schemeClr val="tx1"/>
                </a:solidFill>
              </a:rPr>
              <a:t>Fix: remove pip, setuptools, wheel from the runtime image</a:t>
            </a:r>
            <a:endParaRPr lang="en-US" sz="1300" dirty="0"/>
          </a:p>
          <a:p>
            <a:pPr marL="177800" indent="-177800">
              <a:spcAft>
                <a:spcPts val="800"/>
              </a:spcAft>
              <a:buSzPct val="100000"/>
              <a:buChar char="•"/>
            </a:pPr>
            <a:r>
              <a:rPr lang="en-US" sz="1300" dirty="0">
                <a:solidFill>
                  <a:schemeClr val="tx1"/>
                </a:solidFill>
              </a:rPr>
              <a:t>Gate: HIGH and CRITICAL, fixed only</a:t>
            </a:r>
            <a:endParaRPr lang="en-US" sz="1300" dirty="0"/>
          </a:p>
        </p:txBody>
      </p:sp>
      <p:pic>
        <p:nvPicPr>
          <p:cNvPr id="8" name="Image 0" descr="Backend job: Trivy scan step succeeded, then image pushed"/>
          <p:cNvPicPr>
            <a:picLocks noChangeAspect="1"/>
          </p:cNvPicPr>
          <p:nvPr/>
        </p:nvPicPr>
        <p:blipFill>
          <a:blip r:embed="rId3"/>
          <a:stretch>
            <a:fillRect/>
          </a:stretch>
        </p:blipFill>
        <p:spPr>
          <a:xfrm>
            <a:off x="3566160" y="1188720"/>
            <a:ext cx="5120640" cy="2898140"/>
          </a:xfrm>
          <a:prstGeom prst="rect">
            <a:avLst/>
          </a:prstGeom>
        </p:spPr>
      </p:pic>
      <p:sp>
        <p:nvSpPr>
          <p:cNvPr id="9" name="Frame: Backend job: Trivy scan step succeeded, then image pushed"/>
          <p:cNvSpPr/>
          <p:nvPr/>
        </p:nvSpPr>
        <p:spPr>
          <a:xfrm>
            <a:off x="3566160" y="1188720"/>
            <a:ext cx="5120640" cy="2898140"/>
          </a:xfrm>
          <a:prstGeom prst="rect">
            <a:avLst/>
          </a:prstGeom>
          <a:solidFill>
            <a:schemeClr val="bg1">
              <a:alpha val="0"/>
            </a:schemeClr>
          </a:solidFill>
          <a:ln w="9525">
            <a:solidFill>
              <a:schemeClr val="accent5"/>
            </a:solidFill>
            <a:prstDash val="solid"/>
          </a:ln>
        </p:spPr>
      </p:sp>
      <p:sp>
        <p:nvSpPr>
          <p:cNvPr id="10" name="Text 6"/>
          <p:cNvSpPr txBox="1"/>
          <p:nvPr/>
        </p:nvSpPr>
        <p:spPr>
          <a:xfrm>
            <a:off x="3566160" y="4141724"/>
            <a:ext cx="5120640" cy="201168"/>
          </a:xfrm>
          <a:prstGeom prst="rect">
            <a:avLst/>
          </a:prstGeom>
          <a:noFill/>
          <a:ln/>
        </p:spPr>
        <p:txBody>
          <a:bodyPr wrap="square" lIns="0" tIns="0" rIns="0" bIns="0" rtlCol="0" anchor="t"/>
          <a:lstStyle/>
          <a:p>
            <a:pPr marL="0" indent="0">
              <a:buNone/>
            </a:pPr>
            <a:r>
              <a:rPr lang="en-US" sz="1000" i="1" dirty="0">
                <a:solidFill>
                  <a:schemeClr val="tx2"/>
                </a:solidFill>
              </a:rPr>
              <a:t>Backend job: Trivy scan step succeeded, then image pushed</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182880"/>
            <a:ext cx="365760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SHIP</a:t>
            </a:r>
            <a:endParaRPr lang="en-US" sz="1000" dirty="0"/>
          </a:p>
        </p:txBody>
      </p:sp>
      <p:sp>
        <p:nvSpPr>
          <p:cNvPr id="3" name="Text 0"/>
          <p:cNvSpPr>
            <a:spLocks noGrp="1"/>
          </p:cNvSpPr>
          <p:nvPr>
            <p:ph type="title" idx="100" hasCustomPrompt="1"/>
          </p:nvPr>
        </p:nvSpPr>
        <p:spPr>
          <a:xfrm>
            <a:off x="457200" y="384048"/>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Every image is tagged with its commit</a:t>
            </a:r>
            <a:endParaRPr lang="en-US" sz="2800" dirty="0"/>
          </a:p>
        </p:txBody>
      </p:sp>
      <p:sp>
        <p:nvSpPr>
          <p:cNvPr id="5" name="code card"/>
          <p:cNvSpPr/>
          <p:nvPr/>
        </p:nvSpPr>
        <p:spPr>
          <a:xfrm>
            <a:off x="457200" y="1188720"/>
            <a:ext cx="8229600" cy="1005840"/>
          </a:xfrm>
          <a:prstGeom prst="roundRect">
            <a:avLst>
              <a:gd name="adj" fmla="val 5455"/>
            </a:avLst>
          </a:prstGeom>
          <a:solidFill>
            <a:schemeClr val="tx1"/>
          </a:solidFill>
          <a:ln/>
        </p:spPr>
      </p:sp>
      <p:sp>
        <p:nvSpPr>
          <p:cNvPr id="6" name="Text 3"/>
          <p:cNvSpPr txBox="1"/>
          <p:nvPr/>
        </p:nvSpPr>
        <p:spPr>
          <a:xfrm>
            <a:off x="594360" y="1280160"/>
            <a:ext cx="7955280" cy="822960"/>
          </a:xfrm>
          <a:prstGeom prst="rect">
            <a:avLst/>
          </a:prstGeom>
          <a:noFill/>
          <a:ln/>
        </p:spPr>
        <p:txBody>
          <a:bodyPr wrap="square" lIns="0" tIns="0" rIns="0" bIns="0" rtlCol="0" anchor="t"/>
          <a:lstStyle/>
          <a:p>
            <a:pPr marL="0" indent="0">
              <a:spcAft>
                <a:spcPts val="300"/>
              </a:spcAft>
              <a:buNone/>
            </a:pPr>
            <a:r>
              <a:rPr lang="en-US" sz="1400" dirty="0">
                <a:solidFill>
                  <a:schemeClr val="bg1"/>
                </a:solidFill>
                <a:latin typeface="Courier New" pitchFamily="34" charset="0"/>
                <a:ea typeface="Courier New" pitchFamily="34" charset="-122"/>
                <a:cs typeface="Courier New" pitchFamily="34" charset="-120"/>
              </a:rPr>
              <a:t>ghcr.io/samarth1-glitch/clinicq-backend:3875e4d</a:t>
            </a:r>
            <a:endParaRPr lang="en-US" sz="1400" dirty="0"/>
          </a:p>
          <a:p>
            <a:pPr marL="0" indent="0">
              <a:spcAft>
                <a:spcPts val="300"/>
              </a:spcAft>
              <a:buNone/>
            </a:pPr>
            <a:r>
              <a:rPr lang="en-US" sz="1400" dirty="0">
                <a:solidFill>
                  <a:schemeClr val="bg1"/>
                </a:solidFill>
                <a:latin typeface="Courier New" pitchFamily="34" charset="0"/>
                <a:ea typeface="Courier New" pitchFamily="34" charset="-122"/>
                <a:cs typeface="Courier New" pitchFamily="34" charset="-120"/>
              </a:rPr>
              <a:t>ghcr.io/samarth1-glitch/clinicq-frontend:3875e4d</a:t>
            </a:r>
            <a:endParaRPr lang="en-US" sz="1400" dirty="0"/>
          </a:p>
          <a:p>
            <a:pPr marL="0" indent="0">
              <a:spcAft>
                <a:spcPts val="300"/>
              </a:spcAft>
              <a:buNone/>
            </a:pPr>
            <a:r>
              <a:rPr lang="en-US" sz="1400" dirty="0">
                <a:solidFill>
                  <a:schemeClr val="accent5"/>
                </a:solidFill>
                <a:latin typeface="Courier New" pitchFamily="34" charset="0"/>
                <a:ea typeface="Courier New" pitchFamily="34" charset="-122"/>
                <a:cs typeface="Courier New" pitchFamily="34" charset="-120"/>
              </a:rPr>
              <a:t>tag = commit SHA (shown short)  |  no :latest</a:t>
            </a:r>
            <a:endParaRPr lang="en-US" sz="1400" dirty="0"/>
          </a:p>
        </p:txBody>
      </p:sp>
      <p:sp>
        <p:nvSpPr>
          <p:cNvPr id="7" name="benefit Traceable"/>
          <p:cNvSpPr/>
          <p:nvPr/>
        </p:nvSpPr>
        <p:spPr>
          <a:xfrm>
            <a:off x="457200" y="2514600"/>
            <a:ext cx="2651760" cy="1828800"/>
          </a:xfrm>
          <a:prstGeom prst="roundRect">
            <a:avLst>
              <a:gd name="adj" fmla="val 4000"/>
            </a:avLst>
          </a:prstGeom>
          <a:solidFill>
            <a:schemeClr val="bg2"/>
          </a:solidFill>
          <a:ln/>
        </p:spPr>
      </p:sp>
      <p:sp>
        <p:nvSpPr>
          <p:cNvPr id="8" name="Text 5"/>
          <p:cNvSpPr txBox="1"/>
          <p:nvPr/>
        </p:nvSpPr>
        <p:spPr>
          <a:xfrm>
            <a:off x="640080" y="2651760"/>
            <a:ext cx="457200" cy="457200"/>
          </a:xfrm>
          <a:prstGeom prst="rect">
            <a:avLst/>
          </a:prstGeom>
          <a:noFill/>
          <a:ln/>
        </p:spPr>
        <p:txBody>
          <a:bodyPr wrap="square" lIns="0" tIns="0" rIns="0" bIns="0" rtlCol="0" anchor="t"/>
          <a:lstStyle/>
          <a:p>
            <a:pPr marL="0" indent="0">
              <a:buNone/>
            </a:pPr>
            <a:r>
              <a:rPr lang="en-US" sz="2800" b="1" dirty="0">
                <a:solidFill>
                  <a:schemeClr val="accent2"/>
                </a:solidFill>
                <a:latin typeface="Cambria" pitchFamily="34" charset="0"/>
                <a:ea typeface="Cambria" pitchFamily="34" charset="-122"/>
                <a:cs typeface="Cambria" pitchFamily="34" charset="-120"/>
              </a:rPr>
              <a:t>1</a:t>
            </a:r>
            <a:endParaRPr lang="en-US" sz="2800" dirty="0"/>
          </a:p>
        </p:txBody>
      </p:sp>
      <p:sp>
        <p:nvSpPr>
          <p:cNvPr id="9" name="Text 6"/>
          <p:cNvSpPr txBox="1"/>
          <p:nvPr/>
        </p:nvSpPr>
        <p:spPr>
          <a:xfrm>
            <a:off x="640080" y="3246120"/>
            <a:ext cx="2286000" cy="274320"/>
          </a:xfrm>
          <a:prstGeom prst="rect">
            <a:avLst/>
          </a:prstGeom>
          <a:noFill/>
          <a:ln/>
        </p:spPr>
        <p:txBody>
          <a:bodyPr wrap="square" lIns="0" tIns="0" rIns="0" bIns="0" rtlCol="0" anchor="t"/>
          <a:lstStyle/>
          <a:p>
            <a:pPr marL="0" indent="0">
              <a:buNone/>
            </a:pPr>
            <a:r>
              <a:rPr lang="en-US" sz="1800" b="1" dirty="0">
                <a:solidFill>
                  <a:schemeClr val="tx1"/>
                </a:solidFill>
              </a:rPr>
              <a:t>Traceable</a:t>
            </a:r>
            <a:endParaRPr lang="en-US" sz="1800" dirty="0"/>
          </a:p>
        </p:txBody>
      </p:sp>
      <p:sp>
        <p:nvSpPr>
          <p:cNvPr id="10" name="Text 7"/>
          <p:cNvSpPr txBox="1"/>
          <p:nvPr/>
        </p:nvSpPr>
        <p:spPr>
          <a:xfrm>
            <a:off x="640080" y="3611880"/>
            <a:ext cx="2286000" cy="640080"/>
          </a:xfrm>
          <a:prstGeom prst="rect">
            <a:avLst/>
          </a:prstGeom>
          <a:noFill/>
          <a:ln/>
        </p:spPr>
        <p:txBody>
          <a:bodyPr wrap="square" lIns="0" tIns="0" rIns="0" bIns="0" rtlCol="0" anchor="t"/>
          <a:lstStyle/>
          <a:p>
            <a:pPr marL="0" indent="0">
              <a:buNone/>
            </a:pPr>
            <a:r>
              <a:rPr lang="en-US" sz="1400" dirty="0">
                <a:solidFill>
                  <a:schemeClr val="tx2"/>
                </a:solidFill>
              </a:rPr>
              <a:t>A running pod maps to one commit</a:t>
            </a:r>
            <a:endParaRPr lang="en-US" sz="1400" dirty="0"/>
          </a:p>
        </p:txBody>
      </p:sp>
      <p:sp>
        <p:nvSpPr>
          <p:cNvPr id="11" name="benefit Scanned first"/>
          <p:cNvSpPr/>
          <p:nvPr/>
        </p:nvSpPr>
        <p:spPr>
          <a:xfrm>
            <a:off x="3291840" y="2514600"/>
            <a:ext cx="2651760" cy="1828800"/>
          </a:xfrm>
          <a:prstGeom prst="roundRect">
            <a:avLst>
              <a:gd name="adj" fmla="val 4000"/>
            </a:avLst>
          </a:prstGeom>
          <a:solidFill>
            <a:schemeClr val="bg2"/>
          </a:solidFill>
          <a:ln/>
        </p:spPr>
      </p:sp>
      <p:sp>
        <p:nvSpPr>
          <p:cNvPr id="12" name="Text 9"/>
          <p:cNvSpPr txBox="1"/>
          <p:nvPr/>
        </p:nvSpPr>
        <p:spPr>
          <a:xfrm>
            <a:off x="3474720" y="2651760"/>
            <a:ext cx="457200" cy="457200"/>
          </a:xfrm>
          <a:prstGeom prst="rect">
            <a:avLst/>
          </a:prstGeom>
          <a:noFill/>
          <a:ln/>
        </p:spPr>
        <p:txBody>
          <a:bodyPr wrap="square" lIns="0" tIns="0" rIns="0" bIns="0" rtlCol="0" anchor="t"/>
          <a:lstStyle/>
          <a:p>
            <a:pPr marL="0" indent="0">
              <a:buNone/>
            </a:pPr>
            <a:r>
              <a:rPr lang="en-US" sz="2800" b="1" dirty="0">
                <a:solidFill>
                  <a:schemeClr val="accent2"/>
                </a:solidFill>
                <a:latin typeface="Cambria" pitchFamily="34" charset="0"/>
                <a:ea typeface="Cambria" pitchFamily="34" charset="-122"/>
                <a:cs typeface="Cambria" pitchFamily="34" charset="-120"/>
              </a:rPr>
              <a:t>2</a:t>
            </a:r>
            <a:endParaRPr lang="en-US" sz="2800" dirty="0"/>
          </a:p>
        </p:txBody>
      </p:sp>
      <p:sp>
        <p:nvSpPr>
          <p:cNvPr id="13" name="Text 10"/>
          <p:cNvSpPr txBox="1"/>
          <p:nvPr/>
        </p:nvSpPr>
        <p:spPr>
          <a:xfrm>
            <a:off x="3474720" y="3246120"/>
            <a:ext cx="2286000" cy="274320"/>
          </a:xfrm>
          <a:prstGeom prst="rect">
            <a:avLst/>
          </a:prstGeom>
          <a:noFill/>
          <a:ln/>
        </p:spPr>
        <p:txBody>
          <a:bodyPr wrap="square" lIns="0" tIns="0" rIns="0" bIns="0" rtlCol="0" anchor="t"/>
          <a:lstStyle/>
          <a:p>
            <a:pPr marL="0" indent="0">
              <a:buNone/>
            </a:pPr>
            <a:r>
              <a:rPr lang="en-US" sz="1800" b="1" dirty="0">
                <a:solidFill>
                  <a:schemeClr val="tx1"/>
                </a:solidFill>
              </a:rPr>
              <a:t>Scanned first</a:t>
            </a:r>
            <a:endParaRPr lang="en-US" sz="1800" dirty="0"/>
          </a:p>
        </p:txBody>
      </p:sp>
      <p:sp>
        <p:nvSpPr>
          <p:cNvPr id="14" name="Text 11"/>
          <p:cNvSpPr txBox="1"/>
          <p:nvPr/>
        </p:nvSpPr>
        <p:spPr>
          <a:xfrm>
            <a:off x="3474720" y="3611880"/>
            <a:ext cx="2286000" cy="640080"/>
          </a:xfrm>
          <a:prstGeom prst="rect">
            <a:avLst/>
          </a:prstGeom>
          <a:noFill/>
          <a:ln/>
        </p:spPr>
        <p:txBody>
          <a:bodyPr wrap="square" lIns="0" tIns="0" rIns="0" bIns="0" rtlCol="0" anchor="t"/>
          <a:lstStyle/>
          <a:p>
            <a:pPr marL="0" indent="0">
              <a:buNone/>
            </a:pPr>
            <a:r>
              <a:rPr lang="en-US" sz="1400" dirty="0">
                <a:solidFill>
                  <a:schemeClr val="tx2"/>
                </a:solidFill>
              </a:rPr>
              <a:t>Push step runs only after Trivy passes</a:t>
            </a:r>
            <a:endParaRPr lang="en-US" sz="1400" dirty="0"/>
          </a:p>
        </p:txBody>
      </p:sp>
      <p:sp>
        <p:nvSpPr>
          <p:cNvPr id="15" name="benefit Easy rollback"/>
          <p:cNvSpPr/>
          <p:nvPr/>
        </p:nvSpPr>
        <p:spPr>
          <a:xfrm>
            <a:off x="6126480" y="2514600"/>
            <a:ext cx="2651760" cy="1828800"/>
          </a:xfrm>
          <a:prstGeom prst="roundRect">
            <a:avLst>
              <a:gd name="adj" fmla="val 4000"/>
            </a:avLst>
          </a:prstGeom>
          <a:solidFill>
            <a:schemeClr val="bg2"/>
          </a:solidFill>
          <a:ln/>
        </p:spPr>
      </p:sp>
      <p:sp>
        <p:nvSpPr>
          <p:cNvPr id="16" name="Text 13"/>
          <p:cNvSpPr txBox="1"/>
          <p:nvPr/>
        </p:nvSpPr>
        <p:spPr>
          <a:xfrm>
            <a:off x="6309360" y="2651760"/>
            <a:ext cx="457200" cy="457200"/>
          </a:xfrm>
          <a:prstGeom prst="rect">
            <a:avLst/>
          </a:prstGeom>
          <a:noFill/>
          <a:ln/>
        </p:spPr>
        <p:txBody>
          <a:bodyPr wrap="square" lIns="0" tIns="0" rIns="0" bIns="0" rtlCol="0" anchor="t"/>
          <a:lstStyle/>
          <a:p>
            <a:pPr marL="0" indent="0">
              <a:buNone/>
            </a:pPr>
            <a:r>
              <a:rPr lang="en-US" sz="2800" b="1" dirty="0">
                <a:solidFill>
                  <a:schemeClr val="accent2"/>
                </a:solidFill>
                <a:latin typeface="Cambria" pitchFamily="34" charset="0"/>
                <a:ea typeface="Cambria" pitchFamily="34" charset="-122"/>
                <a:cs typeface="Cambria" pitchFamily="34" charset="-120"/>
              </a:rPr>
              <a:t>3</a:t>
            </a:r>
            <a:endParaRPr lang="en-US" sz="2800" dirty="0"/>
          </a:p>
        </p:txBody>
      </p:sp>
      <p:sp>
        <p:nvSpPr>
          <p:cNvPr id="17" name="Text 14"/>
          <p:cNvSpPr txBox="1"/>
          <p:nvPr/>
        </p:nvSpPr>
        <p:spPr>
          <a:xfrm>
            <a:off x="6309360" y="3246120"/>
            <a:ext cx="2286000" cy="274320"/>
          </a:xfrm>
          <a:prstGeom prst="rect">
            <a:avLst/>
          </a:prstGeom>
          <a:noFill/>
          <a:ln/>
        </p:spPr>
        <p:txBody>
          <a:bodyPr wrap="square" lIns="0" tIns="0" rIns="0" bIns="0" rtlCol="0" anchor="t"/>
          <a:lstStyle/>
          <a:p>
            <a:pPr marL="0" indent="0">
              <a:buNone/>
            </a:pPr>
            <a:r>
              <a:rPr lang="en-US" sz="1800" b="1" dirty="0">
                <a:solidFill>
                  <a:schemeClr val="tx1"/>
                </a:solidFill>
              </a:rPr>
              <a:t>Easy rollback</a:t>
            </a:r>
            <a:endParaRPr lang="en-US" sz="1800" dirty="0"/>
          </a:p>
        </p:txBody>
      </p:sp>
      <p:sp>
        <p:nvSpPr>
          <p:cNvPr id="18" name="Text 15"/>
          <p:cNvSpPr txBox="1"/>
          <p:nvPr/>
        </p:nvSpPr>
        <p:spPr>
          <a:xfrm>
            <a:off x="6309360" y="3611880"/>
            <a:ext cx="2286000" cy="640080"/>
          </a:xfrm>
          <a:prstGeom prst="rect">
            <a:avLst/>
          </a:prstGeom>
          <a:noFill/>
          <a:ln/>
        </p:spPr>
        <p:txBody>
          <a:bodyPr wrap="square" lIns="0" tIns="0" rIns="0" bIns="0" rtlCol="0" anchor="t"/>
          <a:lstStyle/>
          <a:p>
            <a:pPr marL="0" indent="0">
              <a:buNone/>
            </a:pPr>
            <a:r>
              <a:rPr lang="en-US" sz="1400" dirty="0">
                <a:solidFill>
                  <a:schemeClr val="tx2"/>
                </a:solidFill>
              </a:rPr>
              <a:t>Redeploy an older SHA with helm</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182880"/>
            <a:ext cx="365760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RUN</a:t>
            </a:r>
            <a:endParaRPr lang="en-US" sz="1000" dirty="0"/>
          </a:p>
        </p:txBody>
      </p:sp>
      <p:sp>
        <p:nvSpPr>
          <p:cNvPr id="3" name="Text 0"/>
          <p:cNvSpPr>
            <a:spLocks noGrp="1"/>
          </p:cNvSpPr>
          <p:nvPr>
            <p:ph type="title" idx="100" hasCustomPrompt="1"/>
          </p:nvPr>
        </p:nvSpPr>
        <p:spPr>
          <a:xfrm>
            <a:off x="457200" y="384048"/>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An EKS cluster built entirely by Terraform</a:t>
            </a:r>
            <a:endParaRPr lang="en-US" sz="2800" dirty="0"/>
          </a:p>
        </p:txBody>
      </p:sp>
      <p:sp>
        <p:nvSpPr>
          <p:cNvPr id="5" name="Text 2"/>
          <p:cNvSpPr txBox="1"/>
          <p:nvPr/>
        </p:nvSpPr>
        <p:spPr>
          <a:xfrm>
            <a:off x="457200" y="1188720"/>
            <a:ext cx="2743200" cy="32004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VPC: 2 public and 2 private subnets</a:t>
            </a:r>
            <a:endParaRPr lang="en-US" sz="1400" dirty="0"/>
          </a:p>
          <a:p>
            <a:pPr marL="177800" indent="-177800">
              <a:spcAft>
                <a:spcPts val="800"/>
              </a:spcAft>
              <a:buSzPct val="100000"/>
              <a:buChar char="•"/>
            </a:pPr>
            <a:r>
              <a:rPr lang="en-US" sz="1400" dirty="0">
                <a:solidFill>
                  <a:schemeClr val="tx1"/>
                </a:solidFill>
              </a:rPr>
              <a:t>One NAT gateway, to save cost</a:t>
            </a:r>
            <a:endParaRPr lang="en-US" sz="1400" dirty="0"/>
          </a:p>
          <a:p>
            <a:pPr marL="177800" indent="-177800">
              <a:spcAft>
                <a:spcPts val="800"/>
              </a:spcAft>
              <a:buSzPct val="100000"/>
              <a:buChar char="•"/>
            </a:pPr>
            <a:r>
              <a:rPr lang="en-US" sz="1400" dirty="0">
                <a:solidFill>
                  <a:schemeClr val="tx1"/>
                </a:solidFill>
              </a:rPr>
              <a:t>EKS 1.34 in ap-south-1</a:t>
            </a:r>
            <a:endParaRPr lang="en-US" sz="1400" dirty="0"/>
          </a:p>
          <a:p>
            <a:pPr marL="177800" indent="-177800">
              <a:spcAft>
                <a:spcPts val="800"/>
              </a:spcAft>
              <a:buSzPct val="100000"/>
              <a:buChar char="•"/>
            </a:pPr>
            <a:r>
              <a:rPr lang="en-US" sz="1400" dirty="0">
                <a:solidFill>
                  <a:schemeClr val="tx1"/>
                </a:solidFill>
              </a:rPr>
              <a:t>Managed node group on Spot, t3.small</a:t>
            </a:r>
            <a:endParaRPr lang="en-US" sz="1400" dirty="0"/>
          </a:p>
          <a:p>
            <a:pPr marL="177800" indent="-177800">
              <a:spcAft>
                <a:spcPts val="800"/>
              </a:spcAft>
              <a:buSzPct val="100000"/>
              <a:buChar char="•"/>
            </a:pPr>
            <a:r>
              <a:rPr lang="en-US" sz="1400" dirty="0">
                <a:solidFill>
                  <a:schemeClr val="tx1"/>
                </a:solidFill>
              </a:rPr>
              <a:t>EBS CSI addon through IRSA</a:t>
            </a:r>
            <a:endParaRPr lang="en-US" sz="1400" dirty="0"/>
          </a:p>
        </p:txBody>
      </p:sp>
      <p:sp>
        <p:nvSpPr>
          <p:cNvPr id="6" name="Text 3"/>
          <p:cNvSpPr txBox="1"/>
          <p:nvPr/>
        </p:nvSpPr>
        <p:spPr>
          <a:xfrm>
            <a:off x="3383280" y="4023360"/>
            <a:ext cx="5303520" cy="457200"/>
          </a:xfrm>
          <a:prstGeom prst="rect">
            <a:avLst/>
          </a:prstGeom>
          <a:noFill/>
          <a:ln/>
        </p:spPr>
        <p:txBody>
          <a:bodyPr wrap="square" lIns="0" tIns="0" rIns="0" bIns="0" rtlCol="0" anchor="t"/>
          <a:lstStyle/>
          <a:p>
            <a:pPr marL="0" indent="0">
              <a:buNone/>
            </a:pPr>
            <a:r>
              <a:rPr lang="en-US" sz="1300" b="1" dirty="0">
                <a:solidFill>
                  <a:schemeClr val="accent1"/>
                </a:solidFill>
              </a:rPr>
              <a:t>Look for  </a:t>
            </a:r>
            <a:r>
              <a:rPr lang="en-US" sz="1300" dirty="0">
                <a:solidFill>
                  <a:schemeClr val="tx2"/>
                </a:solidFill>
              </a:rPr>
              <a:t>Status ACTIVE on both, Kubernetes 1.34, capacity type SPOT.</a:t>
            </a:r>
            <a:endParaRPr lang="en-US" sz="1300" dirty="0"/>
          </a:p>
        </p:txBody>
      </p:sp>
      <p:pic>
        <p:nvPicPr>
          <p:cNvPr id="7" name="Image 0" descr="AWS console: cluster ACTIVE (Kubernetes 1.34), node group ACTIVE (Spot)"/>
          <p:cNvPicPr>
            <a:picLocks noChangeAspect="1"/>
          </p:cNvPicPr>
          <p:nvPr/>
        </p:nvPicPr>
        <p:blipFill>
          <a:blip r:embed="rId3"/>
          <a:stretch>
            <a:fillRect/>
          </a:stretch>
        </p:blipFill>
        <p:spPr>
          <a:xfrm>
            <a:off x="3383280" y="1188720"/>
            <a:ext cx="5303520" cy="2522240"/>
          </a:xfrm>
          <a:prstGeom prst="rect">
            <a:avLst/>
          </a:prstGeom>
        </p:spPr>
      </p:pic>
      <p:sp>
        <p:nvSpPr>
          <p:cNvPr id="8" name="Frame: AWS console: cluster ACTIVE (Kubernetes 1.34), node group ACTIVE (Spot)"/>
          <p:cNvSpPr/>
          <p:nvPr/>
        </p:nvSpPr>
        <p:spPr>
          <a:xfrm>
            <a:off x="3383280" y="1188720"/>
            <a:ext cx="5303520" cy="2522240"/>
          </a:xfrm>
          <a:prstGeom prst="rect">
            <a:avLst/>
          </a:prstGeom>
          <a:solidFill>
            <a:schemeClr val="bg1">
              <a:alpha val="0"/>
            </a:schemeClr>
          </a:solidFill>
          <a:ln w="9525">
            <a:solidFill>
              <a:schemeClr val="accent5"/>
            </a:solidFill>
            <a:prstDash val="solid"/>
          </a:ln>
        </p:spPr>
      </p:sp>
      <p:sp>
        <p:nvSpPr>
          <p:cNvPr id="9" name="Text 5"/>
          <p:cNvSpPr txBox="1"/>
          <p:nvPr/>
        </p:nvSpPr>
        <p:spPr>
          <a:xfrm>
            <a:off x="3383280" y="3765824"/>
            <a:ext cx="5303520" cy="201168"/>
          </a:xfrm>
          <a:prstGeom prst="rect">
            <a:avLst/>
          </a:prstGeom>
          <a:noFill/>
          <a:ln/>
        </p:spPr>
        <p:txBody>
          <a:bodyPr wrap="square" lIns="0" tIns="0" rIns="0" bIns="0" rtlCol="0" anchor="t"/>
          <a:lstStyle/>
          <a:p>
            <a:pPr marL="0" indent="0">
              <a:buNone/>
            </a:pPr>
            <a:r>
              <a:rPr lang="en-US" sz="1000" i="1" dirty="0">
                <a:solidFill>
                  <a:schemeClr val="tx2"/>
                </a:solidFill>
              </a:rPr>
              <a:t>AWS console: cluster ACTIVE (Kubernetes 1.34), node group ACTIVE (Spot)</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182880"/>
            <a:ext cx="365760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RUN</a:t>
            </a:r>
            <a:endParaRPr lang="en-US" sz="1000" dirty="0"/>
          </a:p>
        </p:txBody>
      </p:sp>
      <p:sp>
        <p:nvSpPr>
          <p:cNvPr id="3" name="Text 0"/>
          <p:cNvSpPr>
            <a:spLocks noGrp="1"/>
          </p:cNvSpPr>
          <p:nvPr>
            <p:ph type="title" idx="100" hasCustomPrompt="1"/>
          </p:nvPr>
        </p:nvSpPr>
        <p:spPr>
          <a:xfrm>
            <a:off x="457200" y="384048"/>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One terraform apply, and the platform exists</a:t>
            </a:r>
            <a:endParaRPr lang="en-US" sz="2800" dirty="0"/>
          </a:p>
        </p:txBody>
      </p:sp>
      <p:pic>
        <p:nvPicPr>
          <p:cNvPr id="5" name="Image 0" descr="terraform apply: outputs"/>
          <p:cNvPicPr>
            <a:picLocks noChangeAspect="1"/>
          </p:cNvPicPr>
          <p:nvPr/>
        </p:nvPicPr>
        <p:blipFill>
          <a:blip r:embed="rId3"/>
          <a:stretch>
            <a:fillRect/>
          </a:stretch>
        </p:blipFill>
        <p:spPr>
          <a:xfrm>
            <a:off x="457200" y="1188720"/>
            <a:ext cx="8229600" cy="2559205"/>
          </a:xfrm>
          <a:prstGeom prst="rect">
            <a:avLst/>
          </a:prstGeom>
        </p:spPr>
      </p:pic>
      <p:sp>
        <p:nvSpPr>
          <p:cNvPr id="6" name="Frame: terraform apply: outputs"/>
          <p:cNvSpPr/>
          <p:nvPr/>
        </p:nvSpPr>
        <p:spPr>
          <a:xfrm>
            <a:off x="457200" y="1188720"/>
            <a:ext cx="8229600" cy="2559205"/>
          </a:xfrm>
          <a:prstGeom prst="rect">
            <a:avLst/>
          </a:prstGeom>
          <a:solidFill>
            <a:schemeClr val="bg1">
              <a:alpha val="0"/>
            </a:schemeClr>
          </a:solidFill>
          <a:ln w="9525">
            <a:solidFill>
              <a:schemeClr val="accent5"/>
            </a:solidFill>
            <a:prstDash val="solid"/>
          </a:ln>
        </p:spPr>
      </p:sp>
      <p:sp>
        <p:nvSpPr>
          <p:cNvPr id="7" name="Text 3"/>
          <p:cNvSpPr txBox="1"/>
          <p:nvPr/>
        </p:nvSpPr>
        <p:spPr>
          <a:xfrm>
            <a:off x="457200" y="3802789"/>
            <a:ext cx="8229600" cy="201168"/>
          </a:xfrm>
          <a:prstGeom prst="rect">
            <a:avLst/>
          </a:prstGeom>
          <a:noFill/>
          <a:ln/>
        </p:spPr>
        <p:txBody>
          <a:bodyPr wrap="square" lIns="0" tIns="0" rIns="0" bIns="0" rtlCol="0" anchor="t"/>
          <a:lstStyle/>
          <a:p>
            <a:pPr marL="0" indent="0">
              <a:buNone/>
            </a:pPr>
            <a:r>
              <a:rPr lang="en-US" sz="1000" i="1" dirty="0">
                <a:solidFill>
                  <a:schemeClr val="tx2"/>
                </a:solidFill>
              </a:rPr>
              <a:t>terraform apply: outputs</a:t>
            </a:r>
            <a:endParaRPr lang="en-US" sz="1000" dirty="0"/>
          </a:p>
        </p:txBody>
      </p:sp>
      <p:sp>
        <p:nvSpPr>
          <p:cNvPr id="8" name="Text 4"/>
          <p:cNvSpPr txBox="1"/>
          <p:nvPr/>
        </p:nvSpPr>
        <p:spPr>
          <a:xfrm>
            <a:off x="457200" y="4069080"/>
            <a:ext cx="8229600" cy="457200"/>
          </a:xfrm>
          <a:prstGeom prst="rect">
            <a:avLst/>
          </a:prstGeom>
          <a:noFill/>
          <a:ln/>
        </p:spPr>
        <p:txBody>
          <a:bodyPr wrap="square" lIns="0" tIns="0" rIns="0" bIns="0" rtlCol="0" anchor="t"/>
          <a:lstStyle/>
          <a:p>
            <a:pPr marL="0" indent="0">
              <a:buNone/>
            </a:pPr>
            <a:r>
              <a:rPr lang="en-US" sz="1400" dirty="0">
                <a:solidFill>
                  <a:schemeClr val="tx2"/>
                </a:solidFill>
              </a:rPr>
              <a:t>The configure_kubectl output is the bridge to the next step: one command points kubectl at the new cluster.</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182880"/>
            <a:ext cx="365760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RUN</a:t>
            </a:r>
            <a:endParaRPr lang="en-US" sz="1000" dirty="0"/>
          </a:p>
        </p:txBody>
      </p:sp>
      <p:sp>
        <p:nvSpPr>
          <p:cNvPr id="3" name="Text 0"/>
          <p:cNvSpPr>
            <a:spLocks noGrp="1"/>
          </p:cNvSpPr>
          <p:nvPr>
            <p:ph type="title" idx="100" hasCustomPrompt="1"/>
          </p:nvPr>
        </p:nvSpPr>
        <p:spPr>
          <a:xfrm>
            <a:off x="457200" y="384048"/>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Designed to stay inside a student budget</a:t>
            </a:r>
            <a:endParaRPr lang="en-US" sz="2800" dirty="0"/>
          </a:p>
        </p:txBody>
      </p:sp>
      <p:sp>
        <p:nvSpPr>
          <p:cNvPr id="5" name="cost Spot nodes"/>
          <p:cNvSpPr/>
          <p:nvPr/>
        </p:nvSpPr>
        <p:spPr>
          <a:xfrm>
            <a:off x="457200" y="1280160"/>
            <a:ext cx="2651760" cy="2011680"/>
          </a:xfrm>
          <a:prstGeom prst="roundRect">
            <a:avLst>
              <a:gd name="adj" fmla="val 3636"/>
            </a:avLst>
          </a:prstGeom>
          <a:solidFill>
            <a:schemeClr val="bg2"/>
          </a:solidFill>
          <a:ln/>
        </p:spPr>
      </p:sp>
      <p:sp>
        <p:nvSpPr>
          <p:cNvPr id="6" name="Text 3"/>
          <p:cNvSpPr txBox="1"/>
          <p:nvPr/>
        </p:nvSpPr>
        <p:spPr>
          <a:xfrm>
            <a:off x="640080" y="1417320"/>
            <a:ext cx="457200" cy="457200"/>
          </a:xfrm>
          <a:prstGeom prst="rect">
            <a:avLst/>
          </a:prstGeom>
          <a:noFill/>
          <a:ln/>
        </p:spPr>
        <p:txBody>
          <a:bodyPr wrap="square" lIns="0" tIns="0" rIns="0" bIns="0" rtlCol="0" anchor="t"/>
          <a:lstStyle/>
          <a:p>
            <a:pPr marL="0" indent="0">
              <a:buNone/>
            </a:pPr>
            <a:r>
              <a:rPr lang="en-US" sz="2800" b="1" dirty="0">
                <a:solidFill>
                  <a:schemeClr val="accent2"/>
                </a:solidFill>
                <a:latin typeface="Cambria" pitchFamily="34" charset="0"/>
                <a:ea typeface="Cambria" pitchFamily="34" charset="-122"/>
                <a:cs typeface="Cambria" pitchFamily="34" charset="-120"/>
              </a:rPr>
              <a:t>1</a:t>
            </a:r>
            <a:endParaRPr lang="en-US" sz="2800" dirty="0"/>
          </a:p>
        </p:txBody>
      </p:sp>
      <p:sp>
        <p:nvSpPr>
          <p:cNvPr id="7" name="Text 4"/>
          <p:cNvSpPr txBox="1"/>
          <p:nvPr/>
        </p:nvSpPr>
        <p:spPr>
          <a:xfrm>
            <a:off x="640080" y="2011680"/>
            <a:ext cx="2286000" cy="320040"/>
          </a:xfrm>
          <a:prstGeom prst="rect">
            <a:avLst/>
          </a:prstGeom>
          <a:noFill/>
          <a:ln/>
        </p:spPr>
        <p:txBody>
          <a:bodyPr wrap="square" lIns="0" tIns="0" rIns="0" bIns="0" rtlCol="0" anchor="t"/>
          <a:lstStyle/>
          <a:p>
            <a:pPr marL="0" indent="0">
              <a:buNone/>
            </a:pPr>
            <a:r>
              <a:rPr lang="en-US" sz="1800" b="1" dirty="0">
                <a:solidFill>
                  <a:schemeClr val="tx1"/>
                </a:solidFill>
              </a:rPr>
              <a:t>Spot nodes</a:t>
            </a:r>
            <a:endParaRPr lang="en-US" sz="1800" dirty="0"/>
          </a:p>
        </p:txBody>
      </p:sp>
      <p:sp>
        <p:nvSpPr>
          <p:cNvPr id="8" name="Text 5"/>
          <p:cNvSpPr txBox="1"/>
          <p:nvPr/>
        </p:nvSpPr>
        <p:spPr>
          <a:xfrm>
            <a:off x="640080" y="2423160"/>
            <a:ext cx="2286000" cy="731520"/>
          </a:xfrm>
          <a:prstGeom prst="rect">
            <a:avLst/>
          </a:prstGeom>
          <a:noFill/>
          <a:ln/>
        </p:spPr>
        <p:txBody>
          <a:bodyPr wrap="square" lIns="0" tIns="0" rIns="0" bIns="0" rtlCol="0" anchor="t"/>
          <a:lstStyle/>
          <a:p>
            <a:pPr marL="0" indent="0">
              <a:buNone/>
            </a:pPr>
            <a:r>
              <a:rPr lang="en-US" sz="1400" dirty="0">
                <a:solidFill>
                  <a:schemeClr val="tx2"/>
                </a:solidFill>
              </a:rPr>
              <a:t>Two Spot instances instead of on-demand nodes</a:t>
            </a:r>
            <a:endParaRPr lang="en-US" sz="1400" dirty="0"/>
          </a:p>
        </p:txBody>
      </p:sp>
      <p:sp>
        <p:nvSpPr>
          <p:cNvPr id="9" name="cost One NAT gateway"/>
          <p:cNvSpPr/>
          <p:nvPr/>
        </p:nvSpPr>
        <p:spPr>
          <a:xfrm>
            <a:off x="3291840" y="1280160"/>
            <a:ext cx="2651760" cy="2011680"/>
          </a:xfrm>
          <a:prstGeom prst="roundRect">
            <a:avLst>
              <a:gd name="adj" fmla="val 3636"/>
            </a:avLst>
          </a:prstGeom>
          <a:solidFill>
            <a:schemeClr val="bg2"/>
          </a:solidFill>
          <a:ln/>
        </p:spPr>
      </p:sp>
      <p:sp>
        <p:nvSpPr>
          <p:cNvPr id="10" name="Text 7"/>
          <p:cNvSpPr txBox="1"/>
          <p:nvPr/>
        </p:nvSpPr>
        <p:spPr>
          <a:xfrm>
            <a:off x="3474720" y="1417320"/>
            <a:ext cx="457200" cy="457200"/>
          </a:xfrm>
          <a:prstGeom prst="rect">
            <a:avLst/>
          </a:prstGeom>
          <a:noFill/>
          <a:ln/>
        </p:spPr>
        <p:txBody>
          <a:bodyPr wrap="square" lIns="0" tIns="0" rIns="0" bIns="0" rtlCol="0" anchor="t"/>
          <a:lstStyle/>
          <a:p>
            <a:pPr marL="0" indent="0">
              <a:buNone/>
            </a:pPr>
            <a:r>
              <a:rPr lang="en-US" sz="2800" b="1" dirty="0">
                <a:solidFill>
                  <a:schemeClr val="accent2"/>
                </a:solidFill>
                <a:latin typeface="Cambria" pitchFamily="34" charset="0"/>
                <a:ea typeface="Cambria" pitchFamily="34" charset="-122"/>
                <a:cs typeface="Cambria" pitchFamily="34" charset="-120"/>
              </a:rPr>
              <a:t>2</a:t>
            </a:r>
            <a:endParaRPr lang="en-US" sz="2800" dirty="0"/>
          </a:p>
        </p:txBody>
      </p:sp>
      <p:sp>
        <p:nvSpPr>
          <p:cNvPr id="11" name="Text 8"/>
          <p:cNvSpPr txBox="1"/>
          <p:nvPr/>
        </p:nvSpPr>
        <p:spPr>
          <a:xfrm>
            <a:off x="3474720" y="2011680"/>
            <a:ext cx="2286000" cy="320040"/>
          </a:xfrm>
          <a:prstGeom prst="rect">
            <a:avLst/>
          </a:prstGeom>
          <a:noFill/>
          <a:ln/>
        </p:spPr>
        <p:txBody>
          <a:bodyPr wrap="square" lIns="0" tIns="0" rIns="0" bIns="0" rtlCol="0" anchor="t"/>
          <a:lstStyle/>
          <a:p>
            <a:pPr marL="0" indent="0">
              <a:buNone/>
            </a:pPr>
            <a:r>
              <a:rPr lang="en-US" sz="1800" b="1" dirty="0">
                <a:solidFill>
                  <a:schemeClr val="tx1"/>
                </a:solidFill>
              </a:rPr>
              <a:t>One NAT gateway</a:t>
            </a:r>
            <a:endParaRPr lang="en-US" sz="1800" dirty="0"/>
          </a:p>
        </p:txBody>
      </p:sp>
      <p:sp>
        <p:nvSpPr>
          <p:cNvPr id="12" name="Text 9"/>
          <p:cNvSpPr txBox="1"/>
          <p:nvPr/>
        </p:nvSpPr>
        <p:spPr>
          <a:xfrm>
            <a:off x="3474720" y="2423160"/>
            <a:ext cx="2286000" cy="731520"/>
          </a:xfrm>
          <a:prstGeom prst="rect">
            <a:avLst/>
          </a:prstGeom>
          <a:noFill/>
          <a:ln/>
        </p:spPr>
        <p:txBody>
          <a:bodyPr wrap="square" lIns="0" tIns="0" rIns="0" bIns="0" rtlCol="0" anchor="t"/>
          <a:lstStyle/>
          <a:p>
            <a:pPr marL="0" indent="0">
              <a:buNone/>
            </a:pPr>
            <a:r>
              <a:rPr lang="en-US" sz="1400" dirty="0">
                <a:solidFill>
                  <a:schemeClr val="tx2"/>
                </a:solidFill>
              </a:rPr>
              <a:t>A single gateway serves both private subnets</a:t>
            </a:r>
            <a:endParaRPr lang="en-US" sz="1400" dirty="0"/>
          </a:p>
        </p:txBody>
      </p:sp>
      <p:sp>
        <p:nvSpPr>
          <p:cNvPr id="13" name="cost A deploy switch"/>
          <p:cNvSpPr/>
          <p:nvPr/>
        </p:nvSpPr>
        <p:spPr>
          <a:xfrm>
            <a:off x="6126480" y="1280160"/>
            <a:ext cx="2651760" cy="2011680"/>
          </a:xfrm>
          <a:prstGeom prst="roundRect">
            <a:avLst>
              <a:gd name="adj" fmla="val 3636"/>
            </a:avLst>
          </a:prstGeom>
          <a:solidFill>
            <a:schemeClr val="bg2"/>
          </a:solidFill>
          <a:ln/>
        </p:spPr>
      </p:sp>
      <p:sp>
        <p:nvSpPr>
          <p:cNvPr id="14" name="Text 11"/>
          <p:cNvSpPr txBox="1"/>
          <p:nvPr/>
        </p:nvSpPr>
        <p:spPr>
          <a:xfrm>
            <a:off x="6309360" y="1417320"/>
            <a:ext cx="457200" cy="457200"/>
          </a:xfrm>
          <a:prstGeom prst="rect">
            <a:avLst/>
          </a:prstGeom>
          <a:noFill/>
          <a:ln/>
        </p:spPr>
        <p:txBody>
          <a:bodyPr wrap="square" lIns="0" tIns="0" rIns="0" bIns="0" rtlCol="0" anchor="t"/>
          <a:lstStyle/>
          <a:p>
            <a:pPr marL="0" indent="0">
              <a:buNone/>
            </a:pPr>
            <a:r>
              <a:rPr lang="en-US" sz="2800" b="1" dirty="0">
                <a:solidFill>
                  <a:schemeClr val="accent2"/>
                </a:solidFill>
                <a:latin typeface="Cambria" pitchFamily="34" charset="0"/>
                <a:ea typeface="Cambria" pitchFamily="34" charset="-122"/>
                <a:cs typeface="Cambria" pitchFamily="34" charset="-120"/>
              </a:rPr>
              <a:t>3</a:t>
            </a:r>
            <a:endParaRPr lang="en-US" sz="2800" dirty="0"/>
          </a:p>
        </p:txBody>
      </p:sp>
      <p:sp>
        <p:nvSpPr>
          <p:cNvPr id="15" name="Text 12"/>
          <p:cNvSpPr txBox="1"/>
          <p:nvPr/>
        </p:nvSpPr>
        <p:spPr>
          <a:xfrm>
            <a:off x="6309360" y="2011680"/>
            <a:ext cx="2286000" cy="320040"/>
          </a:xfrm>
          <a:prstGeom prst="rect">
            <a:avLst/>
          </a:prstGeom>
          <a:noFill/>
          <a:ln/>
        </p:spPr>
        <p:txBody>
          <a:bodyPr wrap="square" lIns="0" tIns="0" rIns="0" bIns="0" rtlCol="0" anchor="t"/>
          <a:lstStyle/>
          <a:p>
            <a:pPr marL="0" indent="0">
              <a:buNone/>
            </a:pPr>
            <a:r>
              <a:rPr lang="en-US" sz="1800" b="1" dirty="0">
                <a:solidFill>
                  <a:schemeClr val="tx1"/>
                </a:solidFill>
              </a:rPr>
              <a:t>A deploy switch</a:t>
            </a:r>
            <a:endParaRPr lang="en-US" sz="1800" dirty="0"/>
          </a:p>
        </p:txBody>
      </p:sp>
      <p:sp>
        <p:nvSpPr>
          <p:cNvPr id="16" name="Text 13"/>
          <p:cNvSpPr txBox="1"/>
          <p:nvPr/>
        </p:nvSpPr>
        <p:spPr>
          <a:xfrm>
            <a:off x="6309360" y="2423160"/>
            <a:ext cx="2286000" cy="731520"/>
          </a:xfrm>
          <a:prstGeom prst="rect">
            <a:avLst/>
          </a:prstGeom>
          <a:noFill/>
          <a:ln/>
        </p:spPr>
        <p:txBody>
          <a:bodyPr wrap="square" lIns="0" tIns="0" rIns="0" bIns="0" rtlCol="0" anchor="t"/>
          <a:lstStyle/>
          <a:p>
            <a:pPr marL="0" indent="0">
              <a:buNone/>
            </a:pPr>
            <a:r>
              <a:rPr lang="en-US" sz="1400" dirty="0">
                <a:solidFill>
                  <a:schemeClr val="tx2"/>
                </a:solidFill>
              </a:rPr>
              <a:t>The EKS job runs only when DEPLOY_ENABLED is true</a:t>
            </a:r>
            <a:endParaRPr lang="en-US" sz="1400" dirty="0"/>
          </a:p>
        </p:txBody>
      </p:sp>
      <p:sp>
        <p:nvSpPr>
          <p:cNvPr id="17" name="Text 14"/>
          <p:cNvSpPr txBox="1"/>
          <p:nvPr/>
        </p:nvSpPr>
        <p:spPr>
          <a:xfrm>
            <a:off x="457200" y="3657600"/>
            <a:ext cx="8229600" cy="548640"/>
          </a:xfrm>
          <a:prstGeom prst="rect">
            <a:avLst/>
          </a:prstGeom>
          <a:noFill/>
          <a:ln/>
        </p:spPr>
        <p:txBody>
          <a:bodyPr wrap="square" lIns="0" tIns="0" rIns="0" bIns="0" rtlCol="0" anchor="t"/>
          <a:lstStyle/>
          <a:p>
            <a:pPr marL="0" indent="0">
              <a:buNone/>
            </a:pPr>
            <a:r>
              <a:rPr lang="en-US" sz="1600" dirty="0">
                <a:solidFill>
                  <a:schemeClr val="tx1"/>
                </a:solidFill>
              </a:rPr>
              <a:t>The platform is code: terraform apply builds it for the demo, terraform destroy removes it.</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182880"/>
            <a:ext cx="365760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RUN</a:t>
            </a:r>
            <a:endParaRPr lang="en-US" sz="1000" dirty="0"/>
          </a:p>
        </p:txBody>
      </p:sp>
      <p:sp>
        <p:nvSpPr>
          <p:cNvPr id="3" name="Text 0"/>
          <p:cNvSpPr>
            <a:spLocks noGrp="1"/>
          </p:cNvSpPr>
          <p:nvPr>
            <p:ph type="title" idx="100" hasCustomPrompt="1"/>
          </p:nvPr>
        </p:nvSpPr>
        <p:spPr>
          <a:xfrm>
            <a:off x="457200" y="384048"/>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One Helm release runs the whole app</a:t>
            </a:r>
            <a:endParaRPr lang="en-US" sz="2800" dirty="0"/>
          </a:p>
        </p:txBody>
      </p:sp>
      <p:pic>
        <p:nvPicPr>
          <p:cNvPr id="5" name="Image 0" descr="EKS: 5 pods Running, ClusterIP services, helm list at revision 5, load balancer address"/>
          <p:cNvPicPr>
            <a:picLocks noChangeAspect="1"/>
          </p:cNvPicPr>
          <p:nvPr/>
        </p:nvPicPr>
        <p:blipFill>
          <a:blip r:embed="rId3"/>
          <a:stretch>
            <a:fillRect/>
          </a:stretch>
        </p:blipFill>
        <p:spPr>
          <a:xfrm>
            <a:off x="457200" y="1143000"/>
            <a:ext cx="7195147" cy="2834640"/>
          </a:xfrm>
          <a:prstGeom prst="rect">
            <a:avLst/>
          </a:prstGeom>
        </p:spPr>
      </p:pic>
      <p:sp>
        <p:nvSpPr>
          <p:cNvPr id="6" name="Frame: EKS: 5 pods Running, ClusterIP services, helm list at revision 5, load balancer address"/>
          <p:cNvSpPr/>
          <p:nvPr/>
        </p:nvSpPr>
        <p:spPr>
          <a:xfrm>
            <a:off x="457200" y="1143000"/>
            <a:ext cx="7195147" cy="2834640"/>
          </a:xfrm>
          <a:prstGeom prst="rect">
            <a:avLst/>
          </a:prstGeom>
          <a:solidFill>
            <a:schemeClr val="bg1">
              <a:alpha val="0"/>
            </a:schemeClr>
          </a:solidFill>
          <a:ln w="9525">
            <a:solidFill>
              <a:schemeClr val="accent5"/>
            </a:solidFill>
            <a:prstDash val="solid"/>
          </a:ln>
        </p:spPr>
      </p:sp>
      <p:sp>
        <p:nvSpPr>
          <p:cNvPr id="7" name="Text 3"/>
          <p:cNvSpPr txBox="1"/>
          <p:nvPr/>
        </p:nvSpPr>
        <p:spPr>
          <a:xfrm>
            <a:off x="457200" y="4032504"/>
            <a:ext cx="7195147" cy="201168"/>
          </a:xfrm>
          <a:prstGeom prst="rect">
            <a:avLst/>
          </a:prstGeom>
          <a:noFill/>
          <a:ln/>
        </p:spPr>
        <p:txBody>
          <a:bodyPr wrap="square" lIns="0" tIns="0" rIns="0" bIns="0" rtlCol="0" anchor="t"/>
          <a:lstStyle/>
          <a:p>
            <a:pPr marL="0" indent="0">
              <a:buNone/>
            </a:pPr>
            <a:r>
              <a:rPr lang="en-US" sz="1000" i="1" dirty="0">
                <a:solidFill>
                  <a:schemeClr val="tx2"/>
                </a:solidFill>
              </a:rPr>
              <a:t>EKS: 5 pods Running, ClusterIP services, helm list at revision 5, load balancer address</a:t>
            </a:r>
            <a:endParaRPr lang="en-US" sz="1000" dirty="0"/>
          </a:p>
        </p:txBody>
      </p:sp>
      <p:sp>
        <p:nvSpPr>
          <p:cNvPr id="8" name="Text 4"/>
          <p:cNvSpPr txBox="1"/>
          <p:nvPr/>
        </p:nvSpPr>
        <p:spPr>
          <a:xfrm>
            <a:off x="457200" y="4343400"/>
            <a:ext cx="8229600" cy="274320"/>
          </a:xfrm>
          <a:prstGeom prst="rect">
            <a:avLst/>
          </a:prstGeom>
          <a:noFill/>
          <a:ln/>
        </p:spPr>
        <p:txBody>
          <a:bodyPr wrap="square" lIns="0" tIns="0" rIns="0" bIns="0" rtlCol="0" anchor="t"/>
          <a:lstStyle/>
          <a:p>
            <a:pPr marL="0" indent="0">
              <a:buNone/>
            </a:pPr>
            <a:r>
              <a:rPr lang="en-US" sz="1400" dirty="0">
                <a:solidFill>
                  <a:schemeClr val="tx2"/>
                </a:solidFill>
              </a:rPr>
              <a:t>Chart: backend x2, frontend x2, PostgreSQL + PVC, secret, ingress, HPA.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182880"/>
            <a:ext cx="365760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RUN</a:t>
            </a:r>
            <a:endParaRPr lang="en-US" sz="1000" dirty="0"/>
          </a:p>
        </p:txBody>
      </p:sp>
      <p:sp>
        <p:nvSpPr>
          <p:cNvPr id="3" name="Text 0"/>
          <p:cNvSpPr>
            <a:spLocks noGrp="1"/>
          </p:cNvSpPr>
          <p:nvPr>
            <p:ph type="title" idx="100" hasCustomPrompt="1"/>
          </p:nvPr>
        </p:nvSpPr>
        <p:spPr>
          <a:xfrm>
            <a:off x="457200" y="384048"/>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Security and reliability built in</a:t>
            </a:r>
            <a:endParaRPr lang="en-US" sz="2800" dirty="0"/>
          </a:p>
        </p:txBody>
      </p:sp>
      <p:sp>
        <p:nvSpPr>
          <p:cNvPr id="5" name="habits Security"/>
          <p:cNvSpPr/>
          <p:nvPr/>
        </p:nvSpPr>
        <p:spPr>
          <a:xfrm>
            <a:off x="457200" y="1188720"/>
            <a:ext cx="3977640" cy="2743200"/>
          </a:xfrm>
          <a:prstGeom prst="roundRect">
            <a:avLst>
              <a:gd name="adj" fmla="val 2667"/>
            </a:avLst>
          </a:prstGeom>
          <a:solidFill>
            <a:schemeClr val="bg2"/>
          </a:solidFill>
          <a:ln/>
        </p:spPr>
      </p:sp>
      <p:sp>
        <p:nvSpPr>
          <p:cNvPr id="6" name="Text 3"/>
          <p:cNvSpPr txBox="1"/>
          <p:nvPr/>
        </p:nvSpPr>
        <p:spPr>
          <a:xfrm>
            <a:off x="640080" y="1298448"/>
            <a:ext cx="3611880" cy="320040"/>
          </a:xfrm>
          <a:prstGeom prst="rect">
            <a:avLst/>
          </a:prstGeom>
          <a:noFill/>
          <a:ln/>
        </p:spPr>
        <p:txBody>
          <a:bodyPr wrap="square" lIns="0" tIns="0" rIns="0" bIns="0" rtlCol="0" anchor="t"/>
          <a:lstStyle/>
          <a:p>
            <a:pPr marL="0" indent="0">
              <a:buNone/>
            </a:pPr>
            <a:r>
              <a:rPr lang="en-US" sz="1800" b="1" dirty="0">
                <a:solidFill>
                  <a:schemeClr val="accent1"/>
                </a:solidFill>
              </a:rPr>
              <a:t>Security</a:t>
            </a:r>
            <a:endParaRPr lang="en-US" sz="1800" dirty="0"/>
          </a:p>
        </p:txBody>
      </p:sp>
      <p:sp>
        <p:nvSpPr>
          <p:cNvPr id="7" name="Text 4"/>
          <p:cNvSpPr txBox="1"/>
          <p:nvPr/>
        </p:nvSpPr>
        <p:spPr>
          <a:xfrm>
            <a:off x="640080" y="1783080"/>
            <a:ext cx="3611880" cy="265176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Non-root containers (UID 10001 and 101)</a:t>
            </a:r>
            <a:endParaRPr lang="en-US" sz="1400" dirty="0"/>
          </a:p>
          <a:p>
            <a:pPr marL="177800" indent="-177800">
              <a:spcAft>
                <a:spcPts val="800"/>
              </a:spcAft>
              <a:buSzPct val="100000"/>
              <a:buChar char="•"/>
            </a:pPr>
            <a:r>
              <a:rPr lang="en-US" sz="1400" dirty="0">
                <a:solidFill>
                  <a:schemeClr val="tx1"/>
                </a:solidFill>
              </a:rPr>
              <a:t>runAsNonRoot enforced in the chart</a:t>
            </a:r>
            <a:endParaRPr lang="en-US" sz="1400" dirty="0"/>
          </a:p>
          <a:p>
            <a:pPr marL="177800" indent="-177800">
              <a:spcAft>
                <a:spcPts val="800"/>
              </a:spcAft>
              <a:buSzPct val="100000"/>
              <a:buChar char="•"/>
            </a:pPr>
            <a:r>
              <a:rPr lang="en-US" sz="1400" dirty="0">
                <a:solidFill>
                  <a:schemeClr val="tx1"/>
                </a:solidFill>
              </a:rPr>
              <a:t>Trivy gate on HIGH and CRITICAL</a:t>
            </a:r>
            <a:endParaRPr lang="en-US" sz="1400" dirty="0"/>
          </a:p>
          <a:p>
            <a:pPr marL="177800" indent="-177800">
              <a:spcAft>
                <a:spcPts val="800"/>
              </a:spcAft>
              <a:buSzPct val="100000"/>
              <a:buChar char="•"/>
            </a:pPr>
            <a:r>
              <a:rPr lang="en-US" sz="1400" dirty="0">
                <a:solidFill>
                  <a:schemeClr val="tx1"/>
                </a:solidFill>
              </a:rPr>
              <a:t>Database password in a Kubernetes Secret</a:t>
            </a:r>
            <a:endParaRPr lang="en-US" sz="1400" dirty="0"/>
          </a:p>
          <a:p>
            <a:pPr marL="177800" indent="-177800">
              <a:spcAft>
                <a:spcPts val="800"/>
              </a:spcAft>
              <a:buSzPct val="100000"/>
              <a:buChar char="•"/>
            </a:pPr>
            <a:r>
              <a:rPr lang="en-US" sz="1400" dirty="0">
                <a:solidFill>
                  <a:schemeClr val="tx1"/>
                </a:solidFill>
              </a:rPr>
              <a:t>Commit-SHA tags, never latest</a:t>
            </a:r>
            <a:endParaRPr lang="en-US" sz="1400" dirty="0"/>
          </a:p>
        </p:txBody>
      </p:sp>
      <p:sp>
        <p:nvSpPr>
          <p:cNvPr id="8" name="habits Reliability"/>
          <p:cNvSpPr/>
          <p:nvPr/>
        </p:nvSpPr>
        <p:spPr>
          <a:xfrm>
            <a:off x="4709160" y="1188720"/>
            <a:ext cx="3977640" cy="2743200"/>
          </a:xfrm>
          <a:prstGeom prst="roundRect">
            <a:avLst>
              <a:gd name="adj" fmla="val 2667"/>
            </a:avLst>
          </a:prstGeom>
          <a:solidFill>
            <a:schemeClr val="bg2"/>
          </a:solidFill>
          <a:ln/>
        </p:spPr>
      </p:sp>
      <p:sp>
        <p:nvSpPr>
          <p:cNvPr id="9" name="Text 6"/>
          <p:cNvSpPr txBox="1"/>
          <p:nvPr/>
        </p:nvSpPr>
        <p:spPr>
          <a:xfrm>
            <a:off x="4892040" y="1298448"/>
            <a:ext cx="3611880" cy="320040"/>
          </a:xfrm>
          <a:prstGeom prst="rect">
            <a:avLst/>
          </a:prstGeom>
          <a:noFill/>
          <a:ln/>
        </p:spPr>
        <p:txBody>
          <a:bodyPr wrap="square" lIns="0" tIns="0" rIns="0" bIns="0" rtlCol="0" anchor="t"/>
          <a:lstStyle/>
          <a:p>
            <a:pPr marL="0" indent="0">
              <a:buNone/>
            </a:pPr>
            <a:r>
              <a:rPr lang="en-US" sz="1800" b="1" dirty="0">
                <a:solidFill>
                  <a:schemeClr val="accent1"/>
                </a:solidFill>
              </a:rPr>
              <a:t>Reliability</a:t>
            </a:r>
            <a:endParaRPr lang="en-US" sz="1800" dirty="0"/>
          </a:p>
        </p:txBody>
      </p:sp>
      <p:sp>
        <p:nvSpPr>
          <p:cNvPr id="10" name="Text 7"/>
          <p:cNvSpPr txBox="1"/>
          <p:nvPr/>
        </p:nvSpPr>
        <p:spPr>
          <a:xfrm>
            <a:off x="4892040" y="1783080"/>
            <a:ext cx="3611880" cy="265176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Liveness and readiness probes</a:t>
            </a:r>
            <a:endParaRPr lang="en-US" sz="1400" dirty="0"/>
          </a:p>
          <a:p>
            <a:pPr marL="177800" indent="-177800">
              <a:spcAft>
                <a:spcPts val="800"/>
              </a:spcAft>
              <a:buSzPct val="100000"/>
              <a:buChar char="•"/>
            </a:pPr>
            <a:r>
              <a:rPr lang="en-US" sz="1400" dirty="0">
                <a:solidFill>
                  <a:schemeClr val="tx1"/>
                </a:solidFill>
              </a:rPr>
              <a:t>CPU and memory requests and limits</a:t>
            </a:r>
            <a:endParaRPr lang="en-US" sz="1400" dirty="0"/>
          </a:p>
          <a:p>
            <a:pPr marL="177800" indent="-177800">
              <a:spcAft>
                <a:spcPts val="800"/>
              </a:spcAft>
              <a:buSzPct val="100000"/>
              <a:buChar char="•"/>
            </a:pPr>
            <a:r>
              <a:rPr lang="en-US" sz="1400" dirty="0">
                <a:solidFill>
                  <a:schemeClr val="tx1"/>
                </a:solidFill>
              </a:rPr>
              <a:t>Two replicas of backend and frontend</a:t>
            </a:r>
            <a:endParaRPr lang="en-US" sz="1400" dirty="0"/>
          </a:p>
          <a:p>
            <a:pPr marL="177800" indent="-177800">
              <a:spcAft>
                <a:spcPts val="800"/>
              </a:spcAft>
              <a:buSzPct val="100000"/>
              <a:buChar char="•"/>
            </a:pPr>
            <a:r>
              <a:rPr lang="en-US" sz="1400" dirty="0">
                <a:solidFill>
                  <a:schemeClr val="tx1"/>
                </a:solidFill>
              </a:rPr>
              <a:t>helm --atomic rolls back a failed deploy</a:t>
            </a:r>
            <a:endParaRPr lang="en-US" sz="1400" dirty="0"/>
          </a:p>
          <a:p>
            <a:pPr marL="177800" indent="-177800">
              <a:spcAft>
                <a:spcPts val="800"/>
              </a:spcAft>
              <a:buSzPct val="100000"/>
              <a:buChar char="•"/>
            </a:pPr>
            <a:r>
              <a:rPr lang="en-US" sz="1400" dirty="0">
                <a:solidFill>
                  <a:schemeClr val="tx1"/>
                </a:solidFill>
              </a:rPr>
              <a:t>Migrations under a database advisory lock</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182880"/>
            <a:ext cx="365760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RUN</a:t>
            </a:r>
            <a:endParaRPr lang="en-US" sz="1000" dirty="0"/>
          </a:p>
        </p:txBody>
      </p:sp>
      <p:sp>
        <p:nvSpPr>
          <p:cNvPr id="3" name="Text 0"/>
          <p:cNvSpPr>
            <a:spLocks noGrp="1"/>
          </p:cNvSpPr>
          <p:nvPr>
            <p:ph type="title" idx="100" hasCustomPrompt="1"/>
          </p:nvPr>
        </p:nvSpPr>
        <p:spPr>
          <a:xfrm>
            <a:off x="457200" y="384048"/>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One address for the whole app</a:t>
            </a:r>
            <a:endParaRPr lang="en-US" sz="2800" dirty="0"/>
          </a:p>
        </p:txBody>
      </p:sp>
      <p:sp>
        <p:nvSpPr>
          <p:cNvPr id="5" name="node Browser"/>
          <p:cNvSpPr/>
          <p:nvPr/>
        </p:nvSpPr>
        <p:spPr>
          <a:xfrm>
            <a:off x="457200" y="1188720"/>
            <a:ext cx="1554480" cy="822960"/>
          </a:xfrm>
          <a:prstGeom prst="roundRect">
            <a:avLst>
              <a:gd name="adj" fmla="val 8889"/>
            </a:avLst>
          </a:prstGeom>
          <a:solidFill>
            <a:schemeClr val="bg1"/>
          </a:solidFill>
          <a:ln w="12700">
            <a:solidFill>
              <a:schemeClr val="accent5"/>
            </a:solidFill>
            <a:prstDash val="solid"/>
          </a:ln>
        </p:spPr>
      </p:sp>
      <p:sp>
        <p:nvSpPr>
          <p:cNvPr id="6" name="Text 3"/>
          <p:cNvSpPr txBox="1"/>
          <p:nvPr/>
        </p:nvSpPr>
        <p:spPr>
          <a:xfrm>
            <a:off x="530352" y="1188720"/>
            <a:ext cx="1408176" cy="822960"/>
          </a:xfrm>
          <a:prstGeom prst="rect">
            <a:avLst/>
          </a:prstGeom>
          <a:noFill/>
          <a:ln/>
        </p:spPr>
        <p:txBody>
          <a:bodyPr wrap="square" lIns="0" tIns="0" rIns="0" bIns="0" rtlCol="0" anchor="ctr"/>
          <a:lstStyle/>
          <a:p>
            <a:pPr marL="0" indent="0" algn="ctr">
              <a:buNone/>
            </a:pPr>
            <a:r>
              <a:rPr lang="en-US" sz="1400" b="1" dirty="0">
                <a:solidFill>
                  <a:schemeClr val="tx1"/>
                </a:solidFill>
              </a:rPr>
              <a:t>Browser</a:t>
            </a:r>
            <a:endParaRPr lang="en-US" sz="1400" dirty="0"/>
          </a:p>
          <a:p>
            <a:pPr marL="0" indent="0" algn="ctr">
              <a:buNone/>
            </a:pPr>
            <a:r>
              <a:rPr lang="en-US" sz="1100" dirty="0">
                <a:solidFill>
                  <a:schemeClr val="tx2"/>
                </a:solidFill>
              </a:rPr>
              <a:t>one URL</a:t>
            </a:r>
            <a:endParaRPr lang="en-US" sz="1400" dirty="0"/>
          </a:p>
        </p:txBody>
      </p:sp>
      <p:sp>
        <p:nvSpPr>
          <p:cNvPr id="7" name="node AWS load balancer"/>
          <p:cNvSpPr/>
          <p:nvPr/>
        </p:nvSpPr>
        <p:spPr>
          <a:xfrm>
            <a:off x="2423160" y="1188720"/>
            <a:ext cx="1920240" cy="822960"/>
          </a:xfrm>
          <a:prstGeom prst="roundRect">
            <a:avLst>
              <a:gd name="adj" fmla="val 8889"/>
            </a:avLst>
          </a:prstGeom>
          <a:solidFill>
            <a:schemeClr val="bg1"/>
          </a:solidFill>
          <a:ln w="12700">
            <a:solidFill>
              <a:schemeClr val="accent5"/>
            </a:solidFill>
            <a:prstDash val="solid"/>
          </a:ln>
        </p:spPr>
      </p:sp>
      <p:sp>
        <p:nvSpPr>
          <p:cNvPr id="8" name="Text 5"/>
          <p:cNvSpPr txBox="1"/>
          <p:nvPr/>
        </p:nvSpPr>
        <p:spPr>
          <a:xfrm>
            <a:off x="2496312" y="1188720"/>
            <a:ext cx="1773936" cy="822960"/>
          </a:xfrm>
          <a:prstGeom prst="rect">
            <a:avLst/>
          </a:prstGeom>
          <a:noFill/>
          <a:ln/>
        </p:spPr>
        <p:txBody>
          <a:bodyPr wrap="square" lIns="0" tIns="0" rIns="0" bIns="0" rtlCol="0" anchor="ctr"/>
          <a:lstStyle/>
          <a:p>
            <a:pPr marL="0" indent="0" algn="ctr">
              <a:buNone/>
            </a:pPr>
            <a:r>
              <a:rPr lang="en-US" sz="1400" b="1" dirty="0">
                <a:solidFill>
                  <a:schemeClr val="tx1"/>
                </a:solidFill>
              </a:rPr>
              <a:t>AWS load balancer</a:t>
            </a:r>
            <a:endParaRPr lang="en-US" sz="1400" dirty="0"/>
          </a:p>
          <a:p>
            <a:pPr marL="0" indent="0" algn="ctr">
              <a:buNone/>
            </a:pPr>
            <a:r>
              <a:rPr lang="en-US" sz="1100" dirty="0">
                <a:solidFill>
                  <a:schemeClr val="tx2"/>
                </a:solidFill>
              </a:rPr>
              <a:t>ap-south-1</a:t>
            </a:r>
            <a:endParaRPr lang="en-US" sz="1400" dirty="0"/>
          </a:p>
        </p:txBody>
      </p:sp>
      <p:sp>
        <p:nvSpPr>
          <p:cNvPr id="9" name="node ingress-nginx"/>
          <p:cNvSpPr/>
          <p:nvPr/>
        </p:nvSpPr>
        <p:spPr>
          <a:xfrm>
            <a:off x="4754880" y="1188720"/>
            <a:ext cx="1828800" cy="822960"/>
          </a:xfrm>
          <a:prstGeom prst="roundRect">
            <a:avLst>
              <a:gd name="adj" fmla="val 8889"/>
            </a:avLst>
          </a:prstGeom>
          <a:solidFill>
            <a:schemeClr val="accent1"/>
          </a:solidFill>
          <a:ln w="12700">
            <a:solidFill>
              <a:schemeClr val="accent1"/>
            </a:solidFill>
            <a:prstDash val="solid"/>
          </a:ln>
        </p:spPr>
      </p:sp>
      <p:sp>
        <p:nvSpPr>
          <p:cNvPr id="10" name="Text 7"/>
          <p:cNvSpPr txBox="1"/>
          <p:nvPr/>
        </p:nvSpPr>
        <p:spPr>
          <a:xfrm>
            <a:off x="4828032" y="1188720"/>
            <a:ext cx="1682496" cy="822960"/>
          </a:xfrm>
          <a:prstGeom prst="rect">
            <a:avLst/>
          </a:prstGeom>
          <a:noFill/>
          <a:ln/>
        </p:spPr>
        <p:txBody>
          <a:bodyPr wrap="square" lIns="0" tIns="0" rIns="0" bIns="0" rtlCol="0" anchor="ctr"/>
          <a:lstStyle/>
          <a:p>
            <a:pPr marL="0" indent="0" algn="ctr">
              <a:buNone/>
            </a:pPr>
            <a:r>
              <a:rPr lang="en-US" sz="1400" b="1" dirty="0">
                <a:solidFill>
                  <a:schemeClr val="bg1"/>
                </a:solidFill>
              </a:rPr>
              <a:t>ingress-nginx</a:t>
            </a:r>
            <a:endParaRPr lang="en-US" sz="1400" dirty="0"/>
          </a:p>
          <a:p>
            <a:pPr marL="0" indent="0" algn="ctr">
              <a:buNone/>
            </a:pPr>
            <a:r>
              <a:rPr lang="en-US" sz="1100" dirty="0">
                <a:solidFill>
                  <a:schemeClr val="bg1"/>
                </a:solidFill>
              </a:rPr>
              <a:t>routes by path</a:t>
            </a:r>
            <a:endParaRPr lang="en-US" sz="1400" dirty="0"/>
          </a:p>
        </p:txBody>
      </p:sp>
      <p:sp>
        <p:nvSpPr>
          <p:cNvPr id="11" name="node Services"/>
          <p:cNvSpPr/>
          <p:nvPr/>
        </p:nvSpPr>
        <p:spPr>
          <a:xfrm>
            <a:off x="6995160" y="1188720"/>
            <a:ext cx="1691640" cy="822960"/>
          </a:xfrm>
          <a:prstGeom prst="roundRect">
            <a:avLst>
              <a:gd name="adj" fmla="val 8889"/>
            </a:avLst>
          </a:prstGeom>
          <a:solidFill>
            <a:schemeClr val="bg1"/>
          </a:solidFill>
          <a:ln w="12700">
            <a:solidFill>
              <a:schemeClr val="accent5"/>
            </a:solidFill>
            <a:prstDash val="solid"/>
          </a:ln>
        </p:spPr>
      </p:sp>
      <p:sp>
        <p:nvSpPr>
          <p:cNvPr id="12" name="Text 9"/>
          <p:cNvSpPr txBox="1"/>
          <p:nvPr/>
        </p:nvSpPr>
        <p:spPr>
          <a:xfrm>
            <a:off x="7068312" y="1188720"/>
            <a:ext cx="1545336" cy="822960"/>
          </a:xfrm>
          <a:prstGeom prst="rect">
            <a:avLst/>
          </a:prstGeom>
          <a:noFill/>
          <a:ln/>
        </p:spPr>
        <p:txBody>
          <a:bodyPr wrap="square" lIns="0" tIns="0" rIns="0" bIns="0" rtlCol="0" anchor="ctr"/>
          <a:lstStyle/>
          <a:p>
            <a:pPr marL="0" indent="0" algn="ctr">
              <a:buNone/>
            </a:pPr>
            <a:r>
              <a:rPr lang="en-US" sz="1400" b="1" dirty="0">
                <a:solidFill>
                  <a:schemeClr val="tx1"/>
                </a:solidFill>
              </a:rPr>
              <a:t>Services</a:t>
            </a:r>
            <a:endParaRPr lang="en-US" sz="1400" dirty="0"/>
          </a:p>
          <a:p>
            <a:pPr marL="0" indent="0" algn="ctr">
              <a:buNone/>
            </a:pPr>
            <a:r>
              <a:rPr lang="en-US" sz="1100" dirty="0">
                <a:solidFill>
                  <a:schemeClr val="tx2"/>
                </a:solidFill>
              </a:rPr>
              <a:t>ClusterIP</a:t>
            </a:r>
            <a:endParaRPr lang="en-US" sz="1400" dirty="0"/>
          </a:p>
        </p:txBody>
      </p:sp>
      <p:sp>
        <p:nvSpPr>
          <p:cNvPr id="13" name="arrow"/>
          <p:cNvSpPr/>
          <p:nvPr/>
        </p:nvSpPr>
        <p:spPr>
          <a:xfrm>
            <a:off x="2011680" y="1600200"/>
            <a:ext cx="411480" cy="0"/>
          </a:xfrm>
          <a:prstGeom prst="line">
            <a:avLst/>
          </a:prstGeom>
          <a:noFill/>
          <a:ln w="19050">
            <a:solidFill>
              <a:schemeClr val="tx2"/>
            </a:solidFill>
            <a:prstDash val="solid"/>
            <a:tailEnd type="triangle"/>
          </a:ln>
        </p:spPr>
      </p:sp>
      <p:sp>
        <p:nvSpPr>
          <p:cNvPr id="14" name="arrow"/>
          <p:cNvSpPr/>
          <p:nvPr/>
        </p:nvSpPr>
        <p:spPr>
          <a:xfrm>
            <a:off x="4343400" y="1600200"/>
            <a:ext cx="411480" cy="0"/>
          </a:xfrm>
          <a:prstGeom prst="line">
            <a:avLst/>
          </a:prstGeom>
          <a:noFill/>
          <a:ln w="19050">
            <a:solidFill>
              <a:schemeClr val="tx2"/>
            </a:solidFill>
            <a:prstDash val="solid"/>
            <a:tailEnd type="triangle"/>
          </a:ln>
        </p:spPr>
      </p:sp>
      <p:sp>
        <p:nvSpPr>
          <p:cNvPr id="15" name="arrow"/>
          <p:cNvSpPr/>
          <p:nvPr/>
        </p:nvSpPr>
        <p:spPr>
          <a:xfrm>
            <a:off x="6583680" y="1600200"/>
            <a:ext cx="411480" cy="0"/>
          </a:xfrm>
          <a:prstGeom prst="line">
            <a:avLst/>
          </a:prstGeom>
          <a:noFill/>
          <a:ln w="19050">
            <a:solidFill>
              <a:schemeClr val="tx2"/>
            </a:solidFill>
            <a:prstDash val="solid"/>
            <a:tailEnd type="triangle"/>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8229600" cy="1371600"/>
        </p:xfrm>
        <a:graphic>
          <a:graphicData uri="http://schemas.openxmlformats.org/drawingml/2006/table">
            <a:tbl>
              <a:tblPr/>
              <a:tblGrid>
                <a:gridCol w="128016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457200">
                <a:tc>
                  <a:txBody>
                    <a:bodyPr/>
                    <a:lstStyle/>
                    <a:p>
                      <a:pPr marL="0" indent="0">
                        <a:buNone/>
                      </a:pPr>
                      <a:r>
                        <a:rPr lang="en-US" sz="1300" b="1" dirty="0">
                          <a:solidFill>
                            <a:schemeClr val="bg1"/>
                          </a:solidFill>
                        </a:rPr>
                        <a:t>Path</a:t>
                      </a:r>
                      <a:endParaRPr lang="en-US" sz="13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en-US" sz="1300" b="1" dirty="0">
                          <a:solidFill>
                            <a:schemeClr val="bg1"/>
                          </a:solidFill>
                        </a:rPr>
                        <a:t>Goes to</a:t>
                      </a:r>
                      <a:endParaRPr lang="en-US" sz="13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en-US" sz="1300" b="1" dirty="0">
                          <a:solidFill>
                            <a:schemeClr val="bg1"/>
                          </a:solidFill>
                        </a:rPr>
                        <a:t>Port</a:t>
                      </a:r>
                      <a:endParaRPr lang="en-US" sz="13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57200">
                <a:tc>
                  <a:txBody>
                    <a:bodyPr/>
                    <a:lstStyle/>
                    <a:p>
                      <a:pPr marL="0" indent="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latin typeface="Courier New" charset="0"/>
                        <a:ea typeface="Courier New" charset="0"/>
                        <a:cs typeface="Courier New" charset="0"/>
                      </a:endParaRPr>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clinicq-frontend (React, nginx)</a:t>
                      </a:r>
                      <a:endParaRPr lang="en-US" sz="13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80</a:t>
                      </a:r>
                      <a:endParaRPr lang="en-US" sz="13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57200">
                <a:tc>
                  <a:txBody>
                    <a:bodyPr/>
                    <a:lstStyle/>
                    <a:p>
                      <a:pPr marL="0" indent="0">
                        <a:buNone/>
                      </a:pPr>
                      <a:r>
                        <a:rPr lang="en-US" sz="1300" dirty="0">
                          <a:solidFill>
                            <a:schemeClr val="tx1"/>
                          </a:solidFill>
                          <a:latin typeface="Courier New" pitchFamily="34" charset="0"/>
                          <a:ea typeface="Courier New" pitchFamily="34" charset="-122"/>
                          <a:cs typeface="Courier New" pitchFamily="34" charset="-120"/>
                        </a:rPr>
                        <a:t>/api</a:t>
                      </a:r>
                      <a:endParaRPr lang="en-US" sz="1300" dirty="0">
                        <a:latin typeface="Courier New" charset="0"/>
                        <a:ea typeface="Courier New" charset="0"/>
                        <a:cs typeface="Courier New" charset="0"/>
                      </a:endParaRPr>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clinicq-backend (FastAPI)</a:t>
                      </a:r>
                      <a:endParaRPr lang="en-US" sz="13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8000</a:t>
                      </a:r>
                      <a:endParaRPr lang="en-US" sz="13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bl>
          </a:graphicData>
        </a:graphic>
      </p:graphicFrame>
      <p:sp>
        <p:nvSpPr>
          <p:cNvPr id="17" name="Text 13"/>
          <p:cNvSpPr txBox="1"/>
          <p:nvPr/>
        </p:nvSpPr>
        <p:spPr>
          <a:xfrm>
            <a:off x="457200" y="4069080"/>
            <a:ext cx="8229600" cy="365760"/>
          </a:xfrm>
          <a:prstGeom prst="rect">
            <a:avLst/>
          </a:prstGeom>
          <a:noFill/>
          <a:ln/>
        </p:spPr>
        <p:txBody>
          <a:bodyPr wrap="square" lIns="0" tIns="0" rIns="0" bIns="0" rtlCol="0" anchor="t"/>
          <a:lstStyle/>
          <a:p>
            <a:pPr marL="0" indent="0">
              <a:buNone/>
            </a:pPr>
            <a:r>
              <a:rPr lang="en-US" sz="1400" dirty="0">
                <a:solidFill>
                  <a:schemeClr val="tx2"/>
                </a:solidFill>
              </a:rPr>
              <a:t>Same origin for page and API, so the app needs no CORS settings.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182880"/>
            <a:ext cx="365760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RUN</a:t>
            </a:r>
            <a:endParaRPr lang="en-US" sz="1000" dirty="0"/>
          </a:p>
        </p:txBody>
      </p:sp>
      <p:sp>
        <p:nvSpPr>
          <p:cNvPr id="3" name="Text 0"/>
          <p:cNvSpPr>
            <a:spLocks noGrp="1"/>
          </p:cNvSpPr>
          <p:nvPr>
            <p:ph type="title" idx="100" hasCustomPrompt="1"/>
          </p:nvPr>
        </p:nvSpPr>
        <p:spPr>
          <a:xfrm>
            <a:off x="457200" y="384048"/>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Autoscaling: 2 to 5 backend pods</a:t>
            </a:r>
            <a:endParaRPr lang="en-US" sz="2800" dirty="0"/>
          </a:p>
        </p:txBody>
      </p:sp>
      <p:sp>
        <p:nvSpPr>
          <p:cNvPr id="5" name="pod 1"/>
          <p:cNvSpPr/>
          <p:nvPr/>
        </p:nvSpPr>
        <p:spPr>
          <a:xfrm>
            <a:off x="457200" y="1280160"/>
            <a:ext cx="731520" cy="731520"/>
          </a:xfrm>
          <a:prstGeom prst="roundRect">
            <a:avLst>
              <a:gd name="adj" fmla="val 10000"/>
            </a:avLst>
          </a:prstGeom>
          <a:solidFill>
            <a:schemeClr val="accent1"/>
          </a:solidFill>
          <a:ln w="19050">
            <a:solidFill>
              <a:schemeClr val="accent1"/>
            </a:solidFill>
            <a:prstDash val="solid"/>
          </a:ln>
        </p:spPr>
      </p:sp>
      <p:sp>
        <p:nvSpPr>
          <p:cNvPr id="6" name="pod 2"/>
          <p:cNvSpPr/>
          <p:nvPr/>
        </p:nvSpPr>
        <p:spPr>
          <a:xfrm>
            <a:off x="1325880" y="1280160"/>
            <a:ext cx="731520" cy="731520"/>
          </a:xfrm>
          <a:prstGeom prst="roundRect">
            <a:avLst>
              <a:gd name="adj" fmla="val 10000"/>
            </a:avLst>
          </a:prstGeom>
          <a:solidFill>
            <a:schemeClr val="accent1"/>
          </a:solidFill>
          <a:ln w="19050">
            <a:solidFill>
              <a:schemeClr val="accent1"/>
            </a:solidFill>
            <a:prstDash val="solid"/>
          </a:ln>
        </p:spPr>
      </p:sp>
      <p:sp>
        <p:nvSpPr>
          <p:cNvPr id="7" name="pod 3"/>
          <p:cNvSpPr/>
          <p:nvPr/>
        </p:nvSpPr>
        <p:spPr>
          <a:xfrm>
            <a:off x="2194560" y="1280160"/>
            <a:ext cx="731520" cy="731520"/>
          </a:xfrm>
          <a:prstGeom prst="roundRect">
            <a:avLst>
              <a:gd name="adj" fmla="val 10000"/>
            </a:avLst>
          </a:prstGeom>
          <a:solidFill>
            <a:schemeClr val="bg1"/>
          </a:solidFill>
          <a:ln w="19050">
            <a:solidFill>
              <a:schemeClr val="accent1"/>
            </a:solidFill>
            <a:prstDash val="dash"/>
          </a:ln>
        </p:spPr>
      </p:sp>
      <p:sp>
        <p:nvSpPr>
          <p:cNvPr id="8" name="pod 4"/>
          <p:cNvSpPr/>
          <p:nvPr/>
        </p:nvSpPr>
        <p:spPr>
          <a:xfrm>
            <a:off x="3063240" y="1280160"/>
            <a:ext cx="731520" cy="731520"/>
          </a:xfrm>
          <a:prstGeom prst="roundRect">
            <a:avLst>
              <a:gd name="adj" fmla="val 10000"/>
            </a:avLst>
          </a:prstGeom>
          <a:solidFill>
            <a:schemeClr val="bg1"/>
          </a:solidFill>
          <a:ln w="19050">
            <a:solidFill>
              <a:schemeClr val="accent1"/>
            </a:solidFill>
            <a:prstDash val="dash"/>
          </a:ln>
        </p:spPr>
      </p:sp>
      <p:sp>
        <p:nvSpPr>
          <p:cNvPr id="9" name="pod 5"/>
          <p:cNvSpPr/>
          <p:nvPr/>
        </p:nvSpPr>
        <p:spPr>
          <a:xfrm>
            <a:off x="3931920" y="1280160"/>
            <a:ext cx="731520" cy="731520"/>
          </a:xfrm>
          <a:prstGeom prst="roundRect">
            <a:avLst>
              <a:gd name="adj" fmla="val 10000"/>
            </a:avLst>
          </a:prstGeom>
          <a:solidFill>
            <a:schemeClr val="bg1"/>
          </a:solidFill>
          <a:ln w="19050">
            <a:solidFill>
              <a:schemeClr val="accent1"/>
            </a:solidFill>
            <a:prstDash val="dash"/>
          </a:ln>
        </p:spPr>
      </p:sp>
      <p:sp>
        <p:nvSpPr>
          <p:cNvPr id="10" name="Text 7"/>
          <p:cNvSpPr txBox="1"/>
          <p:nvPr/>
        </p:nvSpPr>
        <p:spPr>
          <a:xfrm>
            <a:off x="457200" y="2103120"/>
            <a:ext cx="1554480" cy="274320"/>
          </a:xfrm>
          <a:prstGeom prst="rect">
            <a:avLst/>
          </a:prstGeom>
          <a:noFill/>
          <a:ln/>
        </p:spPr>
        <p:txBody>
          <a:bodyPr wrap="square" lIns="0" tIns="0" rIns="0" bIns="0" rtlCol="0" anchor="t"/>
          <a:lstStyle/>
          <a:p>
            <a:pPr marL="0" indent="0">
              <a:buNone/>
            </a:pPr>
            <a:r>
              <a:rPr lang="en-US" sz="1300" dirty="0">
                <a:solidFill>
                  <a:schemeClr val="tx2"/>
                </a:solidFill>
              </a:rPr>
              <a:t>2 always on</a:t>
            </a:r>
            <a:endParaRPr lang="en-US" sz="1300" dirty="0"/>
          </a:p>
        </p:txBody>
      </p:sp>
      <p:sp>
        <p:nvSpPr>
          <p:cNvPr id="11" name="Text 8"/>
          <p:cNvSpPr txBox="1"/>
          <p:nvPr/>
        </p:nvSpPr>
        <p:spPr>
          <a:xfrm>
            <a:off x="2194560" y="2103120"/>
            <a:ext cx="2286000" cy="274320"/>
          </a:xfrm>
          <a:prstGeom prst="rect">
            <a:avLst/>
          </a:prstGeom>
          <a:noFill/>
          <a:ln/>
        </p:spPr>
        <p:txBody>
          <a:bodyPr wrap="square" lIns="0" tIns="0" rIns="0" bIns="0" rtlCol="0" anchor="t"/>
          <a:lstStyle/>
          <a:p>
            <a:pPr marL="0" indent="0">
              <a:buNone/>
            </a:pPr>
            <a:r>
              <a:rPr lang="en-US" sz="1300" dirty="0">
                <a:solidFill>
                  <a:schemeClr val="tx2"/>
                </a:solidFill>
              </a:rPr>
              <a:t>3 burst capacity</a:t>
            </a:r>
            <a:endParaRPr lang="en-US" sz="1300" dirty="0"/>
          </a:p>
        </p:txBody>
      </p:sp>
      <p:sp>
        <p:nvSpPr>
          <p:cNvPr id="12" name="formula card"/>
          <p:cNvSpPr/>
          <p:nvPr/>
        </p:nvSpPr>
        <p:spPr>
          <a:xfrm>
            <a:off x="5029200" y="1188720"/>
            <a:ext cx="3657600" cy="1371600"/>
          </a:xfrm>
          <a:prstGeom prst="roundRect">
            <a:avLst>
              <a:gd name="adj" fmla="val 5333"/>
            </a:avLst>
          </a:prstGeom>
          <a:solidFill>
            <a:schemeClr val="bg2"/>
          </a:solidFill>
          <a:ln/>
        </p:spPr>
      </p:sp>
      <p:sp>
        <p:nvSpPr>
          <p:cNvPr id="13" name="Text 10"/>
          <p:cNvSpPr txBox="1"/>
          <p:nvPr/>
        </p:nvSpPr>
        <p:spPr>
          <a:xfrm>
            <a:off x="5212080" y="1325880"/>
            <a:ext cx="3291840" cy="548640"/>
          </a:xfrm>
          <a:prstGeom prst="rect">
            <a:avLst/>
          </a:prstGeom>
          <a:noFill/>
          <a:ln/>
        </p:spPr>
        <p:txBody>
          <a:bodyPr wrap="square" lIns="0" tIns="0" rIns="0" bIns="0" rtlCol="0" anchor="t"/>
          <a:lstStyle/>
          <a:p>
            <a:pPr marL="0" indent="0">
              <a:buNone/>
            </a:pPr>
            <a:r>
              <a:rPr lang="en-US" sz="1200" b="1" dirty="0">
                <a:solidFill>
                  <a:schemeClr val="tx1"/>
                </a:solidFill>
                <a:latin typeface="Courier New" pitchFamily="34" charset="0"/>
                <a:ea typeface="Courier New" pitchFamily="34" charset="-122"/>
                <a:cs typeface="Courier New" pitchFamily="34" charset="-120"/>
              </a:rPr>
              <a:t>desired replicas =</a:t>
            </a:r>
            <a:endParaRPr lang="en-US" sz="1200" dirty="0"/>
          </a:p>
          <a:p>
            <a:pPr marL="0" indent="0">
              <a:buNone/>
            </a:pPr>
            <a:r>
              <a:rPr lang="en-US" sz="1200" b="1" dirty="0">
                <a:solidFill>
                  <a:schemeClr val="tx1"/>
                </a:solidFill>
                <a:latin typeface="Courier New" pitchFamily="34" charset="0"/>
                <a:ea typeface="Courier New" pitchFamily="34" charset="-122"/>
                <a:cs typeface="Courier New" pitchFamily="34" charset="-120"/>
              </a:rPr>
              <a:t>ceil(current x usage / target)</a:t>
            </a:r>
            <a:endParaRPr lang="en-US" sz="1200" dirty="0"/>
          </a:p>
        </p:txBody>
      </p:sp>
      <p:sp>
        <p:nvSpPr>
          <p:cNvPr id="14" name="Text 11"/>
          <p:cNvSpPr txBox="1"/>
          <p:nvPr/>
        </p:nvSpPr>
        <p:spPr>
          <a:xfrm>
            <a:off x="5212080" y="1965960"/>
            <a:ext cx="3291840" cy="548640"/>
          </a:xfrm>
          <a:prstGeom prst="rect">
            <a:avLst/>
          </a:prstGeom>
          <a:noFill/>
          <a:ln/>
        </p:spPr>
        <p:txBody>
          <a:bodyPr wrap="square" lIns="0" tIns="0" rIns="0" bIns="0" rtlCol="0" anchor="t"/>
          <a:lstStyle/>
          <a:p>
            <a:pPr marL="0" indent="0">
              <a:buNone/>
            </a:pPr>
            <a:r>
              <a:rPr lang="en-US" sz="1300" dirty="0">
                <a:solidFill>
                  <a:schemeClr val="tx2"/>
                </a:solidFill>
              </a:rPr>
              <a:t>e.g. 2 pods at 90% CPU, target 60%: ceil(2 x 90 / 60) = 3 pods</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2743200"/>
          <a:ext cx="5486400" cy="1554480"/>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310896">
                <a:tc>
                  <a:txBody>
                    <a:bodyPr/>
                    <a:lstStyle/>
                    <a:p>
                      <a:pPr marL="0" indent="0">
                        <a:buNone/>
                      </a:pPr>
                      <a:r>
                        <a:rPr lang="en-US" sz="1300" b="1" dirty="0">
                          <a:solidFill>
                            <a:schemeClr val="bg1"/>
                          </a:solidFill>
                        </a:rPr>
                        <a:t>Setting</a:t>
                      </a:r>
                      <a:endParaRPr lang="en-US" sz="13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en-US" sz="1300" b="1" dirty="0">
                          <a:solidFill>
                            <a:schemeClr val="bg1"/>
                          </a:solidFill>
                        </a:rPr>
                        <a:t>Value</a:t>
                      </a:r>
                      <a:endParaRPr lang="en-US" sz="13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10896">
                <a:tc>
                  <a:txBody>
                    <a:bodyPr/>
                    <a:lstStyle/>
                    <a:p>
                      <a:pPr marL="0" indent="0">
                        <a:buNone/>
                      </a:pPr>
                      <a:r>
                        <a:rPr lang="en-US" sz="1300" dirty="0">
                          <a:solidFill>
                            <a:schemeClr val="tx1"/>
                          </a:solidFill>
                        </a:rPr>
                        <a:t>Minimum replicas</a:t>
                      </a:r>
                      <a:endParaRPr lang="en-US" sz="13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2</a:t>
                      </a:r>
                      <a:endParaRPr lang="en-US" sz="13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10896">
                <a:tc>
                  <a:txBody>
                    <a:bodyPr/>
                    <a:lstStyle/>
                    <a:p>
                      <a:pPr marL="0" indent="0">
                        <a:buNone/>
                      </a:pPr>
                      <a:r>
                        <a:rPr lang="en-US" sz="1300" dirty="0">
                          <a:solidFill>
                            <a:schemeClr val="tx1"/>
                          </a:solidFill>
                        </a:rPr>
                        <a:t>Maximum replicas</a:t>
                      </a:r>
                      <a:endParaRPr lang="en-US" sz="13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5</a:t>
                      </a:r>
                      <a:endParaRPr lang="en-US" sz="13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10896">
                <a:tc>
                  <a:txBody>
                    <a:bodyPr/>
                    <a:lstStyle/>
                    <a:p>
                      <a:pPr marL="0" indent="0">
                        <a:buNone/>
                      </a:pPr>
                      <a:r>
                        <a:rPr lang="en-US" sz="1300" dirty="0">
                          <a:solidFill>
                            <a:schemeClr val="tx1"/>
                          </a:solidFill>
                        </a:rPr>
                        <a:t>Target CPU</a:t>
                      </a:r>
                      <a:endParaRPr lang="en-US" sz="13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60% average</a:t>
                      </a:r>
                      <a:endParaRPr lang="en-US" sz="13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10896">
                <a:tc>
                  <a:txBody>
                    <a:bodyPr/>
                    <a:lstStyle/>
                    <a:p>
                      <a:pPr marL="0" indent="0">
                        <a:buNone/>
                      </a:pPr>
                      <a:r>
                        <a:rPr lang="en-US" sz="1300" dirty="0">
                          <a:solidFill>
                            <a:schemeClr val="tx1"/>
                          </a:solidFill>
                        </a:rPr>
                        <a:t>Metrics source</a:t>
                      </a:r>
                      <a:endParaRPr lang="en-US" sz="13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metrics-server</a:t>
                      </a:r>
                      <a:endParaRPr lang="en-US" sz="13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16" name="Text 12"/>
          <p:cNvSpPr txBox="1"/>
          <p:nvPr/>
        </p:nvSpPr>
        <p:spPr>
          <a:xfrm>
            <a:off x="6309360" y="2834640"/>
            <a:ext cx="2377440" cy="1097280"/>
          </a:xfrm>
          <a:prstGeom prst="rect">
            <a:avLst/>
          </a:prstGeom>
          <a:noFill/>
          <a:ln/>
        </p:spPr>
        <p:txBody>
          <a:bodyPr wrap="square" lIns="0" tIns="0" rIns="0" bIns="0" rtlCol="0" anchor="t"/>
          <a:lstStyle/>
          <a:p>
            <a:pPr marL="0" indent="0">
              <a:buNone/>
            </a:pPr>
            <a:r>
              <a:rPr lang="en-US" sz="1400" dirty="0">
                <a:solidFill>
                  <a:schemeClr val="tx2"/>
                </a:solidFill>
              </a:rPr>
              <a:t>scripts/load-test.sh sends traffic to push CPU over the target.</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182880"/>
            <a:ext cx="365760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RUN</a:t>
            </a:r>
            <a:endParaRPr lang="en-US" sz="1000" dirty="0"/>
          </a:p>
        </p:txBody>
      </p:sp>
      <p:sp>
        <p:nvSpPr>
          <p:cNvPr id="3" name="Text 0"/>
          <p:cNvSpPr>
            <a:spLocks noGrp="1"/>
          </p:cNvSpPr>
          <p:nvPr>
            <p:ph type="title" idx="100" hasCustomPrompt="1"/>
          </p:nvPr>
        </p:nvSpPr>
        <p:spPr>
          <a:xfrm>
            <a:off x="457200" y="384048"/>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Grafana shows the app, not just the cluster</a:t>
            </a:r>
            <a:endParaRPr lang="en-US" sz="2800" dirty="0"/>
          </a:p>
        </p:txBody>
      </p:sp>
      <p:pic>
        <p:nvPicPr>
          <p:cNvPr id="5" name="Image 0" descr="Grafana: ClinicQ Overview"/>
          <p:cNvPicPr>
            <a:picLocks noChangeAspect="1"/>
          </p:cNvPicPr>
          <p:nvPr/>
        </p:nvPicPr>
        <p:blipFill>
          <a:blip r:embed="rId3"/>
          <a:stretch>
            <a:fillRect/>
          </a:stretch>
        </p:blipFill>
        <p:spPr>
          <a:xfrm>
            <a:off x="457200" y="1188720"/>
            <a:ext cx="5669280" cy="2962957"/>
          </a:xfrm>
          <a:prstGeom prst="rect">
            <a:avLst/>
          </a:prstGeom>
        </p:spPr>
      </p:pic>
      <p:sp>
        <p:nvSpPr>
          <p:cNvPr id="6" name="Frame: Grafana: ClinicQ Overview"/>
          <p:cNvSpPr/>
          <p:nvPr/>
        </p:nvSpPr>
        <p:spPr>
          <a:xfrm>
            <a:off x="457200" y="1188720"/>
            <a:ext cx="5669280" cy="2962957"/>
          </a:xfrm>
          <a:prstGeom prst="rect">
            <a:avLst/>
          </a:prstGeom>
          <a:solidFill>
            <a:schemeClr val="bg1">
              <a:alpha val="0"/>
            </a:schemeClr>
          </a:solidFill>
          <a:ln w="9525">
            <a:solidFill>
              <a:schemeClr val="accent5"/>
            </a:solidFill>
            <a:prstDash val="solid"/>
          </a:ln>
        </p:spPr>
      </p:sp>
      <p:sp>
        <p:nvSpPr>
          <p:cNvPr id="7" name="Text 3"/>
          <p:cNvSpPr txBox="1"/>
          <p:nvPr/>
        </p:nvSpPr>
        <p:spPr>
          <a:xfrm>
            <a:off x="457200" y="4206541"/>
            <a:ext cx="5669280" cy="201168"/>
          </a:xfrm>
          <a:prstGeom prst="rect">
            <a:avLst/>
          </a:prstGeom>
          <a:noFill/>
          <a:ln/>
        </p:spPr>
        <p:txBody>
          <a:bodyPr wrap="square" lIns="0" tIns="0" rIns="0" bIns="0" rtlCol="0" anchor="t"/>
          <a:lstStyle/>
          <a:p>
            <a:pPr marL="0" indent="0">
              <a:buNone/>
            </a:pPr>
            <a:r>
              <a:rPr lang="en-US" sz="1000" i="1" dirty="0">
                <a:solidFill>
                  <a:schemeClr val="tx2"/>
                </a:solidFill>
              </a:rPr>
              <a:t>Grafana: ClinicQ Overview</a:t>
            </a:r>
            <a:endParaRPr lang="en-US" sz="1000" dirty="0"/>
          </a:p>
        </p:txBody>
      </p:sp>
      <p:sp>
        <p:nvSpPr>
          <p:cNvPr id="8" name="Text 4"/>
          <p:cNvSpPr txBox="1"/>
          <p:nvPr/>
        </p:nvSpPr>
        <p:spPr>
          <a:xfrm>
            <a:off x="6355080" y="1188720"/>
            <a:ext cx="2331720" cy="310896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Booked and cancelled counters come from the app itself</a:t>
            </a:r>
            <a:endParaRPr lang="en-US" sz="1400" dirty="0"/>
          </a:p>
          <a:p>
            <a:pPr marL="177800" indent="-177800">
              <a:spcAft>
                <a:spcPts val="800"/>
              </a:spcAft>
              <a:buSzPct val="100000"/>
              <a:buChar char="•"/>
            </a:pPr>
            <a:r>
              <a:rPr lang="en-US" sz="1400" dirty="0">
                <a:solidFill>
                  <a:schemeClr val="tx1"/>
                </a:solidFill>
              </a:rPr>
              <a:t>Replica count and errors from Kubernetes and HTTP metrics</a:t>
            </a:r>
            <a:endParaRPr lang="en-US" sz="1400" dirty="0"/>
          </a:p>
          <a:p>
            <a:pPr marL="177800" indent="-177800">
              <a:spcAft>
                <a:spcPts val="800"/>
              </a:spcAft>
              <a:buSzPct val="100000"/>
              <a:buChar char="•"/>
            </a:pPr>
            <a:r>
              <a:rPr lang="en-US" sz="1400" dirty="0">
                <a:solidFill>
                  <a:schemeClr val="tx1"/>
                </a:solidFill>
              </a:rPr>
              <a:t>p95 latency settles near 50 ms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182880"/>
            <a:ext cx="365760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RUN</a:t>
            </a:r>
            <a:endParaRPr lang="en-US" sz="1000" dirty="0"/>
          </a:p>
        </p:txBody>
      </p:sp>
      <p:sp>
        <p:nvSpPr>
          <p:cNvPr id="3" name="Text 0"/>
          <p:cNvSpPr>
            <a:spLocks noGrp="1"/>
          </p:cNvSpPr>
          <p:nvPr>
            <p:ph type="title" idx="100" hasCustomPrompt="1"/>
          </p:nvPr>
        </p:nvSpPr>
        <p:spPr>
          <a:xfrm>
            <a:off x="457200" y="384048"/>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Prometheus scrapes every backend pod</a:t>
            </a:r>
            <a:endParaRPr lang="en-US" sz="2800" dirty="0"/>
          </a:p>
        </p:txBody>
      </p:sp>
      <p:pic>
        <p:nvPicPr>
          <p:cNvPr id="5" name="Image 0" descr="Prometheus &gt; Status &gt; Target health: clinicq-backend 2/2 up"/>
          <p:cNvPicPr>
            <a:picLocks noChangeAspect="1"/>
          </p:cNvPicPr>
          <p:nvPr/>
        </p:nvPicPr>
        <p:blipFill>
          <a:blip r:embed="rId3"/>
          <a:stretch>
            <a:fillRect/>
          </a:stretch>
        </p:blipFill>
        <p:spPr>
          <a:xfrm>
            <a:off x="457200" y="1188720"/>
            <a:ext cx="8229600" cy="1276248"/>
          </a:xfrm>
          <a:prstGeom prst="rect">
            <a:avLst/>
          </a:prstGeom>
        </p:spPr>
      </p:pic>
      <p:sp>
        <p:nvSpPr>
          <p:cNvPr id="6" name="Frame: Prometheus &gt; Status &gt; Target health: clinicq-backend 2/2 up"/>
          <p:cNvSpPr/>
          <p:nvPr/>
        </p:nvSpPr>
        <p:spPr>
          <a:xfrm>
            <a:off x="457200" y="1188720"/>
            <a:ext cx="8229600" cy="1276248"/>
          </a:xfrm>
          <a:prstGeom prst="rect">
            <a:avLst/>
          </a:prstGeom>
          <a:solidFill>
            <a:schemeClr val="bg1">
              <a:alpha val="0"/>
            </a:schemeClr>
          </a:solidFill>
          <a:ln w="9525">
            <a:solidFill>
              <a:schemeClr val="accent5"/>
            </a:solidFill>
            <a:prstDash val="solid"/>
          </a:ln>
        </p:spPr>
      </p:sp>
      <p:sp>
        <p:nvSpPr>
          <p:cNvPr id="7" name="Text 3"/>
          <p:cNvSpPr txBox="1"/>
          <p:nvPr/>
        </p:nvSpPr>
        <p:spPr>
          <a:xfrm>
            <a:off x="457200" y="2519832"/>
            <a:ext cx="8229600" cy="201168"/>
          </a:xfrm>
          <a:prstGeom prst="rect">
            <a:avLst/>
          </a:prstGeom>
          <a:noFill/>
          <a:ln/>
        </p:spPr>
        <p:txBody>
          <a:bodyPr wrap="square" lIns="0" tIns="0" rIns="0" bIns="0" rtlCol="0" anchor="t"/>
          <a:lstStyle/>
          <a:p>
            <a:pPr marL="0" indent="0">
              <a:buNone/>
            </a:pPr>
            <a:r>
              <a:rPr lang="en-US" sz="1000" i="1" dirty="0">
                <a:solidFill>
                  <a:schemeClr val="tx2"/>
                </a:solidFill>
              </a:rPr>
              <a:t>Prometheus &gt; Status &gt; Target health: clinicq-backend 2/2 up</a:t>
            </a:r>
            <a:endParaRPr lang="en-US" sz="1000" dirty="0"/>
          </a:p>
        </p:txBody>
      </p:sp>
      <p:sp>
        <p:nvSpPr>
          <p:cNvPr id="8" name="mon card 0"/>
          <p:cNvSpPr/>
          <p:nvPr/>
        </p:nvSpPr>
        <p:spPr>
          <a:xfrm>
            <a:off x="457200" y="2926080"/>
            <a:ext cx="2651760" cy="1371600"/>
          </a:xfrm>
          <a:prstGeom prst="roundRect">
            <a:avLst>
              <a:gd name="adj" fmla="val 5333"/>
            </a:avLst>
          </a:prstGeom>
          <a:solidFill>
            <a:schemeClr val="bg2"/>
          </a:solidFill>
          <a:ln/>
        </p:spPr>
      </p:sp>
      <p:sp>
        <p:nvSpPr>
          <p:cNvPr id="9" name="Text 5"/>
          <p:cNvSpPr txBox="1"/>
          <p:nvPr/>
        </p:nvSpPr>
        <p:spPr>
          <a:xfrm>
            <a:off x="640080" y="3017520"/>
            <a:ext cx="2286000" cy="457200"/>
          </a:xfrm>
          <a:prstGeom prst="rect">
            <a:avLst/>
          </a:prstGeom>
          <a:noFill/>
          <a:ln/>
        </p:spPr>
        <p:txBody>
          <a:bodyPr wrap="square" lIns="0" tIns="0" rIns="0" bIns="0" rtlCol="0" anchor="t"/>
          <a:lstStyle/>
          <a:p>
            <a:pPr marL="0" indent="0">
              <a:buNone/>
            </a:pPr>
            <a:r>
              <a:rPr lang="en-US" sz="2200" b="1" dirty="0">
                <a:solidFill>
                  <a:schemeClr val="accent2"/>
                </a:solidFill>
                <a:latin typeface="Cambria" pitchFamily="34" charset="0"/>
                <a:ea typeface="Cambria" pitchFamily="34" charset="-122"/>
                <a:cs typeface="Cambria" pitchFamily="34" charset="-120"/>
              </a:rPr>
              <a:t>2 / 2</a:t>
            </a:r>
            <a:endParaRPr lang="en-US" sz="2200" dirty="0"/>
          </a:p>
        </p:txBody>
      </p:sp>
      <p:sp>
        <p:nvSpPr>
          <p:cNvPr id="10" name="Text 6"/>
          <p:cNvSpPr txBox="1"/>
          <p:nvPr/>
        </p:nvSpPr>
        <p:spPr>
          <a:xfrm>
            <a:off x="640080" y="3566160"/>
            <a:ext cx="2286000" cy="640080"/>
          </a:xfrm>
          <a:prstGeom prst="rect">
            <a:avLst/>
          </a:prstGeom>
          <a:noFill/>
          <a:ln/>
        </p:spPr>
        <p:txBody>
          <a:bodyPr wrap="square" lIns="0" tIns="0" rIns="0" bIns="0" rtlCol="0" anchor="t"/>
          <a:lstStyle/>
          <a:p>
            <a:pPr marL="0" indent="0">
              <a:buNone/>
            </a:pPr>
            <a:r>
              <a:rPr lang="en-US" sz="1300" dirty="0">
                <a:solidFill>
                  <a:schemeClr val="tx2"/>
                </a:solidFill>
              </a:rPr>
              <a:t>backend pods scraped at /metrics</a:t>
            </a:r>
            <a:endParaRPr lang="en-US" sz="1300" dirty="0"/>
          </a:p>
        </p:txBody>
      </p:sp>
      <p:sp>
        <p:nvSpPr>
          <p:cNvPr id="11" name="mon card 1"/>
          <p:cNvSpPr/>
          <p:nvPr/>
        </p:nvSpPr>
        <p:spPr>
          <a:xfrm>
            <a:off x="3291840" y="2926080"/>
            <a:ext cx="2651760" cy="1371600"/>
          </a:xfrm>
          <a:prstGeom prst="roundRect">
            <a:avLst>
              <a:gd name="adj" fmla="val 5333"/>
            </a:avLst>
          </a:prstGeom>
          <a:solidFill>
            <a:schemeClr val="bg2"/>
          </a:solidFill>
          <a:ln/>
        </p:spPr>
      </p:sp>
      <p:sp>
        <p:nvSpPr>
          <p:cNvPr id="12" name="Text 8"/>
          <p:cNvSpPr txBox="1"/>
          <p:nvPr/>
        </p:nvSpPr>
        <p:spPr>
          <a:xfrm>
            <a:off x="3474720" y="3017520"/>
            <a:ext cx="2286000" cy="457200"/>
          </a:xfrm>
          <a:prstGeom prst="rect">
            <a:avLst/>
          </a:prstGeom>
          <a:noFill/>
          <a:ln/>
        </p:spPr>
        <p:txBody>
          <a:bodyPr wrap="square" lIns="0" tIns="0" rIns="0" bIns="0" rtlCol="0" anchor="t"/>
          <a:lstStyle/>
          <a:p>
            <a:pPr marL="0" indent="0">
              <a:buNone/>
            </a:pPr>
            <a:r>
              <a:rPr lang="en-US" sz="2200" b="1" dirty="0">
                <a:solidFill>
                  <a:schemeClr val="accent2"/>
                </a:solidFill>
                <a:latin typeface="Cambria" pitchFamily="34" charset="0"/>
                <a:ea typeface="Cambria" pitchFamily="34" charset="-122"/>
                <a:cs typeface="Cambria" pitchFamily="34" charset="-120"/>
              </a:rPr>
              <a:t>ServiceMonitor</a:t>
            </a:r>
            <a:endParaRPr lang="en-US" sz="2200" dirty="0"/>
          </a:p>
        </p:txBody>
      </p:sp>
      <p:sp>
        <p:nvSpPr>
          <p:cNvPr id="13" name="Text 9"/>
          <p:cNvSpPr txBox="1"/>
          <p:nvPr/>
        </p:nvSpPr>
        <p:spPr>
          <a:xfrm>
            <a:off x="3474720" y="3566160"/>
            <a:ext cx="2286000" cy="640080"/>
          </a:xfrm>
          <a:prstGeom prst="rect">
            <a:avLst/>
          </a:prstGeom>
          <a:noFill/>
          <a:ln/>
        </p:spPr>
        <p:txBody>
          <a:bodyPr wrap="square" lIns="0" tIns="0" rIns="0" bIns="0" rtlCol="0" anchor="t"/>
          <a:lstStyle/>
          <a:p>
            <a:pPr marL="0" indent="0">
              <a:buNone/>
            </a:pPr>
            <a:r>
              <a:rPr lang="en-US" sz="1300" dirty="0">
                <a:solidFill>
                  <a:schemeClr val="tx2"/>
                </a:solidFill>
              </a:rPr>
              <a:t>finds pods through the backend Service</a:t>
            </a:r>
            <a:endParaRPr lang="en-US" sz="1300" dirty="0"/>
          </a:p>
        </p:txBody>
      </p:sp>
      <p:sp>
        <p:nvSpPr>
          <p:cNvPr id="14" name="mon card 2"/>
          <p:cNvSpPr/>
          <p:nvPr/>
        </p:nvSpPr>
        <p:spPr>
          <a:xfrm>
            <a:off x="6126480" y="2926080"/>
            <a:ext cx="2651760" cy="1371600"/>
          </a:xfrm>
          <a:prstGeom prst="roundRect">
            <a:avLst>
              <a:gd name="adj" fmla="val 5333"/>
            </a:avLst>
          </a:prstGeom>
          <a:solidFill>
            <a:schemeClr val="bg2"/>
          </a:solidFill>
          <a:ln/>
        </p:spPr>
      </p:sp>
      <p:sp>
        <p:nvSpPr>
          <p:cNvPr id="15" name="Text 11"/>
          <p:cNvSpPr txBox="1"/>
          <p:nvPr/>
        </p:nvSpPr>
        <p:spPr>
          <a:xfrm>
            <a:off x="6309360" y="3017520"/>
            <a:ext cx="2286000" cy="457200"/>
          </a:xfrm>
          <a:prstGeom prst="rect">
            <a:avLst/>
          </a:prstGeom>
          <a:noFill/>
          <a:ln/>
        </p:spPr>
        <p:txBody>
          <a:bodyPr wrap="square" lIns="0" tIns="0" rIns="0" bIns="0" rtlCol="0" anchor="t"/>
          <a:lstStyle/>
          <a:p>
            <a:pPr marL="0" indent="0">
              <a:buNone/>
            </a:pPr>
            <a:r>
              <a:rPr lang="en-US" sz="2200" b="1" dirty="0">
                <a:solidFill>
                  <a:schemeClr val="accent2"/>
                </a:solidFill>
                <a:latin typeface="Cambria" pitchFamily="34" charset="0"/>
                <a:ea typeface="Cambria" pitchFamily="34" charset="-122"/>
                <a:cs typeface="Cambria" pitchFamily="34" charset="-120"/>
              </a:rPr>
              <a:t>Auto-join</a:t>
            </a:r>
            <a:endParaRPr lang="en-US" sz="2200" dirty="0"/>
          </a:p>
        </p:txBody>
      </p:sp>
      <p:sp>
        <p:nvSpPr>
          <p:cNvPr id="16" name="Text 12"/>
          <p:cNvSpPr txBox="1"/>
          <p:nvPr/>
        </p:nvSpPr>
        <p:spPr>
          <a:xfrm>
            <a:off x="6309360" y="3566160"/>
            <a:ext cx="2286000" cy="640080"/>
          </a:xfrm>
          <a:prstGeom prst="rect">
            <a:avLst/>
          </a:prstGeom>
          <a:noFill/>
          <a:ln/>
        </p:spPr>
        <p:txBody>
          <a:bodyPr wrap="square" lIns="0" tIns="0" rIns="0" bIns="0" rtlCol="0" anchor="t"/>
          <a:lstStyle/>
          <a:p>
            <a:pPr marL="0" indent="0">
              <a:buNone/>
            </a:pPr>
            <a:r>
              <a:rPr lang="en-US" sz="1300" dirty="0">
                <a:solidFill>
                  <a:schemeClr val="tx2"/>
                </a:solidFill>
              </a:rPr>
              <a:t>new pods from the HPA appear as targets</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182880"/>
            <a:ext cx="365760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RUN</a:t>
            </a:r>
            <a:endParaRPr lang="en-US" sz="1000" dirty="0"/>
          </a:p>
        </p:txBody>
      </p:sp>
      <p:sp>
        <p:nvSpPr>
          <p:cNvPr id="3" name="Text 0"/>
          <p:cNvSpPr>
            <a:spLocks noGrp="1"/>
          </p:cNvSpPr>
          <p:nvPr>
            <p:ph type="title" idx="100" hasCustomPrompt="1"/>
          </p:nvPr>
        </p:nvSpPr>
        <p:spPr>
          <a:xfrm>
            <a:off x="457200" y="384048"/>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Two breakages, one debugging method</a:t>
            </a:r>
            <a:endParaRPr lang="en-US" sz="2800" dirty="0"/>
          </a:p>
        </p:txBody>
      </p:sp>
      <p:sp>
        <p:nvSpPr>
          <p:cNvPr id="5" name="lab 1. ImagePullBackOff"/>
          <p:cNvSpPr/>
          <p:nvPr/>
        </p:nvSpPr>
        <p:spPr>
          <a:xfrm>
            <a:off x="457200" y="1188720"/>
            <a:ext cx="3977640" cy="3246120"/>
          </a:xfrm>
          <a:prstGeom prst="roundRect">
            <a:avLst>
              <a:gd name="adj" fmla="val 2254"/>
            </a:avLst>
          </a:prstGeom>
          <a:solidFill>
            <a:schemeClr val="bg2"/>
          </a:solidFill>
          <a:ln/>
        </p:spPr>
      </p:sp>
      <p:sp>
        <p:nvSpPr>
          <p:cNvPr id="6" name="Text 3"/>
          <p:cNvSpPr txBox="1"/>
          <p:nvPr/>
        </p:nvSpPr>
        <p:spPr>
          <a:xfrm>
            <a:off x="640080" y="1280160"/>
            <a:ext cx="3611880" cy="274320"/>
          </a:xfrm>
          <a:prstGeom prst="rect">
            <a:avLst/>
          </a:prstGeom>
          <a:noFill/>
          <a:ln/>
        </p:spPr>
        <p:txBody>
          <a:bodyPr wrap="square" lIns="0" tIns="0" rIns="0" bIns="0" rtlCol="0" anchor="t"/>
          <a:lstStyle/>
          <a:p>
            <a:pPr marL="0" indent="0">
              <a:buNone/>
            </a:pPr>
            <a:r>
              <a:rPr lang="en-US" sz="1600" b="1" dirty="0">
                <a:solidFill>
                  <a:schemeClr val="tx1"/>
                </a:solidFill>
              </a:rPr>
              <a:t>1. ImagePullBackOff</a:t>
            </a:r>
            <a:endParaRPr lang="en-US" sz="1600" dirty="0"/>
          </a:p>
        </p:txBody>
      </p:sp>
      <p:sp>
        <p:nvSpPr>
          <p:cNvPr id="7" name="Text 4"/>
          <p:cNvSpPr txBox="1"/>
          <p:nvPr/>
        </p:nvSpPr>
        <p:spPr>
          <a:xfrm>
            <a:off x="640080" y="1645920"/>
            <a:ext cx="3611880" cy="502920"/>
          </a:xfrm>
          <a:prstGeom prst="rect">
            <a:avLst/>
          </a:prstGeom>
          <a:noFill/>
          <a:ln/>
        </p:spPr>
        <p:txBody>
          <a:bodyPr wrap="square" lIns="0" tIns="0" rIns="0" bIns="0" rtlCol="0" anchor="t"/>
          <a:lstStyle/>
          <a:p>
            <a:pPr marL="0" indent="0">
              <a:buNone/>
            </a:pPr>
            <a:r>
              <a:rPr lang="en-US" sz="1300" b="1" dirty="0">
                <a:solidFill>
                  <a:schemeClr val="tx1"/>
                </a:solidFill>
              </a:rPr>
              <a:t>Symptom  </a:t>
            </a:r>
            <a:r>
              <a:rPr lang="en-US" sz="1300" dirty="0">
                <a:solidFill>
                  <a:schemeClr val="tx2"/>
                </a:solidFill>
              </a:rPr>
              <a:t>pod never starts</a:t>
            </a:r>
            <a:endParaRPr lang="en-US" sz="1300" dirty="0"/>
          </a:p>
        </p:txBody>
      </p:sp>
      <p:sp>
        <p:nvSpPr>
          <p:cNvPr id="8" name="code card"/>
          <p:cNvSpPr/>
          <p:nvPr/>
        </p:nvSpPr>
        <p:spPr>
          <a:xfrm>
            <a:off x="640080" y="2240280"/>
            <a:ext cx="3611880" cy="1280160"/>
          </a:xfrm>
          <a:prstGeom prst="roundRect">
            <a:avLst>
              <a:gd name="adj" fmla="val 4286"/>
            </a:avLst>
          </a:prstGeom>
          <a:solidFill>
            <a:schemeClr val="tx1"/>
          </a:solidFill>
          <a:ln/>
        </p:spPr>
      </p:sp>
      <p:sp>
        <p:nvSpPr>
          <p:cNvPr id="9" name="Text 6"/>
          <p:cNvSpPr txBox="1"/>
          <p:nvPr/>
        </p:nvSpPr>
        <p:spPr>
          <a:xfrm>
            <a:off x="777240" y="2331720"/>
            <a:ext cx="3337560" cy="1097280"/>
          </a:xfrm>
          <a:prstGeom prst="rect">
            <a:avLst/>
          </a:prstGeom>
          <a:noFill/>
          <a:ln/>
        </p:spPr>
        <p:txBody>
          <a:bodyPr wrap="square" lIns="0" tIns="0" rIns="0" bIns="0" rtlCol="0" anchor="t"/>
          <a:lstStyle/>
          <a:p>
            <a:pPr marL="0" indent="0">
              <a:spcAft>
                <a:spcPts val="300"/>
              </a:spcAft>
              <a:buNone/>
            </a:pPr>
            <a:r>
              <a:rPr lang="en-US" sz="1100" dirty="0">
                <a:solidFill>
                  <a:schemeClr val="accent5"/>
                </a:solidFill>
                <a:latin typeface="Courier New" pitchFamily="34" charset="0"/>
                <a:ea typeface="Courier New" pitchFamily="34" charset="-122"/>
                <a:cs typeface="Courier New" pitchFamily="34" charset="-120"/>
              </a:rPr>
              <a:t>$ kubectl get pods -n clinicq</a:t>
            </a:r>
            <a:endParaRPr lang="en-US" sz="1100" dirty="0"/>
          </a:p>
          <a:p>
            <a:pPr marL="0" indent="0">
              <a:spcAft>
                <a:spcPts val="300"/>
              </a:spcAft>
              <a:buNone/>
            </a:pPr>
            <a:r>
              <a:rPr lang="en-US" sz="1100" dirty="0">
                <a:solidFill>
                  <a:schemeClr val="bg1"/>
                </a:solidFill>
                <a:latin typeface="Courier New" pitchFamily="34" charset="0"/>
                <a:ea typeface="Courier New" pitchFamily="34" charset="-122"/>
                <a:cs typeface="Courier New" pitchFamily="34" charset="-120"/>
              </a:rPr>
              <a:t>STATUS: ImagePullBackOff</a:t>
            </a:r>
            <a:endParaRPr lang="en-US" sz="1100" dirty="0"/>
          </a:p>
          <a:p>
            <a:pPr marL="0" indent="0">
              <a:spcAft>
                <a:spcPts val="300"/>
              </a:spcAft>
              <a:buNone/>
            </a:pPr>
            <a:r>
              <a:rPr lang="en-US" sz="1100" dirty="0">
                <a:solidFill>
                  <a:schemeClr val="accent5"/>
                </a:solidFill>
                <a:latin typeface="Courier New" pitchFamily="34" charset="0"/>
                <a:ea typeface="Courier New" pitchFamily="34" charset="-122"/>
                <a:cs typeface="Courier New" pitchFamily="34" charset="-120"/>
              </a:rPr>
              <a:t>$ kubectl describe pod &lt;pod&gt;</a:t>
            </a:r>
            <a:endParaRPr lang="en-US" sz="1100" dirty="0"/>
          </a:p>
          <a:p>
            <a:pPr marL="0" indent="0">
              <a:spcAft>
                <a:spcPts val="300"/>
              </a:spcAft>
              <a:buNone/>
            </a:pPr>
            <a:r>
              <a:rPr lang="en-US" sz="1100" dirty="0">
                <a:solidFill>
                  <a:schemeClr val="bg1"/>
                </a:solidFill>
                <a:latin typeface="Courier New" pitchFamily="34" charset="0"/>
                <a:ea typeface="Courier New" pitchFamily="34" charset="-122"/>
                <a:cs typeface="Courier New" pitchFamily="34" charset="-120"/>
              </a:rPr>
              <a:t>Events: Failed to pull image ... not found</a:t>
            </a:r>
            <a:endParaRPr lang="en-US" sz="1100" dirty="0"/>
          </a:p>
        </p:txBody>
      </p:sp>
      <p:sp>
        <p:nvSpPr>
          <p:cNvPr id="10" name="Text 7"/>
          <p:cNvSpPr txBox="1"/>
          <p:nvPr/>
        </p:nvSpPr>
        <p:spPr>
          <a:xfrm>
            <a:off x="640080" y="3657600"/>
            <a:ext cx="3611880" cy="685800"/>
          </a:xfrm>
          <a:prstGeom prst="rect">
            <a:avLst/>
          </a:prstGeom>
          <a:noFill/>
          <a:ln/>
        </p:spPr>
        <p:txBody>
          <a:bodyPr wrap="square" lIns="0" tIns="0" rIns="0" bIns="0" rtlCol="0" anchor="t"/>
          <a:lstStyle/>
          <a:p>
            <a:pPr marL="0" indent="0">
              <a:buNone/>
            </a:pPr>
            <a:r>
              <a:rPr lang="en-US" sz="1300" b="1" dirty="0">
                <a:solidFill>
                  <a:schemeClr val="tx1"/>
                </a:solidFill>
              </a:rPr>
              <a:t>Fix  </a:t>
            </a:r>
            <a:r>
              <a:rPr lang="en-US" sz="1300" dirty="0">
                <a:solidFill>
                  <a:schemeClr val="tx2"/>
                </a:solidFill>
              </a:rPr>
              <a:t>correct the image tag and re-apply</a:t>
            </a:r>
            <a:endParaRPr lang="en-US" sz="1300" dirty="0"/>
          </a:p>
        </p:txBody>
      </p:sp>
      <p:sp>
        <p:nvSpPr>
          <p:cNvPr id="11" name="lab 2. Service without endpoints"/>
          <p:cNvSpPr/>
          <p:nvPr/>
        </p:nvSpPr>
        <p:spPr>
          <a:xfrm>
            <a:off x="4709160" y="1188720"/>
            <a:ext cx="3977640" cy="3246120"/>
          </a:xfrm>
          <a:prstGeom prst="roundRect">
            <a:avLst>
              <a:gd name="adj" fmla="val 2254"/>
            </a:avLst>
          </a:prstGeom>
          <a:solidFill>
            <a:schemeClr val="bg2"/>
          </a:solidFill>
          <a:ln/>
        </p:spPr>
      </p:sp>
      <p:sp>
        <p:nvSpPr>
          <p:cNvPr id="12" name="Text 9"/>
          <p:cNvSpPr txBox="1"/>
          <p:nvPr/>
        </p:nvSpPr>
        <p:spPr>
          <a:xfrm>
            <a:off x="4892040" y="1280160"/>
            <a:ext cx="3611880" cy="274320"/>
          </a:xfrm>
          <a:prstGeom prst="rect">
            <a:avLst/>
          </a:prstGeom>
          <a:noFill/>
          <a:ln/>
        </p:spPr>
        <p:txBody>
          <a:bodyPr wrap="square" lIns="0" tIns="0" rIns="0" bIns="0" rtlCol="0" anchor="t"/>
          <a:lstStyle/>
          <a:p>
            <a:pPr marL="0" indent="0">
              <a:buNone/>
            </a:pPr>
            <a:r>
              <a:rPr lang="en-US" sz="1600" b="1" dirty="0">
                <a:solidFill>
                  <a:schemeClr val="tx1"/>
                </a:solidFill>
              </a:rPr>
              <a:t>2. Service without endpoints</a:t>
            </a:r>
            <a:endParaRPr lang="en-US" sz="1600" dirty="0"/>
          </a:p>
        </p:txBody>
      </p:sp>
      <p:sp>
        <p:nvSpPr>
          <p:cNvPr id="13" name="Text 10"/>
          <p:cNvSpPr txBox="1"/>
          <p:nvPr/>
        </p:nvSpPr>
        <p:spPr>
          <a:xfrm>
            <a:off x="4892040" y="1645920"/>
            <a:ext cx="3611880" cy="502920"/>
          </a:xfrm>
          <a:prstGeom prst="rect">
            <a:avLst/>
          </a:prstGeom>
          <a:noFill/>
          <a:ln/>
        </p:spPr>
        <p:txBody>
          <a:bodyPr wrap="square" lIns="0" tIns="0" rIns="0" bIns="0" rtlCol="0" anchor="t"/>
          <a:lstStyle/>
          <a:p>
            <a:pPr marL="0" indent="0">
              <a:buNone/>
            </a:pPr>
            <a:r>
              <a:rPr lang="en-US" sz="1300" b="1" dirty="0">
                <a:solidFill>
                  <a:schemeClr val="tx1"/>
                </a:solidFill>
              </a:rPr>
              <a:t>Symptom  </a:t>
            </a:r>
            <a:r>
              <a:rPr lang="en-US" sz="1300" dirty="0">
                <a:solidFill>
                  <a:schemeClr val="tx2"/>
                </a:solidFill>
              </a:rPr>
              <a:t>pods Running, no traffic</a:t>
            </a:r>
            <a:endParaRPr lang="en-US" sz="1300" dirty="0"/>
          </a:p>
        </p:txBody>
      </p:sp>
      <p:sp>
        <p:nvSpPr>
          <p:cNvPr id="14" name="code card"/>
          <p:cNvSpPr/>
          <p:nvPr/>
        </p:nvSpPr>
        <p:spPr>
          <a:xfrm>
            <a:off x="4892040" y="2240280"/>
            <a:ext cx="3611880" cy="1280160"/>
          </a:xfrm>
          <a:prstGeom prst="roundRect">
            <a:avLst>
              <a:gd name="adj" fmla="val 4286"/>
            </a:avLst>
          </a:prstGeom>
          <a:solidFill>
            <a:schemeClr val="tx1"/>
          </a:solidFill>
          <a:ln/>
        </p:spPr>
      </p:sp>
      <p:sp>
        <p:nvSpPr>
          <p:cNvPr id="15" name="Text 12"/>
          <p:cNvSpPr txBox="1"/>
          <p:nvPr/>
        </p:nvSpPr>
        <p:spPr>
          <a:xfrm>
            <a:off x="5029200" y="2331720"/>
            <a:ext cx="3337560" cy="1097280"/>
          </a:xfrm>
          <a:prstGeom prst="rect">
            <a:avLst/>
          </a:prstGeom>
          <a:noFill/>
          <a:ln/>
        </p:spPr>
        <p:txBody>
          <a:bodyPr wrap="square" lIns="0" tIns="0" rIns="0" bIns="0" rtlCol="0" anchor="t"/>
          <a:lstStyle/>
          <a:p>
            <a:pPr marL="0" indent="0">
              <a:spcAft>
                <a:spcPts val="300"/>
              </a:spcAft>
              <a:buNone/>
            </a:pPr>
            <a:r>
              <a:rPr lang="en-US" sz="1100" dirty="0">
                <a:solidFill>
                  <a:schemeClr val="accent5"/>
                </a:solidFill>
                <a:latin typeface="Courier New" pitchFamily="34" charset="0"/>
                <a:ea typeface="Courier New" pitchFamily="34" charset="-122"/>
                <a:cs typeface="Courier New" pitchFamily="34" charset="-120"/>
              </a:rPr>
              <a:t>$ kubectl get pods --show-labels</a:t>
            </a:r>
            <a:endParaRPr lang="en-US" sz="1100" dirty="0"/>
          </a:p>
          <a:p>
            <a:pPr marL="0" indent="0">
              <a:spcAft>
                <a:spcPts val="300"/>
              </a:spcAft>
              <a:buNone/>
            </a:pPr>
            <a:r>
              <a:rPr lang="en-US" sz="1100" dirty="0">
                <a:solidFill>
                  <a:schemeClr val="accent5"/>
                </a:solidFill>
                <a:latin typeface="Courier New" pitchFamily="34" charset="0"/>
                <a:ea typeface="Courier New" pitchFamily="34" charset="-122"/>
                <a:cs typeface="Courier New" pitchFamily="34" charset="-120"/>
              </a:rPr>
              <a:t>$ kubectl get endpoints -n clinicq</a:t>
            </a:r>
            <a:endParaRPr lang="en-US" sz="1100" dirty="0"/>
          </a:p>
          <a:p>
            <a:pPr marL="0" indent="0">
              <a:spcAft>
                <a:spcPts val="300"/>
              </a:spcAft>
              <a:buNone/>
            </a:pPr>
            <a:r>
              <a:rPr lang="en-US" sz="1100" dirty="0">
                <a:solidFill>
                  <a:schemeClr val="bg1"/>
                </a:solidFill>
                <a:latin typeface="Courier New" pitchFamily="34" charset="0"/>
                <a:ea typeface="Courier New" pitchFamily="34" charset="-122"/>
                <a:cs typeface="Courier New" pitchFamily="34" charset="-120"/>
              </a:rPr>
              <a:t>ENDPOINTS: &lt;none&gt;</a:t>
            </a:r>
            <a:endParaRPr lang="en-US" sz="1100" dirty="0"/>
          </a:p>
          <a:p>
            <a:pPr marL="0" indent="0">
              <a:spcAft>
                <a:spcPts val="300"/>
              </a:spcAft>
              <a:buNone/>
            </a:pPr>
            <a:r>
              <a:rPr lang="en-US" sz="1100" dirty="0">
                <a:solidFill>
                  <a:schemeClr val="bg1"/>
                </a:solidFill>
                <a:latin typeface="Courier New" pitchFamily="34" charset="0"/>
                <a:ea typeface="Courier New" pitchFamily="34" charset="-122"/>
                <a:cs typeface="Courier New" pitchFamily="34" charset="-120"/>
              </a:rPr>
              <a:t>selector does not match pod labels</a:t>
            </a:r>
            <a:endParaRPr lang="en-US" sz="1100" dirty="0"/>
          </a:p>
        </p:txBody>
      </p:sp>
      <p:sp>
        <p:nvSpPr>
          <p:cNvPr id="16" name="Text 13"/>
          <p:cNvSpPr txBox="1"/>
          <p:nvPr/>
        </p:nvSpPr>
        <p:spPr>
          <a:xfrm>
            <a:off x="4892040" y="3657600"/>
            <a:ext cx="3611880" cy="685800"/>
          </a:xfrm>
          <a:prstGeom prst="rect">
            <a:avLst/>
          </a:prstGeom>
          <a:noFill/>
          <a:ln/>
        </p:spPr>
        <p:txBody>
          <a:bodyPr wrap="square" lIns="0" tIns="0" rIns="0" bIns="0" rtlCol="0" anchor="t"/>
          <a:lstStyle/>
          <a:p>
            <a:pPr marL="0" indent="0">
              <a:buNone/>
            </a:pPr>
            <a:r>
              <a:rPr lang="en-US" sz="1300" b="1" dirty="0">
                <a:solidFill>
                  <a:schemeClr val="tx1"/>
                </a:solidFill>
              </a:rPr>
              <a:t>Fix  </a:t>
            </a:r>
            <a:r>
              <a:rPr lang="en-US" sz="1300" dirty="0">
                <a:solidFill>
                  <a:schemeClr val="tx2"/>
                </a:solidFill>
              </a:rPr>
              <a:t>make the Service selector match the pod labels</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57200" y="182880"/>
            <a:ext cx="365760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RESULTS</a:t>
            </a:r>
            <a:endParaRPr lang="en-US" sz="1000" dirty="0"/>
          </a:p>
        </p:txBody>
      </p:sp>
      <p:sp>
        <p:nvSpPr>
          <p:cNvPr id="3" name="Text 0"/>
          <p:cNvSpPr>
            <a:spLocks noGrp="1"/>
          </p:cNvSpPr>
          <p:nvPr>
            <p:ph type="title" idx="100" hasCustomPrompt="1"/>
          </p:nvPr>
        </p:nvSpPr>
        <p:spPr>
          <a:xfrm>
            <a:off x="457200" y="384048"/>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The results, in numbers</a:t>
            </a:r>
            <a:endParaRPr lang="en-US" sz="2800" dirty="0"/>
          </a:p>
        </p:txBody>
      </p:sp>
      <p:sp>
        <p:nvSpPr>
          <p:cNvPr id="5" name="stat tests passed"/>
          <p:cNvSpPr/>
          <p:nvPr/>
        </p:nvSpPr>
        <p:spPr>
          <a:xfrm>
            <a:off x="457200" y="1280160"/>
            <a:ext cx="1920240" cy="1920240"/>
          </a:xfrm>
          <a:prstGeom prst="roundRect">
            <a:avLst>
              <a:gd name="adj" fmla="val 3810"/>
            </a:avLst>
          </a:prstGeom>
          <a:solidFill>
            <a:schemeClr val="bg2"/>
          </a:solidFill>
          <a:ln/>
        </p:spPr>
      </p:sp>
      <p:sp>
        <p:nvSpPr>
          <p:cNvPr id="6" name="Text 3"/>
          <p:cNvSpPr txBox="1"/>
          <p:nvPr/>
        </p:nvSpPr>
        <p:spPr>
          <a:xfrm>
            <a:off x="594360" y="1463040"/>
            <a:ext cx="1645920" cy="731520"/>
          </a:xfrm>
          <a:prstGeom prst="rect">
            <a:avLst/>
          </a:prstGeom>
          <a:noFill/>
          <a:ln/>
        </p:spPr>
        <p:txBody>
          <a:bodyPr wrap="square" lIns="0" tIns="0" rIns="0" bIns="0" rtlCol="0" anchor="ctr"/>
          <a:lstStyle/>
          <a:p>
            <a:pPr marL="0" indent="0">
              <a:buNone/>
            </a:pPr>
            <a:r>
              <a:rPr lang="en-US" sz="3600" b="1" dirty="0">
                <a:solidFill>
                  <a:schemeClr val="accent2"/>
                </a:solidFill>
                <a:latin typeface="Cambria" pitchFamily="34" charset="0"/>
                <a:ea typeface="Cambria" pitchFamily="34" charset="-122"/>
                <a:cs typeface="Cambria" pitchFamily="34" charset="-120"/>
              </a:rPr>
              <a:t>24</a:t>
            </a:r>
            <a:endParaRPr lang="en-US" sz="3600" dirty="0"/>
          </a:p>
        </p:txBody>
      </p:sp>
      <p:sp>
        <p:nvSpPr>
          <p:cNvPr id="7" name="Text 4"/>
          <p:cNvSpPr txBox="1"/>
          <p:nvPr/>
        </p:nvSpPr>
        <p:spPr>
          <a:xfrm>
            <a:off x="594360" y="2286000"/>
            <a:ext cx="1645920" cy="320040"/>
          </a:xfrm>
          <a:prstGeom prst="rect">
            <a:avLst/>
          </a:prstGeom>
          <a:noFill/>
          <a:ln/>
        </p:spPr>
        <p:txBody>
          <a:bodyPr wrap="square" lIns="0" tIns="0" rIns="0" bIns="0" rtlCol="0" anchor="t"/>
          <a:lstStyle/>
          <a:p>
            <a:pPr marL="0" indent="0">
              <a:buNone/>
            </a:pPr>
            <a:r>
              <a:rPr lang="en-US" sz="1400" b="1" dirty="0">
                <a:solidFill>
                  <a:schemeClr val="tx1"/>
                </a:solidFill>
              </a:rPr>
              <a:t>tests passed</a:t>
            </a:r>
            <a:endParaRPr lang="en-US" sz="1400" dirty="0"/>
          </a:p>
        </p:txBody>
      </p:sp>
      <p:sp>
        <p:nvSpPr>
          <p:cNvPr id="8" name="Text 5"/>
          <p:cNvSpPr txBox="1"/>
          <p:nvPr/>
        </p:nvSpPr>
        <p:spPr>
          <a:xfrm>
            <a:off x="594360" y="2606040"/>
            <a:ext cx="1645920" cy="320040"/>
          </a:xfrm>
          <a:prstGeom prst="rect">
            <a:avLst/>
          </a:prstGeom>
          <a:noFill/>
          <a:ln/>
        </p:spPr>
        <p:txBody>
          <a:bodyPr wrap="square" lIns="0" tIns="0" rIns="0" bIns="0" rtlCol="0" anchor="t"/>
          <a:lstStyle/>
          <a:p>
            <a:pPr marL="0" indent="0">
              <a:buNone/>
            </a:pPr>
            <a:r>
              <a:rPr lang="en-US" sz="1200" dirty="0">
                <a:solidFill>
                  <a:schemeClr val="tx2"/>
                </a:solidFill>
              </a:rPr>
              <a:t>in 1.54 s</a:t>
            </a:r>
            <a:endParaRPr lang="en-US" sz="1200" dirty="0"/>
          </a:p>
        </p:txBody>
      </p:sp>
      <p:sp>
        <p:nvSpPr>
          <p:cNvPr id="9" name="stat pipeline run"/>
          <p:cNvSpPr/>
          <p:nvPr/>
        </p:nvSpPr>
        <p:spPr>
          <a:xfrm>
            <a:off x="2560320" y="1280160"/>
            <a:ext cx="1920240" cy="1920240"/>
          </a:xfrm>
          <a:prstGeom prst="roundRect">
            <a:avLst>
              <a:gd name="adj" fmla="val 3810"/>
            </a:avLst>
          </a:prstGeom>
          <a:solidFill>
            <a:schemeClr val="bg2"/>
          </a:solidFill>
          <a:ln/>
        </p:spPr>
      </p:sp>
      <p:sp>
        <p:nvSpPr>
          <p:cNvPr id="10" name="Text 7"/>
          <p:cNvSpPr txBox="1"/>
          <p:nvPr/>
        </p:nvSpPr>
        <p:spPr>
          <a:xfrm>
            <a:off x="2697480" y="1463040"/>
            <a:ext cx="1645920" cy="731520"/>
          </a:xfrm>
          <a:prstGeom prst="rect">
            <a:avLst/>
          </a:prstGeom>
          <a:noFill/>
          <a:ln/>
        </p:spPr>
        <p:txBody>
          <a:bodyPr wrap="square" lIns="0" tIns="0" rIns="0" bIns="0" rtlCol="0" anchor="ctr"/>
          <a:lstStyle/>
          <a:p>
            <a:pPr marL="0" indent="0">
              <a:buNone/>
            </a:pPr>
            <a:r>
              <a:rPr lang="en-US" sz="3600" b="1" dirty="0">
                <a:solidFill>
                  <a:schemeClr val="accent2"/>
                </a:solidFill>
                <a:latin typeface="Cambria" pitchFamily="34" charset="0"/>
                <a:ea typeface="Cambria" pitchFamily="34" charset="-122"/>
                <a:cs typeface="Cambria" pitchFamily="34" charset="-120"/>
              </a:rPr>
              <a:t>1m 18s</a:t>
            </a:r>
            <a:endParaRPr lang="en-US" sz="3600" dirty="0"/>
          </a:p>
        </p:txBody>
      </p:sp>
      <p:sp>
        <p:nvSpPr>
          <p:cNvPr id="11" name="Text 8"/>
          <p:cNvSpPr txBox="1"/>
          <p:nvPr/>
        </p:nvSpPr>
        <p:spPr>
          <a:xfrm>
            <a:off x="2697480" y="2286000"/>
            <a:ext cx="1645920" cy="320040"/>
          </a:xfrm>
          <a:prstGeom prst="rect">
            <a:avLst/>
          </a:prstGeom>
          <a:noFill/>
          <a:ln/>
        </p:spPr>
        <p:txBody>
          <a:bodyPr wrap="square" lIns="0" tIns="0" rIns="0" bIns="0" rtlCol="0" anchor="t"/>
          <a:lstStyle/>
          <a:p>
            <a:pPr marL="0" indent="0">
              <a:buNone/>
            </a:pPr>
            <a:r>
              <a:rPr lang="en-US" sz="1400" b="1" dirty="0">
                <a:solidFill>
                  <a:schemeClr val="tx1"/>
                </a:solidFill>
              </a:rPr>
              <a:t>pipeline run</a:t>
            </a:r>
            <a:endParaRPr lang="en-US" sz="1400" dirty="0"/>
          </a:p>
        </p:txBody>
      </p:sp>
      <p:sp>
        <p:nvSpPr>
          <p:cNvPr id="12" name="Text 9"/>
          <p:cNvSpPr txBox="1"/>
          <p:nvPr/>
        </p:nvSpPr>
        <p:spPr>
          <a:xfrm>
            <a:off x="2697480" y="2606040"/>
            <a:ext cx="1645920" cy="320040"/>
          </a:xfrm>
          <a:prstGeom prst="rect">
            <a:avLst/>
          </a:prstGeom>
          <a:noFill/>
          <a:ln/>
        </p:spPr>
        <p:txBody>
          <a:bodyPr wrap="square" lIns="0" tIns="0" rIns="0" bIns="0" rtlCol="0" anchor="t"/>
          <a:lstStyle/>
          <a:p>
            <a:pPr marL="0" indent="0">
              <a:buNone/>
            </a:pPr>
            <a:r>
              <a:rPr lang="en-US" sz="1200" dirty="0">
                <a:solidFill>
                  <a:schemeClr val="tx2"/>
                </a:solidFill>
              </a:rPr>
              <a:t>test, scan, push</a:t>
            </a:r>
            <a:endParaRPr lang="en-US" sz="1200" dirty="0"/>
          </a:p>
        </p:txBody>
      </p:sp>
      <p:sp>
        <p:nvSpPr>
          <p:cNvPr id="13" name="stat pods Running"/>
          <p:cNvSpPr/>
          <p:nvPr/>
        </p:nvSpPr>
        <p:spPr>
          <a:xfrm>
            <a:off x="4663440" y="1280160"/>
            <a:ext cx="1920240" cy="1920240"/>
          </a:xfrm>
          <a:prstGeom prst="roundRect">
            <a:avLst>
              <a:gd name="adj" fmla="val 3810"/>
            </a:avLst>
          </a:prstGeom>
          <a:solidFill>
            <a:schemeClr val="bg2"/>
          </a:solidFill>
          <a:ln/>
        </p:spPr>
      </p:sp>
      <p:sp>
        <p:nvSpPr>
          <p:cNvPr id="14" name="Text 11"/>
          <p:cNvSpPr txBox="1"/>
          <p:nvPr/>
        </p:nvSpPr>
        <p:spPr>
          <a:xfrm>
            <a:off x="4800600" y="1463040"/>
            <a:ext cx="1645920" cy="731520"/>
          </a:xfrm>
          <a:prstGeom prst="rect">
            <a:avLst/>
          </a:prstGeom>
          <a:noFill/>
          <a:ln/>
        </p:spPr>
        <p:txBody>
          <a:bodyPr wrap="square" lIns="0" tIns="0" rIns="0" bIns="0" rtlCol="0" anchor="ctr"/>
          <a:lstStyle/>
          <a:p>
            <a:pPr marL="0" indent="0">
              <a:buNone/>
            </a:pPr>
            <a:r>
              <a:rPr lang="en-US" sz="3600" b="1" dirty="0">
                <a:solidFill>
                  <a:schemeClr val="accent2"/>
                </a:solidFill>
                <a:latin typeface="Cambria" pitchFamily="34" charset="0"/>
                <a:ea typeface="Cambria" pitchFamily="34" charset="-122"/>
                <a:cs typeface="Cambria" pitchFamily="34" charset="-120"/>
              </a:rPr>
              <a:t>5</a:t>
            </a:r>
            <a:endParaRPr lang="en-US" sz="3600" dirty="0"/>
          </a:p>
        </p:txBody>
      </p:sp>
      <p:sp>
        <p:nvSpPr>
          <p:cNvPr id="15" name="Text 12"/>
          <p:cNvSpPr txBox="1"/>
          <p:nvPr/>
        </p:nvSpPr>
        <p:spPr>
          <a:xfrm>
            <a:off x="4800600" y="2286000"/>
            <a:ext cx="1645920" cy="320040"/>
          </a:xfrm>
          <a:prstGeom prst="rect">
            <a:avLst/>
          </a:prstGeom>
          <a:noFill/>
          <a:ln/>
        </p:spPr>
        <p:txBody>
          <a:bodyPr wrap="square" lIns="0" tIns="0" rIns="0" bIns="0" rtlCol="0" anchor="t"/>
          <a:lstStyle/>
          <a:p>
            <a:pPr marL="0" indent="0">
              <a:buNone/>
            </a:pPr>
            <a:r>
              <a:rPr lang="en-US" sz="1400" b="1" dirty="0">
                <a:solidFill>
                  <a:schemeClr val="tx1"/>
                </a:solidFill>
              </a:rPr>
              <a:t>pods Running</a:t>
            </a:r>
            <a:endParaRPr lang="en-US" sz="1400" dirty="0"/>
          </a:p>
        </p:txBody>
      </p:sp>
      <p:sp>
        <p:nvSpPr>
          <p:cNvPr id="16" name="Text 13"/>
          <p:cNvSpPr txBox="1"/>
          <p:nvPr/>
        </p:nvSpPr>
        <p:spPr>
          <a:xfrm>
            <a:off x="4800600" y="2606040"/>
            <a:ext cx="1645920" cy="320040"/>
          </a:xfrm>
          <a:prstGeom prst="rect">
            <a:avLst/>
          </a:prstGeom>
          <a:noFill/>
          <a:ln/>
        </p:spPr>
        <p:txBody>
          <a:bodyPr wrap="square" lIns="0" tIns="0" rIns="0" bIns="0" rtlCol="0" anchor="t"/>
          <a:lstStyle/>
          <a:p>
            <a:pPr marL="0" indent="0">
              <a:buNone/>
            </a:pPr>
            <a:r>
              <a:rPr lang="en-US" sz="1200" dirty="0">
                <a:solidFill>
                  <a:schemeClr val="tx2"/>
                </a:solidFill>
              </a:rPr>
              <a:t>on EKS</a:t>
            </a:r>
            <a:endParaRPr lang="en-US" sz="1200" dirty="0"/>
          </a:p>
        </p:txBody>
      </p:sp>
      <p:sp>
        <p:nvSpPr>
          <p:cNvPr id="17" name="stat backend targets UP"/>
          <p:cNvSpPr/>
          <p:nvPr/>
        </p:nvSpPr>
        <p:spPr>
          <a:xfrm>
            <a:off x="6766560" y="1280160"/>
            <a:ext cx="1920240" cy="1920240"/>
          </a:xfrm>
          <a:prstGeom prst="roundRect">
            <a:avLst>
              <a:gd name="adj" fmla="val 3810"/>
            </a:avLst>
          </a:prstGeom>
          <a:solidFill>
            <a:schemeClr val="bg2"/>
          </a:solidFill>
          <a:ln/>
        </p:spPr>
      </p:sp>
      <p:sp>
        <p:nvSpPr>
          <p:cNvPr id="18" name="Text 15"/>
          <p:cNvSpPr txBox="1"/>
          <p:nvPr/>
        </p:nvSpPr>
        <p:spPr>
          <a:xfrm>
            <a:off x="6903720" y="1463040"/>
            <a:ext cx="1645920" cy="731520"/>
          </a:xfrm>
          <a:prstGeom prst="rect">
            <a:avLst/>
          </a:prstGeom>
          <a:noFill/>
          <a:ln/>
        </p:spPr>
        <p:txBody>
          <a:bodyPr wrap="square" lIns="0" tIns="0" rIns="0" bIns="0" rtlCol="0" anchor="ctr"/>
          <a:lstStyle/>
          <a:p>
            <a:pPr marL="0" indent="0">
              <a:buNone/>
            </a:pPr>
            <a:r>
              <a:rPr lang="en-US" sz="3600" b="1" dirty="0">
                <a:solidFill>
                  <a:schemeClr val="accent2"/>
                </a:solidFill>
                <a:latin typeface="Cambria" pitchFamily="34" charset="0"/>
                <a:ea typeface="Cambria" pitchFamily="34" charset="-122"/>
                <a:cs typeface="Cambria" pitchFamily="34" charset="-120"/>
              </a:rPr>
              <a:t>2 / 2</a:t>
            </a:r>
            <a:endParaRPr lang="en-US" sz="3600" dirty="0"/>
          </a:p>
        </p:txBody>
      </p:sp>
      <p:sp>
        <p:nvSpPr>
          <p:cNvPr id="19" name="Text 16"/>
          <p:cNvSpPr txBox="1"/>
          <p:nvPr/>
        </p:nvSpPr>
        <p:spPr>
          <a:xfrm>
            <a:off x="6903720" y="2286000"/>
            <a:ext cx="1645920" cy="320040"/>
          </a:xfrm>
          <a:prstGeom prst="rect">
            <a:avLst/>
          </a:prstGeom>
          <a:noFill/>
          <a:ln/>
        </p:spPr>
        <p:txBody>
          <a:bodyPr wrap="square" lIns="0" tIns="0" rIns="0" bIns="0" rtlCol="0" anchor="t"/>
          <a:lstStyle/>
          <a:p>
            <a:pPr marL="0" indent="0">
              <a:buNone/>
            </a:pPr>
            <a:r>
              <a:rPr lang="en-US" sz="1400" b="1" dirty="0">
                <a:solidFill>
                  <a:schemeClr val="tx1"/>
                </a:solidFill>
              </a:rPr>
              <a:t>backend targets UP</a:t>
            </a:r>
            <a:endParaRPr lang="en-US" sz="1400" dirty="0"/>
          </a:p>
        </p:txBody>
      </p:sp>
      <p:sp>
        <p:nvSpPr>
          <p:cNvPr id="20" name="Text 17"/>
          <p:cNvSpPr txBox="1"/>
          <p:nvPr/>
        </p:nvSpPr>
        <p:spPr>
          <a:xfrm>
            <a:off x="6903720" y="2606040"/>
            <a:ext cx="1645920" cy="320040"/>
          </a:xfrm>
          <a:prstGeom prst="rect">
            <a:avLst/>
          </a:prstGeom>
          <a:noFill/>
          <a:ln/>
        </p:spPr>
        <p:txBody>
          <a:bodyPr wrap="square" lIns="0" tIns="0" rIns="0" bIns="0" rtlCol="0" anchor="t"/>
          <a:lstStyle/>
          <a:p>
            <a:pPr marL="0" indent="0">
              <a:buNone/>
            </a:pPr>
            <a:r>
              <a:rPr lang="en-US" sz="1200" dirty="0">
                <a:solidFill>
                  <a:schemeClr val="tx2"/>
                </a:solidFill>
              </a:rPr>
              <a:t>in Prometheus</a:t>
            </a:r>
            <a:endParaRPr lang="en-US" sz="1200" dirty="0"/>
          </a:p>
        </p:txBody>
      </p:sp>
      <p:sp>
        <p:nvSpPr>
          <p:cNvPr id="21" name="Text 18"/>
          <p:cNvSpPr txBox="1"/>
          <p:nvPr/>
        </p:nvSpPr>
        <p:spPr>
          <a:xfrm>
            <a:off x="457200" y="3566160"/>
            <a:ext cx="8229600" cy="457200"/>
          </a:xfrm>
          <a:prstGeom prst="rect">
            <a:avLst/>
          </a:prstGeom>
          <a:noFill/>
          <a:ln/>
        </p:spPr>
        <p:txBody>
          <a:bodyPr wrap="square" lIns="0" tIns="0" rIns="0" bIns="0" rtlCol="0" anchor="t"/>
          <a:lstStyle/>
          <a:p>
            <a:pPr marL="0" indent="0">
              <a:buNone/>
            </a:pPr>
            <a:r>
              <a:rPr lang="en-US" sz="1600" dirty="0">
                <a:solidFill>
                  <a:schemeClr val="tx1"/>
                </a:solidFill>
              </a:rPr>
              <a:t>Plus: two images scanned and pushed per commit, no latest tags, nothing deployed by hand.</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182880"/>
            <a:ext cx="365760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WRAP-UP</a:t>
            </a:r>
            <a:endParaRPr lang="en-US" sz="1000" dirty="0"/>
          </a:p>
        </p:txBody>
      </p:sp>
      <p:sp>
        <p:nvSpPr>
          <p:cNvPr id="3" name="Text 0"/>
          <p:cNvSpPr>
            <a:spLocks noGrp="1"/>
          </p:cNvSpPr>
          <p:nvPr>
            <p:ph type="title" idx="100" hasCustomPrompt="1"/>
          </p:nvPr>
        </p:nvSpPr>
        <p:spPr>
          <a:xfrm>
            <a:off x="457200" y="384048"/>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What broke, and what fixed it</a:t>
            </a:r>
            <a:endParaRPr lang="en-US" sz="2800" dirty="0"/>
          </a:p>
        </p:txBody>
      </p:sp>
      <p:sp>
        <p:nvSpPr>
          <p:cNvPr id="5" name="Text 2"/>
          <p:cNvSpPr txBox="1"/>
          <p:nvPr/>
        </p:nvSpPr>
        <p:spPr>
          <a:xfrm>
            <a:off x="457200" y="1097280"/>
            <a:ext cx="3657600" cy="201168"/>
          </a:xfrm>
          <a:prstGeom prst="rect">
            <a:avLst/>
          </a:prstGeom>
          <a:noFill/>
          <a:ln/>
        </p:spPr>
        <p:txBody>
          <a:bodyPr wrap="square" lIns="0" tIns="0" rIns="0" bIns="0" rtlCol="0" anchor="t"/>
          <a:lstStyle/>
          <a:p>
            <a:pPr marL="0" indent="0">
              <a:buNone/>
            </a:pPr>
            <a:r>
              <a:rPr lang="en-US" sz="1000" b="1" kern="0" spc="300" dirty="0">
                <a:solidFill>
                  <a:schemeClr val="tx2"/>
                </a:solidFill>
              </a:rPr>
              <a:t>PROBLEM</a:t>
            </a:r>
            <a:endParaRPr lang="en-US" sz="1000" dirty="0"/>
          </a:p>
        </p:txBody>
      </p:sp>
      <p:sp>
        <p:nvSpPr>
          <p:cNvPr id="6" name="Text 3"/>
          <p:cNvSpPr txBox="1"/>
          <p:nvPr/>
        </p:nvSpPr>
        <p:spPr>
          <a:xfrm>
            <a:off x="4846320" y="1097280"/>
            <a:ext cx="3657600" cy="201168"/>
          </a:xfrm>
          <a:prstGeom prst="rect">
            <a:avLst/>
          </a:prstGeom>
          <a:noFill/>
          <a:ln/>
        </p:spPr>
        <p:txBody>
          <a:bodyPr wrap="square" lIns="0" tIns="0" rIns="0" bIns="0" rtlCol="0" anchor="t"/>
          <a:lstStyle/>
          <a:p>
            <a:pPr marL="0" indent="0">
              <a:buNone/>
            </a:pPr>
            <a:r>
              <a:rPr lang="en-US" sz="1000" b="1" kern="0" spc="300" dirty="0">
                <a:solidFill>
                  <a:schemeClr val="tx2"/>
                </a:solidFill>
              </a:rPr>
              <a:t>FIX</a:t>
            </a:r>
            <a:endParaRPr lang="en-US" sz="1000" dirty="0"/>
          </a:p>
        </p:txBody>
      </p:sp>
      <p:sp>
        <p:nvSpPr>
          <p:cNvPr id="7" name="problem 1"/>
          <p:cNvSpPr/>
          <p:nvPr/>
        </p:nvSpPr>
        <p:spPr>
          <a:xfrm>
            <a:off x="457200" y="1371600"/>
            <a:ext cx="3931920" cy="914400"/>
          </a:xfrm>
          <a:prstGeom prst="roundRect">
            <a:avLst>
              <a:gd name="adj" fmla="val 8000"/>
            </a:avLst>
          </a:prstGeom>
          <a:solidFill>
            <a:schemeClr val="bg2"/>
          </a:solidFill>
          <a:ln/>
        </p:spPr>
      </p:sp>
      <p:sp>
        <p:nvSpPr>
          <p:cNvPr id="8" name="Text 5"/>
          <p:cNvSpPr txBox="1"/>
          <p:nvPr/>
        </p:nvSpPr>
        <p:spPr>
          <a:xfrm>
            <a:off x="640080" y="1371600"/>
            <a:ext cx="3611880" cy="914400"/>
          </a:xfrm>
          <a:prstGeom prst="rect">
            <a:avLst/>
          </a:prstGeom>
          <a:noFill/>
          <a:ln/>
        </p:spPr>
        <p:txBody>
          <a:bodyPr wrap="square" lIns="0" tIns="0" rIns="0" bIns="0" rtlCol="0" anchor="ctr"/>
          <a:lstStyle/>
          <a:p>
            <a:pPr marL="0" indent="0">
              <a:buNone/>
            </a:pPr>
            <a:r>
              <a:rPr lang="en-US" sz="1500" b="1" dirty="0">
                <a:solidFill>
                  <a:schemeClr val="tx1"/>
                </a:solidFill>
              </a:rPr>
              <a:t>Pipeline went red with no code change</a:t>
            </a:r>
            <a:endParaRPr lang="en-US" sz="1400" dirty="0"/>
          </a:p>
          <a:p>
            <a:pPr marL="0" indent="0">
              <a:buNone/>
            </a:pPr>
            <a:r>
              <a:rPr lang="en-US" sz="1300" dirty="0">
                <a:solidFill>
                  <a:schemeClr val="tx2"/>
                </a:solidFill>
              </a:rPr>
              <a:t>A third-party Trivy action tag disappeared</a:t>
            </a:r>
            <a:endParaRPr lang="en-US" sz="1400" dirty="0"/>
          </a:p>
        </p:txBody>
      </p:sp>
      <p:sp>
        <p:nvSpPr>
          <p:cNvPr id="9" name="arrow"/>
          <p:cNvSpPr/>
          <p:nvPr/>
        </p:nvSpPr>
        <p:spPr>
          <a:xfrm>
            <a:off x="4434840" y="1828800"/>
            <a:ext cx="365760" cy="0"/>
          </a:xfrm>
          <a:prstGeom prst="line">
            <a:avLst/>
          </a:prstGeom>
          <a:noFill/>
          <a:ln w="19050">
            <a:solidFill>
              <a:schemeClr val="tx2"/>
            </a:solidFill>
            <a:prstDash val="solid"/>
            <a:tailEnd type="triangle"/>
          </a:ln>
        </p:spPr>
      </p:sp>
      <p:sp>
        <p:nvSpPr>
          <p:cNvPr id="10" name="fix 1"/>
          <p:cNvSpPr/>
          <p:nvPr/>
        </p:nvSpPr>
        <p:spPr>
          <a:xfrm>
            <a:off x="4846320" y="1371600"/>
            <a:ext cx="3840480" cy="914400"/>
          </a:xfrm>
          <a:prstGeom prst="roundRect">
            <a:avLst>
              <a:gd name="adj" fmla="val 8000"/>
            </a:avLst>
          </a:prstGeom>
          <a:solidFill>
            <a:schemeClr val="accent1"/>
          </a:solidFill>
          <a:ln/>
        </p:spPr>
      </p:sp>
      <p:sp>
        <p:nvSpPr>
          <p:cNvPr id="11" name="Text 8"/>
          <p:cNvSpPr txBox="1"/>
          <p:nvPr/>
        </p:nvSpPr>
        <p:spPr>
          <a:xfrm>
            <a:off x="5029200" y="1371600"/>
            <a:ext cx="3520440" cy="914400"/>
          </a:xfrm>
          <a:prstGeom prst="rect">
            <a:avLst/>
          </a:prstGeom>
          <a:noFill/>
          <a:ln/>
        </p:spPr>
        <p:txBody>
          <a:bodyPr wrap="square" lIns="0" tIns="0" rIns="0" bIns="0" rtlCol="0" anchor="ctr"/>
          <a:lstStyle/>
          <a:p>
            <a:pPr marL="0" indent="0">
              <a:buNone/>
            </a:pPr>
            <a:r>
              <a:rPr lang="en-US" sz="1500" b="1" dirty="0">
                <a:solidFill>
                  <a:schemeClr val="bg1"/>
                </a:solidFill>
              </a:rPr>
              <a:t>Run the pinned official Trivy image directly</a:t>
            </a:r>
            <a:endParaRPr lang="en-US" sz="1500" dirty="0"/>
          </a:p>
        </p:txBody>
      </p:sp>
      <p:sp>
        <p:nvSpPr>
          <p:cNvPr id="12" name="problem 2"/>
          <p:cNvSpPr/>
          <p:nvPr/>
        </p:nvSpPr>
        <p:spPr>
          <a:xfrm>
            <a:off x="457200" y="2450592"/>
            <a:ext cx="3931920" cy="914400"/>
          </a:xfrm>
          <a:prstGeom prst="roundRect">
            <a:avLst>
              <a:gd name="adj" fmla="val 8000"/>
            </a:avLst>
          </a:prstGeom>
          <a:solidFill>
            <a:schemeClr val="bg2"/>
          </a:solidFill>
          <a:ln/>
        </p:spPr>
      </p:sp>
      <p:sp>
        <p:nvSpPr>
          <p:cNvPr id="13" name="Text 10"/>
          <p:cNvSpPr txBox="1"/>
          <p:nvPr/>
        </p:nvSpPr>
        <p:spPr>
          <a:xfrm>
            <a:off x="640080" y="2450592"/>
            <a:ext cx="3611880" cy="914400"/>
          </a:xfrm>
          <a:prstGeom prst="rect">
            <a:avLst/>
          </a:prstGeom>
          <a:noFill/>
          <a:ln/>
        </p:spPr>
        <p:txBody>
          <a:bodyPr wrap="square" lIns="0" tIns="0" rIns="0" bIns="0" rtlCol="0" anchor="ctr"/>
          <a:lstStyle/>
          <a:p>
            <a:pPr marL="0" indent="0">
              <a:buNone/>
            </a:pPr>
            <a:r>
              <a:rPr lang="en-US" sz="1500" b="1" dirty="0">
                <a:solidFill>
                  <a:schemeClr val="tx1"/>
                </a:solidFill>
              </a:rPr>
              <a:t>Helm timed out on EKS</a:t>
            </a:r>
            <a:endParaRPr lang="en-US" sz="1400" dirty="0"/>
          </a:p>
          <a:p>
            <a:pPr marL="0" indent="0">
              <a:buNone/>
            </a:pPr>
            <a:r>
              <a:rPr lang="en-US" sz="1300" dirty="0">
                <a:solidFill>
                  <a:schemeClr val="tx2"/>
                </a:solidFill>
              </a:rPr>
              <a:t>PostgreSQL volume stuck Pending: no default StorageClass</a:t>
            </a:r>
            <a:endParaRPr lang="en-US" sz="1400" dirty="0"/>
          </a:p>
        </p:txBody>
      </p:sp>
      <p:sp>
        <p:nvSpPr>
          <p:cNvPr id="14" name="arrow"/>
          <p:cNvSpPr/>
          <p:nvPr/>
        </p:nvSpPr>
        <p:spPr>
          <a:xfrm>
            <a:off x="4434840" y="2907792"/>
            <a:ext cx="365760" cy="0"/>
          </a:xfrm>
          <a:prstGeom prst="line">
            <a:avLst/>
          </a:prstGeom>
          <a:noFill/>
          <a:ln w="19050">
            <a:solidFill>
              <a:schemeClr val="tx2"/>
            </a:solidFill>
            <a:prstDash val="solid"/>
            <a:tailEnd type="triangle"/>
          </a:ln>
        </p:spPr>
      </p:sp>
      <p:sp>
        <p:nvSpPr>
          <p:cNvPr id="15" name="fix 2"/>
          <p:cNvSpPr/>
          <p:nvPr/>
        </p:nvSpPr>
        <p:spPr>
          <a:xfrm>
            <a:off x="4846320" y="2450592"/>
            <a:ext cx="3840480" cy="914400"/>
          </a:xfrm>
          <a:prstGeom prst="roundRect">
            <a:avLst>
              <a:gd name="adj" fmla="val 8000"/>
            </a:avLst>
          </a:prstGeom>
          <a:solidFill>
            <a:schemeClr val="accent1"/>
          </a:solidFill>
          <a:ln/>
        </p:spPr>
      </p:sp>
      <p:sp>
        <p:nvSpPr>
          <p:cNvPr id="16" name="Text 13"/>
          <p:cNvSpPr txBox="1"/>
          <p:nvPr/>
        </p:nvSpPr>
        <p:spPr>
          <a:xfrm>
            <a:off x="5029200" y="2450592"/>
            <a:ext cx="3520440" cy="914400"/>
          </a:xfrm>
          <a:prstGeom prst="rect">
            <a:avLst/>
          </a:prstGeom>
          <a:noFill/>
          <a:ln/>
        </p:spPr>
        <p:txBody>
          <a:bodyPr wrap="square" lIns="0" tIns="0" rIns="0" bIns="0" rtlCol="0" anchor="ctr"/>
          <a:lstStyle/>
          <a:p>
            <a:pPr marL="0" indent="0">
              <a:buNone/>
            </a:pPr>
            <a:r>
              <a:rPr lang="en-US" sz="1500" b="1" dirty="0">
                <a:solidFill>
                  <a:schemeClr val="bg1"/>
                </a:solidFill>
              </a:rPr>
              <a:t>Add a gp3 default class, applied by the pipeline</a:t>
            </a:r>
            <a:endParaRPr lang="en-US" sz="1500" dirty="0"/>
          </a:p>
        </p:txBody>
      </p:sp>
      <p:sp>
        <p:nvSpPr>
          <p:cNvPr id="17" name="problem 3"/>
          <p:cNvSpPr/>
          <p:nvPr/>
        </p:nvSpPr>
        <p:spPr>
          <a:xfrm>
            <a:off x="457200" y="3529584"/>
            <a:ext cx="3931920" cy="914400"/>
          </a:xfrm>
          <a:prstGeom prst="roundRect">
            <a:avLst>
              <a:gd name="adj" fmla="val 8000"/>
            </a:avLst>
          </a:prstGeom>
          <a:solidFill>
            <a:schemeClr val="bg2"/>
          </a:solidFill>
          <a:ln/>
        </p:spPr>
      </p:sp>
      <p:sp>
        <p:nvSpPr>
          <p:cNvPr id="18" name="Text 15"/>
          <p:cNvSpPr txBox="1"/>
          <p:nvPr/>
        </p:nvSpPr>
        <p:spPr>
          <a:xfrm>
            <a:off x="640080" y="3529584"/>
            <a:ext cx="3611880" cy="914400"/>
          </a:xfrm>
          <a:prstGeom prst="rect">
            <a:avLst/>
          </a:prstGeom>
          <a:noFill/>
          <a:ln/>
        </p:spPr>
        <p:txBody>
          <a:bodyPr wrap="square" lIns="0" tIns="0" rIns="0" bIns="0" rtlCol="0" anchor="ctr"/>
          <a:lstStyle/>
          <a:p>
            <a:pPr marL="0" indent="0">
              <a:buNone/>
            </a:pPr>
            <a:r>
              <a:rPr lang="en-US" sz="1500" b="1" dirty="0">
                <a:solidFill>
                  <a:schemeClr val="tx1"/>
                </a:solidFill>
              </a:rPr>
              <a:t>Commands failed on Windows</a:t>
            </a:r>
            <a:endParaRPr lang="en-US" sz="1400" dirty="0"/>
          </a:p>
          <a:p>
            <a:pPr marL="0" indent="0">
              <a:buNone/>
            </a:pPr>
            <a:r>
              <a:rPr lang="en-US" sz="1300" dirty="0">
                <a:solidFill>
                  <a:schemeClr val="tx2"/>
                </a:solidFill>
              </a:rPr>
              <a:t>Bash syntax pasted into PowerShell</a:t>
            </a:r>
            <a:endParaRPr lang="en-US" sz="1400" dirty="0"/>
          </a:p>
        </p:txBody>
      </p:sp>
      <p:sp>
        <p:nvSpPr>
          <p:cNvPr id="19" name="arrow"/>
          <p:cNvSpPr/>
          <p:nvPr/>
        </p:nvSpPr>
        <p:spPr>
          <a:xfrm>
            <a:off x="4434840" y="3986784"/>
            <a:ext cx="365760" cy="0"/>
          </a:xfrm>
          <a:prstGeom prst="line">
            <a:avLst/>
          </a:prstGeom>
          <a:noFill/>
          <a:ln w="19050">
            <a:solidFill>
              <a:schemeClr val="tx2"/>
            </a:solidFill>
            <a:prstDash val="solid"/>
            <a:tailEnd type="triangle"/>
          </a:ln>
        </p:spPr>
      </p:sp>
      <p:sp>
        <p:nvSpPr>
          <p:cNvPr id="20" name="fix 3"/>
          <p:cNvSpPr/>
          <p:nvPr/>
        </p:nvSpPr>
        <p:spPr>
          <a:xfrm>
            <a:off x="4846320" y="3529584"/>
            <a:ext cx="3840480" cy="914400"/>
          </a:xfrm>
          <a:prstGeom prst="roundRect">
            <a:avLst>
              <a:gd name="adj" fmla="val 8000"/>
            </a:avLst>
          </a:prstGeom>
          <a:solidFill>
            <a:schemeClr val="accent1"/>
          </a:solidFill>
          <a:ln/>
        </p:spPr>
      </p:sp>
      <p:sp>
        <p:nvSpPr>
          <p:cNvPr id="21" name="Text 18"/>
          <p:cNvSpPr txBox="1"/>
          <p:nvPr/>
        </p:nvSpPr>
        <p:spPr>
          <a:xfrm>
            <a:off x="5029200" y="3529584"/>
            <a:ext cx="3520440" cy="914400"/>
          </a:xfrm>
          <a:prstGeom prst="rect">
            <a:avLst/>
          </a:prstGeom>
          <a:noFill/>
          <a:ln/>
        </p:spPr>
        <p:txBody>
          <a:bodyPr wrap="square" lIns="0" tIns="0" rIns="0" bIns="0" rtlCol="0" anchor="ctr"/>
          <a:lstStyle/>
          <a:p>
            <a:pPr marL="0" indent="0">
              <a:buNone/>
            </a:pPr>
            <a:r>
              <a:rPr lang="en-US" sz="1500" b="1" dirty="0">
                <a:solidFill>
                  <a:schemeClr val="bg1"/>
                </a:solidFill>
              </a:rPr>
              <a:t>Git Bash for scripts, PowerShell syntax for the rest</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457200" y="182880"/>
            <a:ext cx="365760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WRAP-UP</a:t>
            </a:r>
            <a:endParaRPr lang="en-US" sz="1000" dirty="0"/>
          </a:p>
        </p:txBody>
      </p:sp>
      <p:sp>
        <p:nvSpPr>
          <p:cNvPr id="3" name="Text 0"/>
          <p:cNvSpPr>
            <a:spLocks noGrp="1"/>
          </p:cNvSpPr>
          <p:nvPr>
            <p:ph type="title" idx="100" hasCustomPrompt="1"/>
          </p:nvPr>
        </p:nvSpPr>
        <p:spPr>
          <a:xfrm>
            <a:off x="457200" y="384048"/>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Live demo: one change, end to end</a:t>
            </a:r>
            <a:endParaRPr lang="en-US" sz="2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3291840"/>
        </p:xfrm>
        <a:graphic>
          <a:graphicData uri="http://schemas.openxmlformats.org/drawingml/2006/table">
            <a:tbl>
              <a:tblPr/>
              <a:tblGrid>
                <a:gridCol w="73152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548640">
                <a:tc>
                  <a:txBody>
                    <a:bodyPr/>
                    <a:lstStyle/>
                    <a:p>
                      <a:pPr marL="0" indent="0">
                        <a:buNone/>
                      </a:pPr>
                      <a:r>
                        <a:rPr lang="en-US" sz="1300" b="1" dirty="0">
                          <a:solidFill>
                            <a:schemeClr val="bg1"/>
                          </a:solidFill>
                        </a:rPr>
                        <a:t>Step</a:t>
                      </a:r>
                      <a:endParaRPr lang="en-US" sz="13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en-US" sz="1300" b="1" dirty="0">
                          <a:solidFill>
                            <a:schemeClr val="bg1"/>
                          </a:solidFill>
                        </a:rPr>
                        <a:t>Do this</a:t>
                      </a:r>
                      <a:endParaRPr lang="en-US" sz="13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en-US" sz="1300" b="1" dirty="0">
                          <a:solidFill>
                            <a:schemeClr val="bg1"/>
                          </a:solidFill>
                        </a:rPr>
                        <a:t>Audience sees</a:t>
                      </a:r>
                      <a:endParaRPr lang="en-US" sz="13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48640">
                <a:tc>
                  <a:txBody>
                    <a:bodyPr/>
                    <a:lstStyle/>
                    <a:p>
                      <a:pPr marL="0" indent="0">
                        <a:buNone/>
                      </a:pPr>
                      <a:r>
                        <a:rPr lang="en-US" sz="1400" dirty="0">
                          <a:solidFill>
                            <a:schemeClr val="tx1"/>
                          </a:solidFill>
                        </a:rPr>
                        <a:t>1</a:t>
                      </a:r>
                      <a:endParaRPr lang="en-US" sz="14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Edit the tagline in frontend/src/App.jsx</a:t>
                      </a:r>
                      <a:endParaRPr lang="en-US" sz="14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A one-line change</a:t>
                      </a:r>
                      <a:endParaRPr lang="en-US" sz="14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48640">
                <a:tc>
                  <a:txBody>
                    <a:bodyPr/>
                    <a:lstStyle/>
                    <a:p>
                      <a:pPr marL="0" indent="0">
                        <a:buNone/>
                      </a:pPr>
                      <a:r>
                        <a:rPr lang="en-US" sz="1400" dirty="0">
                          <a:solidFill>
                            <a:schemeClr val="tx1"/>
                          </a:solidFill>
                        </a:rPr>
                        <a:t>2</a:t>
                      </a:r>
                      <a:endParaRPr lang="en-US" sz="14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git add, git commit, git push</a:t>
                      </a:r>
                      <a:endParaRPr lang="en-US" sz="14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New commit on main</a:t>
                      </a:r>
                      <a:endParaRPr lang="en-US" sz="14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48640">
                <a:tc>
                  <a:txBody>
                    <a:bodyPr/>
                    <a:lstStyle/>
                    <a:p>
                      <a:pPr marL="0" indent="0">
                        <a:buNone/>
                      </a:pPr>
                      <a:r>
                        <a:rPr lang="en-US" sz="1400" dirty="0">
                          <a:solidFill>
                            <a:schemeClr val="tx1"/>
                          </a:solidFill>
                        </a:rPr>
                        <a:t>3</a:t>
                      </a:r>
                      <a:endParaRPr lang="en-US" sz="14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Open the Actions tab</a:t>
                      </a:r>
                      <a:endParaRPr lang="en-US" sz="14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test, scan, push, deploy go green</a:t>
                      </a:r>
                      <a:endParaRPr lang="en-US" sz="14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48640">
                <a:tc>
                  <a:txBody>
                    <a:bodyPr/>
                    <a:lstStyle/>
                    <a:p>
                      <a:pPr marL="0" indent="0">
                        <a:buNone/>
                      </a:pPr>
                      <a:r>
                        <a:rPr lang="en-US" sz="1400" dirty="0">
                          <a:solidFill>
                            <a:schemeClr val="tx1"/>
                          </a:solidFill>
                        </a:rPr>
                        <a:t>4</a:t>
                      </a:r>
                      <a:endParaRPr lang="en-US" sz="14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kubectl rollout status deployment/clinicq-frontend -n clinicq</a:t>
                      </a:r>
                      <a:endParaRPr lang="en-US" sz="14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Pods replaced one by one</a:t>
                      </a:r>
                      <a:endParaRPr lang="en-US" sz="14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548640">
                <a:tc>
                  <a:txBody>
                    <a:bodyPr/>
                    <a:lstStyle/>
                    <a:p>
                      <a:pPr marL="0" indent="0">
                        <a:buNone/>
                      </a:pPr>
                      <a:r>
                        <a:rPr lang="en-US" sz="1400" dirty="0">
                          <a:solidFill>
                            <a:schemeClr val="tx1"/>
                          </a:solidFill>
                        </a:rPr>
                        <a:t>5</a:t>
                      </a:r>
                      <a:endParaRPr lang="en-US" sz="14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Refresh the app at the load balancer URL</a:t>
                      </a:r>
                      <a:endParaRPr lang="en-US" sz="14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The new tagline is live</a:t>
                      </a:r>
                      <a:endParaRPr lang="en-US" sz="1400" dirty="0"/>
                    </a:p>
                  </a:txBody>
                  <a:tcPr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457200" y="182880"/>
            <a:ext cx="3657600" cy="201168"/>
          </a:xfrm>
          <a:prstGeom prst="rect">
            <a:avLst/>
          </a:prstGeom>
          <a:noFill/>
          <a:ln/>
        </p:spPr>
        <p:txBody>
          <a:bodyPr wrap="square" lIns="0" tIns="0" rIns="0" bIns="0" rtlCol="0" anchor="t"/>
          <a:lstStyle/>
          <a:p>
            <a:pPr marL="0" indent="0">
              <a:buNone/>
            </a:pPr>
            <a:r>
              <a:rPr lang="en-US" sz="1000" b="1" kern="0" spc="300" dirty="0">
                <a:solidFill>
                  <a:schemeClr val="accent1"/>
                </a:solidFill>
              </a:rPr>
              <a:t>WRAP-UP</a:t>
            </a:r>
            <a:endParaRPr lang="en-US" sz="1000" dirty="0"/>
          </a:p>
        </p:txBody>
      </p:sp>
      <p:sp>
        <p:nvSpPr>
          <p:cNvPr id="3" name="Text 0"/>
          <p:cNvSpPr>
            <a:spLocks noGrp="1"/>
          </p:cNvSpPr>
          <p:nvPr>
            <p:ph type="title" idx="100" hasCustomPrompt="1"/>
          </p:nvPr>
        </p:nvSpPr>
        <p:spPr>
          <a:xfrm>
            <a:off x="457200" y="384048"/>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What I would build next</a:t>
            </a:r>
            <a:endParaRPr lang="en-US" sz="2800" dirty="0"/>
          </a:p>
        </p:txBody>
      </p:sp>
      <p:sp>
        <p:nvSpPr>
          <p:cNvPr id="5" name="Text 2"/>
          <p:cNvSpPr txBox="1"/>
          <p:nvPr/>
        </p:nvSpPr>
        <p:spPr>
          <a:xfrm>
            <a:off x="457200" y="1188720"/>
            <a:ext cx="457200" cy="54864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1</a:t>
            </a:r>
            <a:endParaRPr lang="en-US" sz="2800" dirty="0"/>
          </a:p>
        </p:txBody>
      </p:sp>
      <p:sp>
        <p:nvSpPr>
          <p:cNvPr id="6" name="Text 3"/>
          <p:cNvSpPr txBox="1"/>
          <p:nvPr/>
        </p:nvSpPr>
        <p:spPr>
          <a:xfrm>
            <a:off x="1097280" y="1188720"/>
            <a:ext cx="7589520" cy="594360"/>
          </a:xfrm>
          <a:prstGeom prst="rect">
            <a:avLst/>
          </a:prstGeom>
          <a:noFill/>
          <a:ln/>
        </p:spPr>
        <p:txBody>
          <a:bodyPr wrap="square" lIns="0" tIns="0" rIns="0" bIns="0" rtlCol="0" anchor="ctr"/>
          <a:lstStyle/>
          <a:p>
            <a:pPr marL="0" indent="0">
              <a:buNone/>
            </a:pPr>
            <a:r>
              <a:rPr lang="en-US" sz="1600" b="1" dirty="0">
                <a:solidFill>
                  <a:schemeClr val="tx1"/>
                </a:solidFill>
              </a:rPr>
              <a:t>HTTPS</a:t>
            </a:r>
            <a:endParaRPr lang="en-US" sz="1400" dirty="0"/>
          </a:p>
          <a:p>
            <a:pPr marL="0" indent="0">
              <a:buNone/>
            </a:pPr>
            <a:r>
              <a:rPr lang="en-US" sz="1300" dirty="0">
                <a:solidFill>
                  <a:schemeClr val="tx2"/>
                </a:solidFill>
              </a:rPr>
              <a:t>cert-manager and a real domain on the ingress</a:t>
            </a:r>
            <a:endParaRPr lang="en-US" sz="1400" dirty="0"/>
          </a:p>
        </p:txBody>
      </p:sp>
      <p:sp>
        <p:nvSpPr>
          <p:cNvPr id="7" name="Text 4"/>
          <p:cNvSpPr txBox="1"/>
          <p:nvPr/>
        </p:nvSpPr>
        <p:spPr>
          <a:xfrm>
            <a:off x="457200" y="1847088"/>
            <a:ext cx="457200" cy="54864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2</a:t>
            </a:r>
            <a:endParaRPr lang="en-US" sz="2800" dirty="0"/>
          </a:p>
        </p:txBody>
      </p:sp>
      <p:sp>
        <p:nvSpPr>
          <p:cNvPr id="8" name="Text 5"/>
          <p:cNvSpPr txBox="1"/>
          <p:nvPr/>
        </p:nvSpPr>
        <p:spPr>
          <a:xfrm>
            <a:off x="1097280" y="1847088"/>
            <a:ext cx="7589520" cy="594360"/>
          </a:xfrm>
          <a:prstGeom prst="rect">
            <a:avLst/>
          </a:prstGeom>
          <a:noFill/>
          <a:ln/>
        </p:spPr>
        <p:txBody>
          <a:bodyPr wrap="square" lIns="0" tIns="0" rIns="0" bIns="0" rtlCol="0" anchor="ctr"/>
          <a:lstStyle/>
          <a:p>
            <a:pPr marL="0" indent="0">
              <a:buNone/>
            </a:pPr>
            <a:r>
              <a:rPr lang="en-US" sz="1600" b="1" dirty="0">
                <a:solidFill>
                  <a:schemeClr val="tx1"/>
                </a:solidFill>
              </a:rPr>
              <a:t>Managed database</a:t>
            </a:r>
            <a:endParaRPr lang="en-US" sz="1400" dirty="0"/>
          </a:p>
          <a:p>
            <a:pPr marL="0" indent="0">
              <a:buNone/>
            </a:pPr>
            <a:r>
              <a:rPr lang="en-US" sz="1300" dirty="0">
                <a:solidFill>
                  <a:schemeClr val="tx2"/>
                </a:solidFill>
              </a:rPr>
              <a:t>RDS instead of PostgreSQL inside the cluster</a:t>
            </a:r>
            <a:endParaRPr lang="en-US" sz="1400" dirty="0"/>
          </a:p>
        </p:txBody>
      </p:sp>
      <p:sp>
        <p:nvSpPr>
          <p:cNvPr id="9" name="Text 6"/>
          <p:cNvSpPr txBox="1"/>
          <p:nvPr/>
        </p:nvSpPr>
        <p:spPr>
          <a:xfrm>
            <a:off x="457200" y="2505456"/>
            <a:ext cx="457200" cy="54864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3</a:t>
            </a:r>
            <a:endParaRPr lang="en-US" sz="2800" dirty="0"/>
          </a:p>
        </p:txBody>
      </p:sp>
      <p:sp>
        <p:nvSpPr>
          <p:cNvPr id="10" name="Text 7"/>
          <p:cNvSpPr txBox="1"/>
          <p:nvPr/>
        </p:nvSpPr>
        <p:spPr>
          <a:xfrm>
            <a:off x="1097280" y="2505456"/>
            <a:ext cx="7589520" cy="594360"/>
          </a:xfrm>
          <a:prstGeom prst="rect">
            <a:avLst/>
          </a:prstGeom>
          <a:noFill/>
          <a:ln/>
        </p:spPr>
        <p:txBody>
          <a:bodyPr wrap="square" lIns="0" tIns="0" rIns="0" bIns="0" rtlCol="0" anchor="ctr"/>
          <a:lstStyle/>
          <a:p>
            <a:pPr marL="0" indent="0">
              <a:buNone/>
            </a:pPr>
            <a:r>
              <a:rPr lang="en-US" sz="1600" b="1" dirty="0">
                <a:solidFill>
                  <a:schemeClr val="tx1"/>
                </a:solidFill>
              </a:rPr>
              <a:t>Keyless deploys</a:t>
            </a:r>
            <a:endParaRPr lang="en-US" sz="1400" dirty="0"/>
          </a:p>
          <a:p>
            <a:pPr marL="0" indent="0">
              <a:buNone/>
            </a:pPr>
            <a:r>
              <a:rPr lang="en-US" sz="1300" dirty="0">
                <a:solidFill>
                  <a:schemeClr val="tx2"/>
                </a:solidFill>
              </a:rPr>
              <a:t>GitHub OIDC role instead of stored AWS keys</a:t>
            </a:r>
            <a:endParaRPr lang="en-US" sz="1400" dirty="0"/>
          </a:p>
        </p:txBody>
      </p:sp>
      <p:sp>
        <p:nvSpPr>
          <p:cNvPr id="11" name="Text 8"/>
          <p:cNvSpPr txBox="1"/>
          <p:nvPr/>
        </p:nvSpPr>
        <p:spPr>
          <a:xfrm>
            <a:off x="457200" y="3163824"/>
            <a:ext cx="457200" cy="54864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4</a:t>
            </a:r>
            <a:endParaRPr lang="en-US" sz="2800" dirty="0"/>
          </a:p>
        </p:txBody>
      </p:sp>
      <p:sp>
        <p:nvSpPr>
          <p:cNvPr id="12" name="Text 9"/>
          <p:cNvSpPr txBox="1"/>
          <p:nvPr/>
        </p:nvSpPr>
        <p:spPr>
          <a:xfrm>
            <a:off x="1097280" y="3163824"/>
            <a:ext cx="7589520" cy="594360"/>
          </a:xfrm>
          <a:prstGeom prst="rect">
            <a:avLst/>
          </a:prstGeom>
          <a:noFill/>
          <a:ln/>
        </p:spPr>
        <p:txBody>
          <a:bodyPr wrap="square" lIns="0" tIns="0" rIns="0" bIns="0" rtlCol="0" anchor="ctr"/>
          <a:lstStyle/>
          <a:p>
            <a:pPr marL="0" indent="0">
              <a:buNone/>
            </a:pPr>
            <a:r>
              <a:rPr lang="en-US" sz="1600" b="1" dirty="0">
                <a:solidFill>
                  <a:schemeClr val="tx1"/>
                </a:solidFill>
              </a:rPr>
              <a:t>Shared Terraform state</a:t>
            </a:r>
            <a:endParaRPr lang="en-US" sz="1400" dirty="0"/>
          </a:p>
          <a:p>
            <a:pPr marL="0" indent="0">
              <a:buNone/>
            </a:pPr>
            <a:r>
              <a:rPr lang="en-US" sz="1300" dirty="0">
                <a:solidFill>
                  <a:schemeClr val="tx2"/>
                </a:solidFill>
              </a:rPr>
              <a:t>S3 backend with locking for a team</a:t>
            </a:r>
            <a:endParaRPr lang="en-US" sz="1400" dirty="0"/>
          </a:p>
        </p:txBody>
      </p:sp>
      <p:sp>
        <p:nvSpPr>
          <p:cNvPr id="13" name="Text 10"/>
          <p:cNvSpPr txBox="1"/>
          <p:nvPr/>
        </p:nvSpPr>
        <p:spPr>
          <a:xfrm>
            <a:off x="457200" y="3822192"/>
            <a:ext cx="457200" cy="54864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5</a:t>
            </a:r>
            <a:endParaRPr lang="en-US" sz="2800" dirty="0"/>
          </a:p>
        </p:txBody>
      </p:sp>
      <p:sp>
        <p:nvSpPr>
          <p:cNvPr id="14" name="Text 11"/>
          <p:cNvSpPr txBox="1"/>
          <p:nvPr/>
        </p:nvSpPr>
        <p:spPr>
          <a:xfrm>
            <a:off x="1097280" y="3822192"/>
            <a:ext cx="7589520" cy="594360"/>
          </a:xfrm>
          <a:prstGeom prst="rect">
            <a:avLst/>
          </a:prstGeom>
          <a:noFill/>
          <a:ln/>
        </p:spPr>
        <p:txBody>
          <a:bodyPr wrap="square" lIns="0" tIns="0" rIns="0" bIns="0" rtlCol="0" anchor="ctr"/>
          <a:lstStyle/>
          <a:p>
            <a:pPr marL="0" indent="0">
              <a:buNone/>
            </a:pPr>
            <a:r>
              <a:rPr lang="en-US" sz="1600" b="1" dirty="0">
                <a:solidFill>
                  <a:schemeClr val="tx1"/>
                </a:solidFill>
              </a:rPr>
              <a:t>Alerting</a:t>
            </a:r>
            <a:endParaRPr lang="en-US" sz="1400" dirty="0"/>
          </a:p>
          <a:p>
            <a:pPr marL="0" indent="0">
              <a:buNone/>
            </a:pPr>
            <a:r>
              <a:rPr lang="en-US" sz="1300" dirty="0">
                <a:solidFill>
                  <a:schemeClr val="tx2"/>
                </a:solidFill>
              </a:rPr>
              <a:t>Alertmanager rules on errors and latency</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8046720" cy="640080"/>
          </a:xfrm>
          <a:prstGeom prst="rect">
            <a:avLst/>
          </a:prstGeom>
          <a:noFill/>
          <a:ln/>
        </p:spPr>
        <p:txBody>
          <a:bodyPr wrap="square" lIns="0" tIns="0" rIns="0" bIns="0" rtlCol="0" anchor="ctr"/>
          <a:lstStyle/>
          <a:p>
            <a:pPr marL="0" indent="0" algn="l">
              <a:buNone/>
            </a:pPr>
            <a:r>
              <a:rPr lang="en-US" sz="3200" b="1" dirty="0">
                <a:solidFill>
                  <a:schemeClr val="bg1"/>
                </a:solidFill>
              </a:rPr>
              <a:t>Thank you</a:t>
            </a:r>
            <a:endParaRPr lang="en-US" sz="3200" dirty="0"/>
          </a:p>
        </p:txBody>
      </p:sp>
      <p:sp>
        <p:nvSpPr>
          <p:cNvPr id="4" name="Text 1"/>
          <p:cNvSpPr txBox="1"/>
          <p:nvPr/>
        </p:nvSpPr>
        <p:spPr>
          <a:xfrm>
            <a:off x="548640" y="1371600"/>
            <a:ext cx="1645920" cy="365760"/>
          </a:xfrm>
          <a:prstGeom prst="rect">
            <a:avLst/>
          </a:prstGeom>
          <a:noFill/>
          <a:ln/>
        </p:spPr>
        <p:txBody>
          <a:bodyPr wrap="square" lIns="0" tIns="0" rIns="0" bIns="0" rtlCol="0" anchor="ctr"/>
          <a:lstStyle/>
          <a:p>
            <a:pPr marL="0" indent="0">
              <a:buNone/>
            </a:pPr>
            <a:r>
              <a:rPr lang="en-US" sz="1600" b="1" dirty="0">
                <a:solidFill>
                  <a:schemeClr val="accent3"/>
                </a:solidFill>
              </a:rPr>
              <a:t>App</a:t>
            </a:r>
            <a:endParaRPr lang="en-US" sz="1600" dirty="0"/>
          </a:p>
        </p:txBody>
      </p:sp>
      <p:sp>
        <p:nvSpPr>
          <p:cNvPr id="5" name="Text 2"/>
          <p:cNvSpPr txBox="1"/>
          <p:nvPr/>
        </p:nvSpPr>
        <p:spPr>
          <a:xfrm>
            <a:off x="2286000" y="1371600"/>
            <a:ext cx="6400800" cy="365760"/>
          </a:xfrm>
          <a:prstGeom prst="rect">
            <a:avLst/>
          </a:prstGeom>
          <a:noFill/>
          <a:ln/>
        </p:spPr>
        <p:txBody>
          <a:bodyPr wrap="square" lIns="0" tIns="0" rIns="0" bIns="0" rtlCol="0" anchor="ctr"/>
          <a:lstStyle/>
          <a:p>
            <a:pPr marL="0" indent="0">
              <a:buNone/>
            </a:pPr>
            <a:r>
              <a:rPr lang="en-US" sz="1600" dirty="0">
                <a:solidFill>
                  <a:schemeClr val="bg1"/>
                </a:solidFill>
              </a:rPr>
              <a:t>FastAPI, React, PostgreSQL, 24 passing tests</a:t>
            </a:r>
            <a:endParaRPr lang="en-US" sz="1600" dirty="0"/>
          </a:p>
        </p:txBody>
      </p:sp>
      <p:sp>
        <p:nvSpPr>
          <p:cNvPr id="6" name="Text 3"/>
          <p:cNvSpPr txBox="1"/>
          <p:nvPr/>
        </p:nvSpPr>
        <p:spPr>
          <a:xfrm>
            <a:off x="548640" y="1938528"/>
            <a:ext cx="1645920" cy="365760"/>
          </a:xfrm>
          <a:prstGeom prst="rect">
            <a:avLst/>
          </a:prstGeom>
          <a:noFill/>
          <a:ln/>
        </p:spPr>
        <p:txBody>
          <a:bodyPr wrap="square" lIns="0" tIns="0" rIns="0" bIns="0" rtlCol="0" anchor="ctr"/>
          <a:lstStyle/>
          <a:p>
            <a:pPr marL="0" indent="0">
              <a:buNone/>
            </a:pPr>
            <a:r>
              <a:rPr lang="en-US" sz="1600" b="1" dirty="0">
                <a:solidFill>
                  <a:schemeClr val="accent3"/>
                </a:solidFill>
              </a:rPr>
              <a:t>Pipeline</a:t>
            </a:r>
            <a:endParaRPr lang="en-US" sz="1600" dirty="0"/>
          </a:p>
        </p:txBody>
      </p:sp>
      <p:sp>
        <p:nvSpPr>
          <p:cNvPr id="7" name="Text 4"/>
          <p:cNvSpPr txBox="1"/>
          <p:nvPr/>
        </p:nvSpPr>
        <p:spPr>
          <a:xfrm>
            <a:off x="2286000" y="1938528"/>
            <a:ext cx="6400800" cy="365760"/>
          </a:xfrm>
          <a:prstGeom prst="rect">
            <a:avLst/>
          </a:prstGeom>
          <a:noFill/>
          <a:ln/>
        </p:spPr>
        <p:txBody>
          <a:bodyPr wrap="square" lIns="0" tIns="0" rIns="0" bIns="0" rtlCol="0" anchor="ctr"/>
          <a:lstStyle/>
          <a:p>
            <a:pPr marL="0" indent="0">
              <a:buNone/>
            </a:pPr>
            <a:r>
              <a:rPr lang="en-US" sz="1600" dirty="0">
                <a:solidFill>
                  <a:schemeClr val="bg1"/>
                </a:solidFill>
              </a:rPr>
              <a:t>GitHub Actions: lint, test, build, Trivy scan, push by SHA</a:t>
            </a:r>
            <a:endParaRPr lang="en-US" sz="1600" dirty="0"/>
          </a:p>
        </p:txBody>
      </p:sp>
      <p:sp>
        <p:nvSpPr>
          <p:cNvPr id="8" name="Text 5"/>
          <p:cNvSpPr txBox="1"/>
          <p:nvPr/>
        </p:nvSpPr>
        <p:spPr>
          <a:xfrm>
            <a:off x="548640" y="2505456"/>
            <a:ext cx="1645920" cy="365760"/>
          </a:xfrm>
          <a:prstGeom prst="rect">
            <a:avLst/>
          </a:prstGeom>
          <a:noFill/>
          <a:ln/>
        </p:spPr>
        <p:txBody>
          <a:bodyPr wrap="square" lIns="0" tIns="0" rIns="0" bIns="0" rtlCol="0" anchor="ctr"/>
          <a:lstStyle/>
          <a:p>
            <a:pPr marL="0" indent="0">
              <a:buNone/>
            </a:pPr>
            <a:r>
              <a:rPr lang="en-US" sz="1600" b="1" dirty="0">
                <a:solidFill>
                  <a:schemeClr val="accent3"/>
                </a:solidFill>
              </a:rPr>
              <a:t>Platform</a:t>
            </a:r>
            <a:endParaRPr lang="en-US" sz="1600" dirty="0"/>
          </a:p>
        </p:txBody>
      </p:sp>
      <p:sp>
        <p:nvSpPr>
          <p:cNvPr id="9" name="Text 6"/>
          <p:cNvSpPr txBox="1"/>
          <p:nvPr/>
        </p:nvSpPr>
        <p:spPr>
          <a:xfrm>
            <a:off x="2286000" y="2505456"/>
            <a:ext cx="6400800" cy="365760"/>
          </a:xfrm>
          <a:prstGeom prst="rect">
            <a:avLst/>
          </a:prstGeom>
          <a:noFill/>
          <a:ln/>
        </p:spPr>
        <p:txBody>
          <a:bodyPr wrap="square" lIns="0" tIns="0" rIns="0" bIns="0" rtlCol="0" anchor="ctr"/>
          <a:lstStyle/>
          <a:p>
            <a:pPr marL="0" indent="0">
              <a:buNone/>
            </a:pPr>
            <a:r>
              <a:rPr lang="en-US" sz="1600" dirty="0">
                <a:solidFill>
                  <a:schemeClr val="bg1"/>
                </a:solidFill>
              </a:rPr>
              <a:t>Terraform: VPC and EKS. Helm: app, ingress, autoscaling</a:t>
            </a:r>
            <a:endParaRPr lang="en-US" sz="1600" dirty="0"/>
          </a:p>
        </p:txBody>
      </p:sp>
      <p:sp>
        <p:nvSpPr>
          <p:cNvPr id="10" name="Text 7"/>
          <p:cNvSpPr txBox="1"/>
          <p:nvPr/>
        </p:nvSpPr>
        <p:spPr>
          <a:xfrm>
            <a:off x="548640" y="3072384"/>
            <a:ext cx="1645920" cy="365760"/>
          </a:xfrm>
          <a:prstGeom prst="rect">
            <a:avLst/>
          </a:prstGeom>
          <a:noFill/>
          <a:ln/>
        </p:spPr>
        <p:txBody>
          <a:bodyPr wrap="square" lIns="0" tIns="0" rIns="0" bIns="0" rtlCol="0" anchor="ctr"/>
          <a:lstStyle/>
          <a:p>
            <a:pPr marL="0" indent="0">
              <a:buNone/>
            </a:pPr>
            <a:r>
              <a:rPr lang="en-US" sz="1600" b="1" dirty="0">
                <a:solidFill>
                  <a:schemeClr val="accent3"/>
                </a:solidFill>
              </a:rPr>
              <a:t>Visibility</a:t>
            </a:r>
            <a:endParaRPr lang="en-US" sz="1600" dirty="0"/>
          </a:p>
        </p:txBody>
      </p:sp>
      <p:sp>
        <p:nvSpPr>
          <p:cNvPr id="11" name="Text 8"/>
          <p:cNvSpPr txBox="1"/>
          <p:nvPr/>
        </p:nvSpPr>
        <p:spPr>
          <a:xfrm>
            <a:off x="2286000" y="3072384"/>
            <a:ext cx="6400800" cy="365760"/>
          </a:xfrm>
          <a:prstGeom prst="rect">
            <a:avLst/>
          </a:prstGeom>
          <a:noFill/>
          <a:ln/>
        </p:spPr>
        <p:txBody>
          <a:bodyPr wrap="square" lIns="0" tIns="0" rIns="0" bIns="0" rtlCol="0" anchor="ctr"/>
          <a:lstStyle/>
          <a:p>
            <a:pPr marL="0" indent="0">
              <a:buNone/>
            </a:pPr>
            <a:r>
              <a:rPr lang="en-US" sz="1600" dirty="0">
                <a:solidFill>
                  <a:schemeClr val="bg1"/>
                </a:solidFill>
              </a:rPr>
              <a:t>Prometheus and Grafana, plus two troubleshooting labs</a:t>
            </a:r>
            <a:endParaRPr lang="en-US" sz="1600" dirty="0"/>
          </a:p>
        </p:txBody>
      </p:sp>
      <p:sp>
        <p:nvSpPr>
          <p:cNvPr id="12" name="Text 9"/>
          <p:cNvSpPr txBox="1"/>
          <p:nvPr/>
        </p:nvSpPr>
        <p:spPr>
          <a:xfrm>
            <a:off x="548640" y="3931920"/>
            <a:ext cx="8046720" cy="548640"/>
          </a:xfrm>
          <a:prstGeom prst="rect">
            <a:avLst/>
          </a:prstGeom>
          <a:noFill/>
          <a:ln/>
        </p:spPr>
        <p:txBody>
          <a:bodyPr wrap="square" lIns="0" tIns="0" rIns="0" bIns="0" rtlCol="0" anchor="t"/>
          <a:lstStyle/>
          <a:p>
            <a:pPr marL="0" indent="0">
              <a:buNone/>
            </a:pPr>
            <a:endParaRPr lang="en-US" sz="2800" dirty="0"/>
          </a:p>
        </p:txBody>
      </p:sp>
    </p:spTree>
  </p:cSld>
  <p:clrMapOvr>
    <a:masterClrMapping/>
  </p:clrMapOvr>
</p:sld>
</file>

<file path=ppt/theme/theme1.xml><?xml version="1.0" encoding="utf-8"?>
<a:theme xmlns:a="http://schemas.openxmlformats.org/drawingml/2006/main" name="ClinicQ">
  <a:themeElements>
    <a:clrScheme name="ClinicQ">
      <a:dk1>
        <a:srgbClr val="17302C"/>
      </a:dk1>
      <a:lt1>
        <a:srgbClr val="FFFFFF"/>
      </a:lt1>
      <a:dk2>
        <a:srgbClr val="5C6E6A"/>
      </a:dk2>
      <a:lt2>
        <a:srgbClr val="EAF0EE"/>
      </a:lt2>
      <a:accent1>
        <a:srgbClr val="1E7A6C"/>
      </a:accent1>
      <a:accent2>
        <a:srgbClr val="D8643F"/>
      </a:accent2>
      <a:accent3>
        <a:srgbClr val="E3B341"/>
      </a:accent3>
      <a:accent4>
        <a:srgbClr val="3C5A8A"/>
      </a:accent4>
      <a:accent5>
        <a:srgbClr val="8FAFA7"/>
      </a:accent5>
      <a:accent6>
        <a:srgbClr val="A23E26"/>
      </a:accent6>
      <a:hlink>
        <a:srgbClr val="1E7A6C"/>
      </a:hlink>
      <a:folHlink>
        <a:srgbClr val="5C6E6A"/>
      </a:folHlink>
    </a:clrScheme>
    <a:fontScheme name="ClinicQ">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3969</Words>
  <Application>Microsoft Office PowerPoint</Application>
  <PresentationFormat>On-screen Show (16:9)</PresentationFormat>
  <Paragraphs>471</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Cambria</vt:lpstr>
      <vt:lpstr>Courier New</vt:lpstr>
      <vt:lpstr>ClinicQ</vt:lpstr>
      <vt:lpstr>ClinicQ</vt:lpstr>
      <vt:lpstr>ClinicQ: booking and queue on one screen</vt:lpstr>
      <vt:lpstr>The stack, layer by layer</vt:lpstr>
      <vt:lpstr>From one commit to a running pod</vt:lpstr>
      <vt:lpstr>Architecture at a glance</vt:lpstr>
      <vt:lpstr>A tested API: 24 tests on every push</vt:lpstr>
      <vt:lpstr>A small data model with strict rules</vt:lpstr>
      <vt:lpstr>Small containers that run as non-root</vt:lpstr>
      <vt:lpstr>One repository holds everything</vt:lpstr>
      <vt:lpstr>Every push runs the same gates</vt:lpstr>
      <vt:lpstr>Nothing vulnerable reaches the registry</vt:lpstr>
      <vt:lpstr>Every image is tagged with its commit</vt:lpstr>
      <vt:lpstr>An EKS cluster built entirely by Terraform</vt:lpstr>
      <vt:lpstr>One terraform apply, and the platform exists</vt:lpstr>
      <vt:lpstr>Designed to stay inside a student budget</vt:lpstr>
      <vt:lpstr>One Helm release runs the whole app</vt:lpstr>
      <vt:lpstr>Security and reliability built in</vt:lpstr>
      <vt:lpstr>One address for the whole app</vt:lpstr>
      <vt:lpstr>Autoscaling: 2 to 5 backend pods</vt:lpstr>
      <vt:lpstr>Grafana shows the app, not just the cluster</vt:lpstr>
      <vt:lpstr>Prometheus scrapes every backend pod</vt:lpstr>
      <vt:lpstr>Two breakages, one debugging method</vt:lpstr>
      <vt:lpstr>The results, in numbers</vt:lpstr>
      <vt:lpstr>What broke, and what fixed it</vt:lpstr>
      <vt:lpstr>Live demo: one change, end to end</vt:lpstr>
      <vt:lpstr>What I would build next</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ClinicQ - DevOps Final Capstone</dc:title>
  <dc:subject>PptxGenJS Presentation</dc:subject>
  <dc:creator>Samarth</dc:creator>
  <cp:lastModifiedBy>Samarth Patil</cp:lastModifiedBy>
  <cp:revision>2</cp:revision>
  <dcterms:created xsi:type="dcterms:W3CDTF">2026-10-15T05:24:56Z</dcterms:created>
  <dcterms:modified xsi:type="dcterms:W3CDTF">2026-10-15T05:29:21Z</dcterms:modified>
</cp:coreProperties>
</file>